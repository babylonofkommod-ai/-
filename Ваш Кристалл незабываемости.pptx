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Вводный блок</a:t>
            </a:r>
          </a:p>
          <a:p>
            <a:r>
              <a:t>«Ваш Кристалл незабываемости»</a:t>
            </a:r>
          </a:p>
          <a:p>
            <a:r>
              <a:t>Почему одних женщин забывают, а других — нет?</a:t>
            </a:r>
          </a:p>
          <a:p/>
          <a:p>
            <a:r>
              <a:t>Есть красивые женщины. Есть умные. Есть сексуальные. Есть интересные.</a:t>
            </a:r>
          </a:p>
          <a:p>
            <a:r>
              <a:t>А есть незабываемые.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 первое, что я хочу, чтобы вы поняли: незабываемая — это не обязательно самая красивая женщина в комнате.</a:t>
            </a:r>
          </a:p>
          <a:p>
            <a:r>
              <a:t>Не самая молодая. Не самая сексуальная.</a:t>
            </a:r>
          </a:p>
          <a:p>
            <a:r>
              <a:t>И даже не самая интересная в привычном понимании.</a:t>
            </a:r>
          </a:p>
          <a:p>
            <a:r>
              <a:t>Вы наверняка встречали женщин, которые вроде бы ничем невероятным не выделяются, но мужчины почему-то очень сильно на них западают.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 наоборот: потрясающая женщина — красивая, умная, успешная — а отношения с мужчинами почему-то постоянно заканчиваются одним и тем же: сначала интерес, потом привыкание, потом охлаждение.</a:t>
            </a:r>
          </a:p>
          <a:p>
            <a:r>
              <a:t>Почему?</a:t>
            </a:r>
          </a:p>
          <a:p>
            <a:r>
              <a:t>Потому что «хорошая женщина» и «незабываемая женщина» — не одно и то 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Мужчина запоминает не только вас</a:t>
            </a:r>
          </a:p>
          <a:p>
            <a:r>
              <a:t>Он запоминает себя рядом с вами.</a:t>
            </a:r>
          </a:p>
          <a:p>
            <a:r>
              <a:t>И это одна из главных мыслей всей программы.</a:t>
            </a:r>
          </a:p>
          <a:p>
            <a:r>
              <a:t>Через несколько лет мужчина может забыть, в каком платье вы пришли на свидание.</a:t>
            </a:r>
          </a:p>
          <a:p>
            <a:r>
              <a:t>Он может забыть ресторан. Он может даже забыть какие-то ваши слова.</a:t>
            </a:r>
          </a:p>
          <a:p>
            <a:r>
              <a:t>Но он гораздо дольше способен помнить: как ему было рядом с вами.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Каким он себя чувствовал. Было ли ему легко? Интересно?</a:t>
            </a:r>
          </a:p>
          <a:p>
            <a:r>
              <a:t>Хотелось ли ему становиться сильнее? Чувствовал ли он себя мужчиной?</a:t>
            </a:r>
          </a:p>
          <a:p>
            <a:r>
              <a:t>Смеялся ли? Удивлялся? Восхищался?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 поэтому наша задача — не научиться «правильно вести себя с мужчиной».</a:t>
            </a:r>
          </a:p>
          <a:p>
            <a:r>
              <a:t>Наша задача гораздо интереснее. Научиться оставлять следы.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Как возникает незабываемость</a:t>
            </a:r>
          </a:p>
          <a:p>
            <a:r>
              <a:t>Сразу же покажу вам нашу главную формулу незабываемости.</a:t>
            </a:r>
          </a:p>
          <a:p>
            <a:r>
              <a:t>ГРАНЬ → СОПРИКОСНОВЕНИЕ → СЛЕД → ПАМЯТЬ → НЕЗАБЫВАЕМОСТЬ</a:t>
            </a:r>
          </a:p>
          <a:p>
            <a:r>
              <a:t>У каждой женщины есть разные грани.</a:t>
            </a:r>
          </a:p>
          <a:p>
            <a:r>
              <a:t>И когда какая-то ваша грань соприкасается с мужчиной, она оставляет след.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Например, вы умеете создавать невероятную лёгкость. Вы встретились — посмеялись, поговорили, разошлись.</a:t>
            </a:r>
          </a:p>
          <a:p>
            <a:r>
              <a:t>Встреча закончилась. А лёгкость осталась.</a:t>
            </a:r>
          </a:p>
          <a:p>
            <a:r>
              <a:t>Это след.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Проходит несколько дней. Мужчина вспоминает вас — и вместе с вашим образом возвращается это ощущение.</a:t>
            </a:r>
          </a:p>
          <a:p>
            <a:r>
              <a:t>Так появляется память о вас. А когда таких следов становится много, появляется то, что я называю эффектом незабываемости.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Одна грань — один след</a:t>
            </a:r>
          </a:p>
          <a:p>
            <a:r>
              <a:t>Например</a:t>
            </a:r>
          </a:p>
          <a:p>
            <a:r>
              <a:t>Лёгкость → след лёгкости, Вдохновение → след вдохновения</a:t>
            </a:r>
          </a:p>
          <a:p>
            <a:r>
              <a:t>Интеллект → интеллектуальный след, Индивидуальность → след уникальности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Эстетика → эстетический след, Достоинство → след уважения</a:t>
            </a:r>
          </a:p>
          <a:p>
            <a:r>
              <a:t>Контраст → след новизны</a:t>
            </a:r>
          </a:p>
          <a:p>
            <a:r>
              <a:t>И вот теперь становится понятно, почему одной красоты недостаточно.</a:t>
            </a:r>
          </a:p>
          <a:p>
            <a:r>
              <a:t>Красота тоже способна оставить след. Но это один след.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 теперь представьте женщину, после которой мужчина одновременно уносит:</a:t>
            </a:r>
          </a:p>
          <a:p>
            <a:r>
              <a:t>восхищение, интерес, лёгкость, уважение, любопытство, вдохновение, тепло,</a:t>
            </a:r>
          </a:p>
          <a:p>
            <a:r>
              <a:t>яркое воспоминание.</a:t>
            </a:r>
          </a:p>
          <a:p>
            <a:r>
              <a:t>Это уже совершенно другой объём впечатления.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Закон многогранности</a:t>
            </a:r>
          </a:p>
          <a:p>
            <a:r>
              <a:t>Чем больше раскрытых граней — тем объёмнее образ женщины.</a:t>
            </a:r>
          </a:p>
          <a:p>
            <a:r>
              <a:t>И это второй важнейший принцип нашей программы.</a:t>
            </a:r>
          </a:p>
          <a:p>
            <a:r>
              <a:t>Незабываемость редко создаётся одной суперспособностью.</a:t>
            </a:r>
          </a:p>
          <a:p>
            <a:r>
              <a:t>Она создаётся комбинацией.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Потому что если женщина только красивая — мужчина достаточно быстро привыкает к красоте.</a:t>
            </a:r>
          </a:p>
          <a:p>
            <a:r>
              <a:t>Если она только лёгкая — прекрасно, но этого может быть мало. Только умная — тоже одна грань.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 теперь представьте: она лёгкая, но глубокая. Нежная, но с характером.</a:t>
            </a:r>
          </a:p>
          <a:p>
            <a:r>
              <a:t>Женственная, но со своим миром. Спокойная, но иногда совершенно неожиданная.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 ней можно смеяться — и через двадцать минут разговаривать о вещах, о которых мужчина почти ни с кем не говорит.</a:t>
            </a:r>
          </a:p>
          <a:p>
            <a:r>
              <a:t>Вот такую женщину уже невозможно поместить в одну категорию.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rystal texture"/>
          <p:cNvCxnSpPr/>
          <p:nvPr/>
        </p:nvCxnSpPr>
        <p:spPr>
          <a:xfrm flipV="1">
            <a:off x="10579100" y="5041900"/>
            <a:ext cx="850900" cy="3937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rystal texture"/>
          <p:cNvCxnSpPr/>
          <p:nvPr/>
        </p:nvCxnSpPr>
        <p:spPr>
          <a:xfrm>
            <a:off x="11430000" y="5041900"/>
            <a:ext cx="584200" cy="6350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rystal texture"/>
          <p:cNvCxnSpPr/>
          <p:nvPr/>
        </p:nvCxnSpPr>
        <p:spPr>
          <a:xfrm flipH="1">
            <a:off x="11785600" y="5676900"/>
            <a:ext cx="228600" cy="584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rystal texture"/>
          <p:cNvCxnSpPr/>
          <p:nvPr/>
        </p:nvCxnSpPr>
        <p:spPr>
          <a:xfrm flipH="1">
            <a:off x="10998200" y="6261100"/>
            <a:ext cx="787400" cy="76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rystal texture"/>
          <p:cNvCxnSpPr/>
          <p:nvPr/>
        </p:nvCxnSpPr>
        <p:spPr>
          <a:xfrm flipH="1" flipV="1">
            <a:off x="10426700" y="6083300"/>
            <a:ext cx="571500" cy="2540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rystal texture"/>
          <p:cNvCxnSpPr/>
          <p:nvPr/>
        </p:nvCxnSpPr>
        <p:spPr>
          <a:xfrm flipV="1">
            <a:off x="10426700" y="5435600"/>
            <a:ext cx="152400" cy="6477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rystal texture"/>
          <p:cNvCxnSpPr/>
          <p:nvPr/>
        </p:nvCxnSpPr>
        <p:spPr>
          <a:xfrm>
            <a:off x="10579100" y="5435600"/>
            <a:ext cx="1435100" cy="2413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rystal texture"/>
          <p:cNvCxnSpPr/>
          <p:nvPr/>
        </p:nvCxnSpPr>
        <p:spPr>
          <a:xfrm>
            <a:off x="11430000" y="5041900"/>
            <a:ext cx="355600" cy="1219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rystal texture"/>
          <p:cNvCxnSpPr/>
          <p:nvPr/>
        </p:nvCxnSpPr>
        <p:spPr>
          <a:xfrm flipH="1">
            <a:off x="10426700" y="5676900"/>
            <a:ext cx="1587500" cy="4064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Video divider"/>
          <p:cNvCxnSpPr/>
          <p:nvPr/>
        </p:nvCxnSpPr>
        <p:spPr>
          <a:xfrm>
            <a:off x="3931920" y="914400"/>
            <a:ext cx="0" cy="5029200"/>
          </a:xfrm>
          <a:prstGeom prst="line">
            <a:avLst/>
          </a:prstGeom>
          <a:ln w="8255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"/>
          <p:cNvSpPr txBox="1"/>
          <p:nvPr/>
        </p:nvSpPr>
        <p:spPr>
          <a:xfrm>
            <a:off x="4114800" y="457200"/>
            <a:ext cx="7315200" cy="1121664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>
              <a:lnSpc>
                <a:spcPts val="4216"/>
              </a:lnSpc>
              <a:spcBef>
                <a:spcPts val="0"/>
              </a:spcBef>
              <a:spcAft>
                <a:spcPts val="0"/>
              </a:spcAft>
              <a:defRPr sz="3400" i="0">
                <a:latin typeface="Georgia"/>
              </a:defRPr>
            </a:pPr>
            <a:r>
              <a:rPr>
                <a:solidFill>
                  <a:srgbClr val="D4AF37"/>
                </a:solidFill>
              </a:rPr>
              <a:t>Ваш Кристалл</a:t>
            </a:r>
          </a:p>
          <a:p>
            <a:pPr>
              <a:lnSpc>
                <a:spcPts val="4216"/>
              </a:lnSpc>
              <a:spcBef>
                <a:spcPts val="0"/>
              </a:spcBef>
              <a:spcAft>
                <a:spcPts val="0"/>
              </a:spcAft>
              <a:defRPr sz="3400" i="0">
                <a:latin typeface="Georgia"/>
              </a:defRPr>
            </a:pPr>
            <a:r>
              <a:rPr>
                <a:solidFill>
                  <a:srgbClr val="D4AF37"/>
                </a:solidFill>
              </a:rPr>
              <a:t>незабываемости</a:t>
            </a:r>
          </a:p>
        </p:txBody>
      </p:sp>
      <p:sp>
        <p:nvSpPr>
          <p:cNvPr id="13" name="Card 1"/>
          <p:cNvSpPr/>
          <p:nvPr/>
        </p:nvSpPr>
        <p:spPr>
          <a:xfrm>
            <a:off x="4114800" y="1841500"/>
            <a:ext cx="7315200" cy="588264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old bullet"/>
          <p:cNvSpPr/>
          <p:nvPr/>
        </p:nvSpPr>
        <p:spPr>
          <a:xfrm>
            <a:off x="4267200" y="2057400"/>
            <a:ext cx="50800" cy="508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4114800" y="1981200"/>
            <a:ext cx="7315200" cy="334264"/>
          </a:xfrm>
          <a:prstGeom prst="rect">
            <a:avLst/>
          </a:prstGeom>
          <a:noFill/>
        </p:spPr>
        <p:txBody>
          <a:bodyPr wrap="none" lIns="304800" rIns="304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Есть красивые женщины. Есть умные.</a:t>
            </a:r>
          </a:p>
        </p:txBody>
      </p:sp>
      <p:sp>
        <p:nvSpPr>
          <p:cNvPr id="16" name="Card 2"/>
          <p:cNvSpPr/>
          <p:nvPr/>
        </p:nvSpPr>
        <p:spPr>
          <a:xfrm>
            <a:off x="4114800" y="2556764"/>
            <a:ext cx="7315200" cy="588264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old bullet"/>
          <p:cNvSpPr/>
          <p:nvPr/>
        </p:nvSpPr>
        <p:spPr>
          <a:xfrm>
            <a:off x="4267200" y="2772664"/>
            <a:ext cx="50800" cy="508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"/>
          <p:cNvSpPr txBox="1"/>
          <p:nvPr/>
        </p:nvSpPr>
        <p:spPr>
          <a:xfrm>
            <a:off x="4114800" y="2696464"/>
            <a:ext cx="7315200" cy="334264"/>
          </a:xfrm>
          <a:prstGeom prst="rect">
            <a:avLst/>
          </a:prstGeom>
          <a:noFill/>
        </p:spPr>
        <p:txBody>
          <a:bodyPr wrap="none" lIns="304800" rIns="304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Есть сексуальные. Есть интересные.</a:t>
            </a:r>
          </a:p>
        </p:txBody>
      </p:sp>
      <p:sp>
        <p:nvSpPr>
          <p:cNvPr id="19" name="Author quote"/>
          <p:cNvSpPr/>
          <p:nvPr/>
        </p:nvSpPr>
        <p:spPr>
          <a:xfrm>
            <a:off x="4121150" y="3373628"/>
            <a:ext cx="7302500" cy="588264"/>
          </a:xfrm>
          <a:prstGeom prst="rect">
            <a:avLst/>
          </a:prstGeom>
          <a:solidFill>
            <a:srgbClr val="1A1A1A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"/>
          <p:cNvSpPr txBox="1"/>
          <p:nvPr/>
        </p:nvSpPr>
        <p:spPr>
          <a:xfrm>
            <a:off x="4114800" y="3513328"/>
            <a:ext cx="7315200" cy="334264"/>
          </a:xfrm>
          <a:prstGeom prst="rect">
            <a:avLst/>
          </a:prstGeom>
          <a:noFill/>
        </p:spPr>
        <p:txBody>
          <a:bodyPr wrap="none" lIns="177800" rIns="177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1">
                <a:latin typeface="Georgia"/>
              </a:defRPr>
            </a:pPr>
            <a:r>
              <a:rPr>
                <a:solidFill>
                  <a:srgbClr val="D4AF37"/>
                </a:solidFill>
              </a:rPr>
              <a:t>А есть незабываемые.</a:t>
            </a:r>
          </a:p>
        </p:txBody>
      </p:sp>
      <p:sp>
        <p:nvSpPr>
          <p:cNvPr id="21" name="Photo prompt container"/>
          <p:cNvSpPr/>
          <p:nvPr/>
        </p:nvSpPr>
        <p:spPr>
          <a:xfrm>
            <a:off x="4121150" y="4470400"/>
            <a:ext cx="7302500" cy="1492504"/>
          </a:xfrm>
          <a:prstGeom prst="rect">
            <a:avLst/>
          </a:prstGeom>
          <a:solidFill>
            <a:srgbClr val="1A1A1A"/>
          </a:solidFill>
          <a:ln w="825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 txBox="1"/>
          <p:nvPr/>
        </p:nvSpPr>
        <p:spPr>
          <a:xfrm>
            <a:off x="4114800" y="4622800"/>
            <a:ext cx="7315200" cy="302768"/>
          </a:xfrm>
          <a:prstGeom prst="rect">
            <a:avLst/>
          </a:prstGeom>
          <a:noFill/>
        </p:spPr>
        <p:txBody>
          <a:bodyPr wrap="none" lIns="177800" rIns="17780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i="0">
                <a:latin typeface="Arial"/>
              </a:defRPr>
            </a:pPr>
            <a:r>
              <a:rPr>
                <a:solidFill>
                  <a:srgbClr val="D4AF37"/>
                </a:solidFill>
              </a:rPr>
              <a:t>ПРОМПТ ДЛЯ MIDJOURNEY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4114800" y="5016500"/>
            <a:ext cx="7315200" cy="806704"/>
          </a:xfrm>
          <a:prstGeom prst="rect">
            <a:avLst/>
          </a:prstGeom>
          <a:noFill/>
        </p:spPr>
        <p:txBody>
          <a:bodyPr wrap="none" lIns="177800" rIns="17780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Luxury editorial portrait of a confident woman aged 42, black silk, natural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skin, graphite interior, soft champagne rim light, refined quiet presence, no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text --ar 16:9 --style raw</a:t>
            </a:r>
          </a:p>
        </p:txBody>
      </p:sp>
      <p:sp>
        <p:nvSpPr>
          <p:cNvPr id="24" name="Bottom page-number mask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rystal texture"/>
          <p:cNvCxnSpPr/>
          <p:nvPr/>
        </p:nvCxnSpPr>
        <p:spPr>
          <a:xfrm flipV="1">
            <a:off x="10579100" y="5041900"/>
            <a:ext cx="850900" cy="3937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rystal texture"/>
          <p:cNvCxnSpPr/>
          <p:nvPr/>
        </p:nvCxnSpPr>
        <p:spPr>
          <a:xfrm>
            <a:off x="11430000" y="5041900"/>
            <a:ext cx="584200" cy="6350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rystal texture"/>
          <p:cNvCxnSpPr/>
          <p:nvPr/>
        </p:nvCxnSpPr>
        <p:spPr>
          <a:xfrm flipH="1">
            <a:off x="11785600" y="5676900"/>
            <a:ext cx="228600" cy="584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rystal texture"/>
          <p:cNvCxnSpPr/>
          <p:nvPr/>
        </p:nvCxnSpPr>
        <p:spPr>
          <a:xfrm flipH="1">
            <a:off x="10998200" y="6261100"/>
            <a:ext cx="787400" cy="76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rystal texture"/>
          <p:cNvCxnSpPr/>
          <p:nvPr/>
        </p:nvCxnSpPr>
        <p:spPr>
          <a:xfrm flipH="1" flipV="1">
            <a:off x="10426700" y="6083300"/>
            <a:ext cx="571500" cy="2540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rystal texture"/>
          <p:cNvCxnSpPr/>
          <p:nvPr/>
        </p:nvCxnSpPr>
        <p:spPr>
          <a:xfrm flipV="1">
            <a:off x="10426700" y="5435600"/>
            <a:ext cx="152400" cy="6477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rystal texture"/>
          <p:cNvCxnSpPr/>
          <p:nvPr/>
        </p:nvCxnSpPr>
        <p:spPr>
          <a:xfrm>
            <a:off x="10579100" y="5435600"/>
            <a:ext cx="1435100" cy="2413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rystal texture"/>
          <p:cNvCxnSpPr/>
          <p:nvPr/>
        </p:nvCxnSpPr>
        <p:spPr>
          <a:xfrm>
            <a:off x="11430000" y="5041900"/>
            <a:ext cx="355600" cy="1219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rystal texture"/>
          <p:cNvCxnSpPr/>
          <p:nvPr/>
        </p:nvCxnSpPr>
        <p:spPr>
          <a:xfrm flipH="1">
            <a:off x="10426700" y="5676900"/>
            <a:ext cx="1587500" cy="4064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Video divider"/>
          <p:cNvCxnSpPr/>
          <p:nvPr/>
        </p:nvCxnSpPr>
        <p:spPr>
          <a:xfrm>
            <a:off x="3931920" y="914400"/>
            <a:ext cx="0" cy="5029200"/>
          </a:xfrm>
          <a:prstGeom prst="line">
            <a:avLst/>
          </a:prstGeom>
          <a:ln w="8255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"/>
          <p:cNvSpPr txBox="1"/>
          <p:nvPr/>
        </p:nvSpPr>
        <p:spPr>
          <a:xfrm>
            <a:off x="4114800" y="457200"/>
            <a:ext cx="7315200" cy="586232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>
              <a:lnSpc>
                <a:spcPts val="4216"/>
              </a:lnSpc>
              <a:spcBef>
                <a:spcPts val="0"/>
              </a:spcBef>
              <a:spcAft>
                <a:spcPts val="0"/>
              </a:spcAft>
              <a:defRPr sz="3400" i="0">
                <a:latin typeface="Georgia"/>
              </a:defRPr>
            </a:pPr>
            <a:r>
              <a:rPr>
                <a:solidFill>
                  <a:srgbClr val="D4AF37"/>
                </a:solidFill>
              </a:rPr>
              <a:t>Незабываемая женщина</a:t>
            </a:r>
          </a:p>
        </p:txBody>
      </p:sp>
      <p:sp>
        <p:nvSpPr>
          <p:cNvPr id="13" name="Card 1"/>
          <p:cNvSpPr/>
          <p:nvPr/>
        </p:nvSpPr>
        <p:spPr>
          <a:xfrm>
            <a:off x="4114800" y="1841500"/>
            <a:ext cx="7315200" cy="871728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old bullet"/>
          <p:cNvSpPr/>
          <p:nvPr/>
        </p:nvSpPr>
        <p:spPr>
          <a:xfrm>
            <a:off x="4267200" y="2057400"/>
            <a:ext cx="50800" cy="508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4114800" y="1981200"/>
            <a:ext cx="7315200" cy="617728"/>
          </a:xfrm>
          <a:prstGeom prst="rect">
            <a:avLst/>
          </a:prstGeom>
          <a:noFill/>
        </p:spPr>
        <p:txBody>
          <a:bodyPr wrap="none" lIns="304800" rIns="304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D4AF37"/>
                </a:solidFill>
              </a:rPr>
              <a:t>незабываемая</a:t>
            </a:r>
            <a:r>
              <a:rPr>
                <a:solidFill>
                  <a:srgbClr val="FFFFFF"/>
                </a:solidFill>
              </a:rPr>
              <a:t> — это не обязательно самая красивая</a:t>
            </a:r>
          </a:p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женщина в комнате.</a:t>
            </a:r>
          </a:p>
        </p:txBody>
      </p:sp>
      <p:sp>
        <p:nvSpPr>
          <p:cNvPr id="16" name="Card 2"/>
          <p:cNvSpPr/>
          <p:nvPr/>
        </p:nvSpPr>
        <p:spPr>
          <a:xfrm>
            <a:off x="4114800" y="2840228"/>
            <a:ext cx="7315200" cy="588264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old bullet"/>
          <p:cNvSpPr/>
          <p:nvPr/>
        </p:nvSpPr>
        <p:spPr>
          <a:xfrm>
            <a:off x="4267200" y="3056128"/>
            <a:ext cx="50800" cy="508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"/>
          <p:cNvSpPr txBox="1"/>
          <p:nvPr/>
        </p:nvSpPr>
        <p:spPr>
          <a:xfrm>
            <a:off x="4114800" y="2979928"/>
            <a:ext cx="7315200" cy="334264"/>
          </a:xfrm>
          <a:prstGeom prst="rect">
            <a:avLst/>
          </a:prstGeom>
          <a:noFill/>
        </p:spPr>
        <p:txBody>
          <a:bodyPr wrap="none" lIns="304800" rIns="304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Не самая молодая. Не самая сексуальная.</a:t>
            </a:r>
          </a:p>
        </p:txBody>
      </p:sp>
      <p:sp>
        <p:nvSpPr>
          <p:cNvPr id="19" name="Card 3"/>
          <p:cNvSpPr/>
          <p:nvPr/>
        </p:nvSpPr>
        <p:spPr>
          <a:xfrm>
            <a:off x="4114800" y="3555491"/>
            <a:ext cx="7315200" cy="588264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old bullet"/>
          <p:cNvSpPr/>
          <p:nvPr/>
        </p:nvSpPr>
        <p:spPr>
          <a:xfrm>
            <a:off x="4267200" y="3771391"/>
            <a:ext cx="50800" cy="508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"/>
          <p:cNvSpPr txBox="1"/>
          <p:nvPr/>
        </p:nvSpPr>
        <p:spPr>
          <a:xfrm>
            <a:off x="4114800" y="3695191"/>
            <a:ext cx="7315200" cy="334264"/>
          </a:xfrm>
          <a:prstGeom prst="rect">
            <a:avLst/>
          </a:prstGeom>
          <a:noFill/>
        </p:spPr>
        <p:txBody>
          <a:bodyPr wrap="none" lIns="304800" rIns="304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И даже не самая интересная в привычном понимании.</a:t>
            </a:r>
          </a:p>
        </p:txBody>
      </p:sp>
      <p:sp>
        <p:nvSpPr>
          <p:cNvPr id="22" name="Bottom page-number mask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rystal texture"/>
          <p:cNvCxnSpPr/>
          <p:nvPr/>
        </p:nvCxnSpPr>
        <p:spPr>
          <a:xfrm flipV="1">
            <a:off x="10579100" y="5041900"/>
            <a:ext cx="850900" cy="3937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rystal texture"/>
          <p:cNvCxnSpPr/>
          <p:nvPr/>
        </p:nvCxnSpPr>
        <p:spPr>
          <a:xfrm>
            <a:off x="11430000" y="5041900"/>
            <a:ext cx="584200" cy="6350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rystal texture"/>
          <p:cNvCxnSpPr/>
          <p:nvPr/>
        </p:nvCxnSpPr>
        <p:spPr>
          <a:xfrm flipH="1">
            <a:off x="11785600" y="5676900"/>
            <a:ext cx="228600" cy="584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rystal texture"/>
          <p:cNvCxnSpPr/>
          <p:nvPr/>
        </p:nvCxnSpPr>
        <p:spPr>
          <a:xfrm flipH="1">
            <a:off x="10998200" y="6261100"/>
            <a:ext cx="787400" cy="76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rystal texture"/>
          <p:cNvCxnSpPr/>
          <p:nvPr/>
        </p:nvCxnSpPr>
        <p:spPr>
          <a:xfrm flipH="1" flipV="1">
            <a:off x="10426700" y="6083300"/>
            <a:ext cx="571500" cy="2540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rystal texture"/>
          <p:cNvCxnSpPr/>
          <p:nvPr/>
        </p:nvCxnSpPr>
        <p:spPr>
          <a:xfrm flipV="1">
            <a:off x="10426700" y="5435600"/>
            <a:ext cx="152400" cy="6477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rystal texture"/>
          <p:cNvCxnSpPr/>
          <p:nvPr/>
        </p:nvCxnSpPr>
        <p:spPr>
          <a:xfrm>
            <a:off x="10579100" y="5435600"/>
            <a:ext cx="1435100" cy="2413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rystal texture"/>
          <p:cNvCxnSpPr/>
          <p:nvPr/>
        </p:nvCxnSpPr>
        <p:spPr>
          <a:xfrm>
            <a:off x="11430000" y="5041900"/>
            <a:ext cx="355600" cy="1219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rystal texture"/>
          <p:cNvCxnSpPr/>
          <p:nvPr/>
        </p:nvCxnSpPr>
        <p:spPr>
          <a:xfrm flipH="1">
            <a:off x="10426700" y="5676900"/>
            <a:ext cx="1587500" cy="4064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Video divider"/>
          <p:cNvCxnSpPr/>
          <p:nvPr/>
        </p:nvCxnSpPr>
        <p:spPr>
          <a:xfrm>
            <a:off x="3931920" y="914400"/>
            <a:ext cx="0" cy="5029200"/>
          </a:xfrm>
          <a:prstGeom prst="line">
            <a:avLst/>
          </a:prstGeom>
          <a:ln w="8255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"/>
          <p:cNvSpPr txBox="1"/>
          <p:nvPr/>
        </p:nvSpPr>
        <p:spPr>
          <a:xfrm>
            <a:off x="4114800" y="457200"/>
            <a:ext cx="7315200" cy="586232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>
              <a:lnSpc>
                <a:spcPts val="4216"/>
              </a:lnSpc>
              <a:spcBef>
                <a:spcPts val="0"/>
              </a:spcBef>
              <a:spcAft>
                <a:spcPts val="0"/>
              </a:spcAft>
              <a:defRPr sz="3400" i="0">
                <a:latin typeface="Georgia"/>
              </a:defRPr>
            </a:pPr>
            <a:r>
              <a:rPr>
                <a:solidFill>
                  <a:srgbClr val="D4AF37"/>
                </a:solidFill>
              </a:rPr>
              <a:t>Почему?</a:t>
            </a:r>
          </a:p>
        </p:txBody>
      </p:sp>
      <p:sp>
        <p:nvSpPr>
          <p:cNvPr id="13" name="Card 1"/>
          <p:cNvSpPr/>
          <p:nvPr/>
        </p:nvSpPr>
        <p:spPr>
          <a:xfrm>
            <a:off x="4114800" y="1841500"/>
            <a:ext cx="7315200" cy="588264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old bullet"/>
          <p:cNvSpPr/>
          <p:nvPr/>
        </p:nvSpPr>
        <p:spPr>
          <a:xfrm>
            <a:off x="4267200" y="2057400"/>
            <a:ext cx="50800" cy="508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4114800" y="1981200"/>
            <a:ext cx="7315200" cy="334264"/>
          </a:xfrm>
          <a:prstGeom prst="rect">
            <a:avLst/>
          </a:prstGeom>
          <a:noFill/>
        </p:spPr>
        <p:txBody>
          <a:bodyPr wrap="none" lIns="304800" rIns="304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сначала интерес</a:t>
            </a:r>
          </a:p>
        </p:txBody>
      </p:sp>
      <p:sp>
        <p:nvSpPr>
          <p:cNvPr id="16" name="Card 2"/>
          <p:cNvSpPr/>
          <p:nvPr/>
        </p:nvSpPr>
        <p:spPr>
          <a:xfrm>
            <a:off x="4114800" y="2556764"/>
            <a:ext cx="7315200" cy="588264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old bullet"/>
          <p:cNvSpPr/>
          <p:nvPr/>
        </p:nvSpPr>
        <p:spPr>
          <a:xfrm>
            <a:off x="4267200" y="2772664"/>
            <a:ext cx="50800" cy="508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"/>
          <p:cNvSpPr txBox="1"/>
          <p:nvPr/>
        </p:nvSpPr>
        <p:spPr>
          <a:xfrm>
            <a:off x="4114800" y="2696464"/>
            <a:ext cx="7315200" cy="334264"/>
          </a:xfrm>
          <a:prstGeom prst="rect">
            <a:avLst/>
          </a:prstGeom>
          <a:noFill/>
        </p:spPr>
        <p:txBody>
          <a:bodyPr wrap="none" lIns="304800" rIns="304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потом привыкание</a:t>
            </a:r>
          </a:p>
        </p:txBody>
      </p:sp>
      <p:sp>
        <p:nvSpPr>
          <p:cNvPr id="19" name="Card 3"/>
          <p:cNvSpPr/>
          <p:nvPr/>
        </p:nvSpPr>
        <p:spPr>
          <a:xfrm>
            <a:off x="4114800" y="3272028"/>
            <a:ext cx="7315200" cy="588264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old bullet"/>
          <p:cNvSpPr/>
          <p:nvPr/>
        </p:nvSpPr>
        <p:spPr>
          <a:xfrm>
            <a:off x="4267200" y="3487928"/>
            <a:ext cx="50800" cy="508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"/>
          <p:cNvSpPr txBox="1"/>
          <p:nvPr/>
        </p:nvSpPr>
        <p:spPr>
          <a:xfrm>
            <a:off x="4114800" y="3411728"/>
            <a:ext cx="7315200" cy="334264"/>
          </a:xfrm>
          <a:prstGeom prst="rect">
            <a:avLst/>
          </a:prstGeom>
          <a:noFill/>
        </p:spPr>
        <p:txBody>
          <a:bodyPr wrap="none" lIns="304800" rIns="304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потом охлаждение.</a:t>
            </a:r>
          </a:p>
        </p:txBody>
      </p:sp>
      <p:sp>
        <p:nvSpPr>
          <p:cNvPr id="22" name="Author quote"/>
          <p:cNvSpPr/>
          <p:nvPr/>
        </p:nvSpPr>
        <p:spPr>
          <a:xfrm>
            <a:off x="4121150" y="4088891"/>
            <a:ext cx="7302500" cy="871728"/>
          </a:xfrm>
          <a:prstGeom prst="rect">
            <a:avLst/>
          </a:prstGeom>
          <a:solidFill>
            <a:srgbClr val="1A1A1A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"/>
          <p:cNvSpPr txBox="1"/>
          <p:nvPr/>
        </p:nvSpPr>
        <p:spPr>
          <a:xfrm>
            <a:off x="4114800" y="4228592"/>
            <a:ext cx="7315200" cy="617728"/>
          </a:xfrm>
          <a:prstGeom prst="rect">
            <a:avLst/>
          </a:prstGeom>
          <a:noFill/>
        </p:spPr>
        <p:txBody>
          <a:bodyPr wrap="none" lIns="177800" rIns="177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1">
                <a:latin typeface="Georgia"/>
              </a:defRPr>
            </a:pPr>
            <a:r>
              <a:rPr>
                <a:solidFill>
                  <a:srgbClr val="D4AF37"/>
                </a:solidFill>
              </a:rPr>
              <a:t>«хорошая женщина» и «незабываемая женщина» — не одно и</a:t>
            </a:r>
          </a:p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1">
                <a:latin typeface="Georgia"/>
              </a:defRPr>
            </a:pPr>
            <a:r>
              <a:rPr>
                <a:solidFill>
                  <a:srgbClr val="D4AF37"/>
                </a:solidFill>
              </a:rPr>
              <a:t>то же.</a:t>
            </a:r>
          </a:p>
        </p:txBody>
      </p:sp>
      <p:sp>
        <p:nvSpPr>
          <p:cNvPr id="24" name="Bottom page-number mask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rystal texture"/>
          <p:cNvCxnSpPr/>
          <p:nvPr/>
        </p:nvCxnSpPr>
        <p:spPr>
          <a:xfrm flipV="1">
            <a:off x="10579100" y="5041900"/>
            <a:ext cx="850900" cy="3937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rystal texture"/>
          <p:cNvCxnSpPr/>
          <p:nvPr/>
        </p:nvCxnSpPr>
        <p:spPr>
          <a:xfrm>
            <a:off x="11430000" y="5041900"/>
            <a:ext cx="584200" cy="6350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rystal texture"/>
          <p:cNvCxnSpPr/>
          <p:nvPr/>
        </p:nvCxnSpPr>
        <p:spPr>
          <a:xfrm flipH="1">
            <a:off x="11785600" y="5676900"/>
            <a:ext cx="228600" cy="584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rystal texture"/>
          <p:cNvCxnSpPr/>
          <p:nvPr/>
        </p:nvCxnSpPr>
        <p:spPr>
          <a:xfrm flipH="1">
            <a:off x="10998200" y="6261100"/>
            <a:ext cx="787400" cy="76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rystal texture"/>
          <p:cNvCxnSpPr/>
          <p:nvPr/>
        </p:nvCxnSpPr>
        <p:spPr>
          <a:xfrm flipH="1" flipV="1">
            <a:off x="10426700" y="6083300"/>
            <a:ext cx="571500" cy="2540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rystal texture"/>
          <p:cNvCxnSpPr/>
          <p:nvPr/>
        </p:nvCxnSpPr>
        <p:spPr>
          <a:xfrm flipV="1">
            <a:off x="10426700" y="5435600"/>
            <a:ext cx="152400" cy="6477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rystal texture"/>
          <p:cNvCxnSpPr/>
          <p:nvPr/>
        </p:nvCxnSpPr>
        <p:spPr>
          <a:xfrm>
            <a:off x="10579100" y="5435600"/>
            <a:ext cx="1435100" cy="2413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rystal texture"/>
          <p:cNvCxnSpPr/>
          <p:nvPr/>
        </p:nvCxnSpPr>
        <p:spPr>
          <a:xfrm>
            <a:off x="11430000" y="5041900"/>
            <a:ext cx="355600" cy="1219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rystal texture"/>
          <p:cNvCxnSpPr/>
          <p:nvPr/>
        </p:nvCxnSpPr>
        <p:spPr>
          <a:xfrm flipH="1">
            <a:off x="10426700" y="5676900"/>
            <a:ext cx="1587500" cy="4064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Video divider"/>
          <p:cNvCxnSpPr/>
          <p:nvPr/>
        </p:nvCxnSpPr>
        <p:spPr>
          <a:xfrm>
            <a:off x="3931920" y="914400"/>
            <a:ext cx="0" cy="5029200"/>
          </a:xfrm>
          <a:prstGeom prst="line">
            <a:avLst/>
          </a:prstGeom>
          <a:ln w="8255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"/>
          <p:cNvSpPr txBox="1"/>
          <p:nvPr/>
        </p:nvSpPr>
        <p:spPr>
          <a:xfrm>
            <a:off x="4114800" y="457200"/>
            <a:ext cx="7315200" cy="1121664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>
              <a:lnSpc>
                <a:spcPts val="4216"/>
              </a:lnSpc>
              <a:spcBef>
                <a:spcPts val="0"/>
              </a:spcBef>
              <a:spcAft>
                <a:spcPts val="0"/>
              </a:spcAft>
              <a:defRPr sz="3400" i="0">
                <a:latin typeface="Georgia"/>
              </a:defRPr>
            </a:pPr>
            <a:r>
              <a:rPr>
                <a:solidFill>
                  <a:srgbClr val="D4AF37"/>
                </a:solidFill>
              </a:rPr>
              <a:t>Мужчина запоминает</a:t>
            </a:r>
          </a:p>
          <a:p>
            <a:pPr>
              <a:lnSpc>
                <a:spcPts val="4216"/>
              </a:lnSpc>
              <a:spcBef>
                <a:spcPts val="0"/>
              </a:spcBef>
              <a:spcAft>
                <a:spcPts val="0"/>
              </a:spcAft>
              <a:defRPr sz="3400" i="0">
                <a:latin typeface="Georgia"/>
              </a:defRPr>
            </a:pPr>
            <a:r>
              <a:rPr>
                <a:solidFill>
                  <a:srgbClr val="D4AF37"/>
                </a:solidFill>
              </a:rPr>
              <a:t>не только вас</a:t>
            </a:r>
          </a:p>
        </p:txBody>
      </p:sp>
      <p:sp>
        <p:nvSpPr>
          <p:cNvPr id="13" name="Card 1"/>
          <p:cNvSpPr/>
          <p:nvPr/>
        </p:nvSpPr>
        <p:spPr>
          <a:xfrm>
            <a:off x="4114800" y="1841500"/>
            <a:ext cx="7315200" cy="588264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old bullet"/>
          <p:cNvSpPr/>
          <p:nvPr/>
        </p:nvSpPr>
        <p:spPr>
          <a:xfrm>
            <a:off x="4267200" y="2057400"/>
            <a:ext cx="50800" cy="508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4114800" y="1981200"/>
            <a:ext cx="7315200" cy="334264"/>
          </a:xfrm>
          <a:prstGeom prst="rect">
            <a:avLst/>
          </a:prstGeom>
          <a:noFill/>
        </p:spPr>
        <p:txBody>
          <a:bodyPr wrap="none" lIns="304800" rIns="304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Он может забыть ресторан.</a:t>
            </a:r>
          </a:p>
        </p:txBody>
      </p:sp>
      <p:sp>
        <p:nvSpPr>
          <p:cNvPr id="16" name="Card 2"/>
          <p:cNvSpPr/>
          <p:nvPr/>
        </p:nvSpPr>
        <p:spPr>
          <a:xfrm>
            <a:off x="4114800" y="2556764"/>
            <a:ext cx="7315200" cy="588264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old bullet"/>
          <p:cNvSpPr/>
          <p:nvPr/>
        </p:nvSpPr>
        <p:spPr>
          <a:xfrm>
            <a:off x="4267200" y="2772664"/>
            <a:ext cx="50800" cy="508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"/>
          <p:cNvSpPr txBox="1"/>
          <p:nvPr/>
        </p:nvSpPr>
        <p:spPr>
          <a:xfrm>
            <a:off x="4114800" y="2696464"/>
            <a:ext cx="7315200" cy="334264"/>
          </a:xfrm>
          <a:prstGeom prst="rect">
            <a:avLst/>
          </a:prstGeom>
          <a:noFill/>
        </p:spPr>
        <p:txBody>
          <a:bodyPr wrap="none" lIns="304800" rIns="304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Он может даже забыть какие-то ваши слова.</a:t>
            </a:r>
          </a:p>
        </p:txBody>
      </p:sp>
      <p:sp>
        <p:nvSpPr>
          <p:cNvPr id="19" name="Author quote"/>
          <p:cNvSpPr/>
          <p:nvPr/>
        </p:nvSpPr>
        <p:spPr>
          <a:xfrm>
            <a:off x="4121150" y="3373628"/>
            <a:ext cx="7302500" cy="588264"/>
          </a:xfrm>
          <a:prstGeom prst="rect">
            <a:avLst/>
          </a:prstGeom>
          <a:solidFill>
            <a:srgbClr val="1A1A1A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"/>
          <p:cNvSpPr txBox="1"/>
          <p:nvPr/>
        </p:nvSpPr>
        <p:spPr>
          <a:xfrm>
            <a:off x="4114800" y="3513328"/>
            <a:ext cx="7315200" cy="334264"/>
          </a:xfrm>
          <a:prstGeom prst="rect">
            <a:avLst/>
          </a:prstGeom>
          <a:noFill/>
        </p:spPr>
        <p:txBody>
          <a:bodyPr wrap="none" lIns="177800" rIns="177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1">
                <a:latin typeface="Georgia"/>
              </a:defRPr>
            </a:pPr>
            <a:r>
              <a:rPr>
                <a:solidFill>
                  <a:srgbClr val="D4AF37"/>
                </a:solidFill>
              </a:rPr>
              <a:t>Он запоминает себя рядом с вами.</a:t>
            </a:r>
          </a:p>
        </p:txBody>
      </p:sp>
      <p:sp>
        <p:nvSpPr>
          <p:cNvPr id="21" name="Photo prompt container"/>
          <p:cNvSpPr/>
          <p:nvPr/>
        </p:nvSpPr>
        <p:spPr>
          <a:xfrm>
            <a:off x="4121150" y="4470400"/>
            <a:ext cx="7302500" cy="1492504"/>
          </a:xfrm>
          <a:prstGeom prst="rect">
            <a:avLst/>
          </a:prstGeom>
          <a:solidFill>
            <a:srgbClr val="1A1A1A"/>
          </a:solidFill>
          <a:ln w="825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 txBox="1"/>
          <p:nvPr/>
        </p:nvSpPr>
        <p:spPr>
          <a:xfrm>
            <a:off x="4114800" y="4622800"/>
            <a:ext cx="7315200" cy="302768"/>
          </a:xfrm>
          <a:prstGeom prst="rect">
            <a:avLst/>
          </a:prstGeom>
          <a:noFill/>
        </p:spPr>
        <p:txBody>
          <a:bodyPr wrap="none" lIns="177800" rIns="17780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i="0">
                <a:latin typeface="Arial"/>
              </a:defRPr>
            </a:pPr>
            <a:r>
              <a:rPr>
                <a:solidFill>
                  <a:srgbClr val="D4AF37"/>
                </a:solidFill>
              </a:rPr>
              <a:t>ПРОМПТ ДЛЯ MIDJOURNEY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4114800" y="5016500"/>
            <a:ext cx="7315200" cy="806704"/>
          </a:xfrm>
          <a:prstGeom prst="rect">
            <a:avLst/>
          </a:prstGeom>
          <a:noFill/>
        </p:spPr>
        <p:txBody>
          <a:bodyPr wrap="none" lIns="177800" rIns="17780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Elegant mature couple sharing a warm knowing glance in a quiet luxury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lounge, authentic emotion, graphite and champagne palette, cinematic soft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light, no text --ar 16:9 --style raw</a:t>
            </a:r>
          </a:p>
        </p:txBody>
      </p:sp>
      <p:sp>
        <p:nvSpPr>
          <p:cNvPr id="24" name="Bottom page-number mask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rystal texture"/>
          <p:cNvCxnSpPr/>
          <p:nvPr/>
        </p:nvCxnSpPr>
        <p:spPr>
          <a:xfrm flipV="1">
            <a:off x="10579100" y="5041900"/>
            <a:ext cx="850900" cy="3937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rystal texture"/>
          <p:cNvCxnSpPr/>
          <p:nvPr/>
        </p:nvCxnSpPr>
        <p:spPr>
          <a:xfrm>
            <a:off x="11430000" y="5041900"/>
            <a:ext cx="584200" cy="6350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rystal texture"/>
          <p:cNvCxnSpPr/>
          <p:nvPr/>
        </p:nvCxnSpPr>
        <p:spPr>
          <a:xfrm flipH="1">
            <a:off x="11785600" y="5676900"/>
            <a:ext cx="228600" cy="584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rystal texture"/>
          <p:cNvCxnSpPr/>
          <p:nvPr/>
        </p:nvCxnSpPr>
        <p:spPr>
          <a:xfrm flipH="1">
            <a:off x="10998200" y="6261100"/>
            <a:ext cx="787400" cy="76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rystal texture"/>
          <p:cNvCxnSpPr/>
          <p:nvPr/>
        </p:nvCxnSpPr>
        <p:spPr>
          <a:xfrm flipH="1" flipV="1">
            <a:off x="10426700" y="6083300"/>
            <a:ext cx="571500" cy="2540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rystal texture"/>
          <p:cNvCxnSpPr/>
          <p:nvPr/>
        </p:nvCxnSpPr>
        <p:spPr>
          <a:xfrm flipV="1">
            <a:off x="10426700" y="5435600"/>
            <a:ext cx="152400" cy="6477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rystal texture"/>
          <p:cNvCxnSpPr/>
          <p:nvPr/>
        </p:nvCxnSpPr>
        <p:spPr>
          <a:xfrm>
            <a:off x="10579100" y="5435600"/>
            <a:ext cx="1435100" cy="2413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rystal texture"/>
          <p:cNvCxnSpPr/>
          <p:nvPr/>
        </p:nvCxnSpPr>
        <p:spPr>
          <a:xfrm>
            <a:off x="11430000" y="5041900"/>
            <a:ext cx="355600" cy="1219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rystal texture"/>
          <p:cNvCxnSpPr/>
          <p:nvPr/>
        </p:nvCxnSpPr>
        <p:spPr>
          <a:xfrm flipH="1">
            <a:off x="10426700" y="5676900"/>
            <a:ext cx="1587500" cy="4064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Video divider"/>
          <p:cNvCxnSpPr/>
          <p:nvPr/>
        </p:nvCxnSpPr>
        <p:spPr>
          <a:xfrm>
            <a:off x="3931920" y="914400"/>
            <a:ext cx="0" cy="5029200"/>
          </a:xfrm>
          <a:prstGeom prst="line">
            <a:avLst/>
          </a:prstGeom>
          <a:ln w="8255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"/>
          <p:cNvSpPr txBox="1"/>
          <p:nvPr/>
        </p:nvSpPr>
        <p:spPr>
          <a:xfrm>
            <a:off x="4114800" y="457200"/>
            <a:ext cx="7315200" cy="586232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>
              <a:lnSpc>
                <a:spcPts val="4216"/>
              </a:lnSpc>
              <a:spcBef>
                <a:spcPts val="0"/>
              </a:spcBef>
              <a:spcAft>
                <a:spcPts val="0"/>
              </a:spcAft>
              <a:defRPr sz="3400" i="0">
                <a:latin typeface="Georgia"/>
              </a:defRPr>
            </a:pPr>
            <a:r>
              <a:rPr>
                <a:solidFill>
                  <a:srgbClr val="D4AF37"/>
                </a:solidFill>
              </a:rPr>
              <a:t>Каким он себя чувствовал.</a:t>
            </a:r>
          </a:p>
        </p:txBody>
      </p:sp>
      <p:sp>
        <p:nvSpPr>
          <p:cNvPr id="13" name="Card 1"/>
          <p:cNvSpPr/>
          <p:nvPr/>
        </p:nvSpPr>
        <p:spPr>
          <a:xfrm>
            <a:off x="4114800" y="1841500"/>
            <a:ext cx="7315200" cy="588264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old bullet"/>
          <p:cNvSpPr/>
          <p:nvPr/>
        </p:nvSpPr>
        <p:spPr>
          <a:xfrm>
            <a:off x="4267200" y="2057400"/>
            <a:ext cx="50800" cy="508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4114800" y="1981200"/>
            <a:ext cx="7315200" cy="334264"/>
          </a:xfrm>
          <a:prstGeom prst="rect">
            <a:avLst/>
          </a:prstGeom>
          <a:noFill/>
        </p:spPr>
        <p:txBody>
          <a:bodyPr wrap="none" lIns="304800" rIns="304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Было ли ему легко? Интересно?</a:t>
            </a:r>
          </a:p>
        </p:txBody>
      </p:sp>
      <p:sp>
        <p:nvSpPr>
          <p:cNvPr id="16" name="Card 2"/>
          <p:cNvSpPr/>
          <p:nvPr/>
        </p:nvSpPr>
        <p:spPr>
          <a:xfrm>
            <a:off x="4114800" y="2556764"/>
            <a:ext cx="7315200" cy="871728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old bullet"/>
          <p:cNvSpPr/>
          <p:nvPr/>
        </p:nvSpPr>
        <p:spPr>
          <a:xfrm>
            <a:off x="4267200" y="2772664"/>
            <a:ext cx="50800" cy="508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"/>
          <p:cNvSpPr txBox="1"/>
          <p:nvPr/>
        </p:nvSpPr>
        <p:spPr>
          <a:xfrm>
            <a:off x="4114800" y="2696464"/>
            <a:ext cx="7315200" cy="617728"/>
          </a:xfrm>
          <a:prstGeom prst="rect">
            <a:avLst/>
          </a:prstGeom>
          <a:noFill/>
        </p:spPr>
        <p:txBody>
          <a:bodyPr wrap="none" lIns="304800" rIns="304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Хотелось ли ему становиться сильнее? Чувствовал ли он</a:t>
            </a:r>
          </a:p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себя мужчиной?</a:t>
            </a:r>
          </a:p>
        </p:txBody>
      </p:sp>
      <p:sp>
        <p:nvSpPr>
          <p:cNvPr id="19" name="Card 3"/>
          <p:cNvSpPr/>
          <p:nvPr/>
        </p:nvSpPr>
        <p:spPr>
          <a:xfrm>
            <a:off x="4114800" y="3555491"/>
            <a:ext cx="7315200" cy="588264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old bullet"/>
          <p:cNvSpPr/>
          <p:nvPr/>
        </p:nvSpPr>
        <p:spPr>
          <a:xfrm>
            <a:off x="4267200" y="3771391"/>
            <a:ext cx="50800" cy="508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"/>
          <p:cNvSpPr txBox="1"/>
          <p:nvPr/>
        </p:nvSpPr>
        <p:spPr>
          <a:xfrm>
            <a:off x="4114800" y="3695191"/>
            <a:ext cx="7315200" cy="334264"/>
          </a:xfrm>
          <a:prstGeom prst="rect">
            <a:avLst/>
          </a:prstGeom>
          <a:noFill/>
        </p:spPr>
        <p:txBody>
          <a:bodyPr wrap="none" lIns="304800" rIns="304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Смеялся ли? Удивлялся? Восхищался?</a:t>
            </a:r>
          </a:p>
        </p:txBody>
      </p:sp>
      <p:sp>
        <p:nvSpPr>
          <p:cNvPr id="22" name="Bottom page-number mask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rystal texture"/>
          <p:cNvCxnSpPr/>
          <p:nvPr/>
        </p:nvCxnSpPr>
        <p:spPr>
          <a:xfrm flipV="1">
            <a:off x="10579100" y="5041900"/>
            <a:ext cx="850900" cy="3937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rystal texture"/>
          <p:cNvCxnSpPr/>
          <p:nvPr/>
        </p:nvCxnSpPr>
        <p:spPr>
          <a:xfrm>
            <a:off x="11430000" y="5041900"/>
            <a:ext cx="584200" cy="6350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rystal texture"/>
          <p:cNvCxnSpPr/>
          <p:nvPr/>
        </p:nvCxnSpPr>
        <p:spPr>
          <a:xfrm flipH="1">
            <a:off x="11785600" y="5676900"/>
            <a:ext cx="228600" cy="584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rystal texture"/>
          <p:cNvCxnSpPr/>
          <p:nvPr/>
        </p:nvCxnSpPr>
        <p:spPr>
          <a:xfrm flipH="1">
            <a:off x="10998200" y="6261100"/>
            <a:ext cx="787400" cy="76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rystal texture"/>
          <p:cNvCxnSpPr/>
          <p:nvPr/>
        </p:nvCxnSpPr>
        <p:spPr>
          <a:xfrm flipH="1" flipV="1">
            <a:off x="10426700" y="6083300"/>
            <a:ext cx="571500" cy="2540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rystal texture"/>
          <p:cNvCxnSpPr/>
          <p:nvPr/>
        </p:nvCxnSpPr>
        <p:spPr>
          <a:xfrm flipV="1">
            <a:off x="10426700" y="5435600"/>
            <a:ext cx="152400" cy="6477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rystal texture"/>
          <p:cNvCxnSpPr/>
          <p:nvPr/>
        </p:nvCxnSpPr>
        <p:spPr>
          <a:xfrm>
            <a:off x="10579100" y="5435600"/>
            <a:ext cx="1435100" cy="2413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rystal texture"/>
          <p:cNvCxnSpPr/>
          <p:nvPr/>
        </p:nvCxnSpPr>
        <p:spPr>
          <a:xfrm>
            <a:off x="11430000" y="5041900"/>
            <a:ext cx="355600" cy="1219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rystal texture"/>
          <p:cNvCxnSpPr/>
          <p:nvPr/>
        </p:nvCxnSpPr>
        <p:spPr>
          <a:xfrm flipH="1">
            <a:off x="10426700" y="5676900"/>
            <a:ext cx="1587500" cy="4064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Video divider"/>
          <p:cNvCxnSpPr/>
          <p:nvPr/>
        </p:nvCxnSpPr>
        <p:spPr>
          <a:xfrm>
            <a:off x="3931920" y="914400"/>
            <a:ext cx="0" cy="5029200"/>
          </a:xfrm>
          <a:prstGeom prst="line">
            <a:avLst/>
          </a:prstGeom>
          <a:ln w="8255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"/>
          <p:cNvSpPr txBox="1"/>
          <p:nvPr/>
        </p:nvSpPr>
        <p:spPr>
          <a:xfrm>
            <a:off x="4114800" y="457200"/>
            <a:ext cx="7315200" cy="586232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>
              <a:lnSpc>
                <a:spcPts val="4216"/>
              </a:lnSpc>
              <a:spcBef>
                <a:spcPts val="0"/>
              </a:spcBef>
              <a:spcAft>
                <a:spcPts val="0"/>
              </a:spcAft>
              <a:defRPr sz="3400" i="0">
                <a:latin typeface="Georgia"/>
              </a:defRPr>
            </a:pPr>
            <a:r>
              <a:rPr>
                <a:solidFill>
                  <a:srgbClr val="D4AF37"/>
                </a:solidFill>
              </a:rPr>
              <a:t>Научиться оставлять следы.</a:t>
            </a:r>
          </a:p>
        </p:txBody>
      </p:sp>
      <p:sp>
        <p:nvSpPr>
          <p:cNvPr id="13" name="Card 1"/>
          <p:cNvSpPr/>
          <p:nvPr/>
        </p:nvSpPr>
        <p:spPr>
          <a:xfrm>
            <a:off x="4114800" y="1841500"/>
            <a:ext cx="7315200" cy="588264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old bullet"/>
          <p:cNvSpPr/>
          <p:nvPr/>
        </p:nvSpPr>
        <p:spPr>
          <a:xfrm>
            <a:off x="4267200" y="2057400"/>
            <a:ext cx="50800" cy="508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4114800" y="1981200"/>
            <a:ext cx="7315200" cy="334264"/>
          </a:xfrm>
          <a:prstGeom prst="rect">
            <a:avLst/>
          </a:prstGeom>
          <a:noFill/>
        </p:spPr>
        <p:txBody>
          <a:bodyPr wrap="none" lIns="304800" rIns="304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Наша задача гораздо интереснее.</a:t>
            </a:r>
          </a:p>
        </p:txBody>
      </p:sp>
      <p:sp>
        <p:nvSpPr>
          <p:cNvPr id="16" name="Card 2"/>
          <p:cNvSpPr/>
          <p:nvPr/>
        </p:nvSpPr>
        <p:spPr>
          <a:xfrm>
            <a:off x="4114800" y="2556764"/>
            <a:ext cx="7315200" cy="588264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old bullet"/>
          <p:cNvSpPr/>
          <p:nvPr/>
        </p:nvSpPr>
        <p:spPr>
          <a:xfrm>
            <a:off x="4267200" y="2772664"/>
            <a:ext cx="50800" cy="508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"/>
          <p:cNvSpPr txBox="1"/>
          <p:nvPr/>
        </p:nvSpPr>
        <p:spPr>
          <a:xfrm>
            <a:off x="4114800" y="2696464"/>
            <a:ext cx="7315200" cy="334264"/>
          </a:xfrm>
          <a:prstGeom prst="rect">
            <a:avLst/>
          </a:prstGeom>
          <a:noFill/>
        </p:spPr>
        <p:txBody>
          <a:bodyPr wrap="none" lIns="304800" rIns="304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Научиться оставлять </a:t>
            </a:r>
            <a:r>
              <a:rPr>
                <a:solidFill>
                  <a:srgbClr val="D4AF37"/>
                </a:solidFill>
              </a:rPr>
              <a:t>следы</a:t>
            </a:r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9" name="Author quote"/>
          <p:cNvSpPr/>
          <p:nvPr/>
        </p:nvSpPr>
        <p:spPr>
          <a:xfrm>
            <a:off x="4121150" y="3373628"/>
            <a:ext cx="7302500" cy="871728"/>
          </a:xfrm>
          <a:prstGeom prst="rect">
            <a:avLst/>
          </a:prstGeom>
          <a:solidFill>
            <a:srgbClr val="1A1A1A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"/>
          <p:cNvSpPr txBox="1"/>
          <p:nvPr/>
        </p:nvSpPr>
        <p:spPr>
          <a:xfrm>
            <a:off x="4114800" y="3513328"/>
            <a:ext cx="7315200" cy="617728"/>
          </a:xfrm>
          <a:prstGeom prst="rect">
            <a:avLst/>
          </a:prstGeom>
          <a:noFill/>
        </p:spPr>
        <p:txBody>
          <a:bodyPr wrap="none" lIns="177800" rIns="177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1">
                <a:latin typeface="Georgia"/>
              </a:defRPr>
            </a:pPr>
            <a:r>
              <a:rPr>
                <a:solidFill>
                  <a:srgbClr val="D4AF37"/>
                </a:solidFill>
              </a:rPr>
              <a:t>И поэтому наша задача — не научиться «правильно вести</a:t>
            </a:r>
          </a:p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1">
                <a:latin typeface="Georgia"/>
              </a:defRPr>
            </a:pPr>
            <a:r>
              <a:rPr>
                <a:solidFill>
                  <a:srgbClr val="D4AF37"/>
                </a:solidFill>
              </a:rPr>
              <a:t>себя с мужчиной».</a:t>
            </a:r>
          </a:p>
        </p:txBody>
      </p:sp>
      <p:sp>
        <p:nvSpPr>
          <p:cNvPr id="21" name="Bottom page-number mask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rystal texture"/>
          <p:cNvCxnSpPr/>
          <p:nvPr/>
        </p:nvCxnSpPr>
        <p:spPr>
          <a:xfrm flipV="1">
            <a:off x="10579100" y="5041900"/>
            <a:ext cx="850900" cy="3937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rystal texture"/>
          <p:cNvCxnSpPr/>
          <p:nvPr/>
        </p:nvCxnSpPr>
        <p:spPr>
          <a:xfrm>
            <a:off x="11430000" y="5041900"/>
            <a:ext cx="584200" cy="6350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rystal texture"/>
          <p:cNvCxnSpPr/>
          <p:nvPr/>
        </p:nvCxnSpPr>
        <p:spPr>
          <a:xfrm flipH="1">
            <a:off x="11785600" y="5676900"/>
            <a:ext cx="228600" cy="584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rystal texture"/>
          <p:cNvCxnSpPr/>
          <p:nvPr/>
        </p:nvCxnSpPr>
        <p:spPr>
          <a:xfrm flipH="1">
            <a:off x="10998200" y="6261100"/>
            <a:ext cx="787400" cy="76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rystal texture"/>
          <p:cNvCxnSpPr/>
          <p:nvPr/>
        </p:nvCxnSpPr>
        <p:spPr>
          <a:xfrm flipH="1" flipV="1">
            <a:off x="10426700" y="6083300"/>
            <a:ext cx="571500" cy="2540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rystal texture"/>
          <p:cNvCxnSpPr/>
          <p:nvPr/>
        </p:nvCxnSpPr>
        <p:spPr>
          <a:xfrm flipV="1">
            <a:off x="10426700" y="5435600"/>
            <a:ext cx="152400" cy="6477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rystal texture"/>
          <p:cNvCxnSpPr/>
          <p:nvPr/>
        </p:nvCxnSpPr>
        <p:spPr>
          <a:xfrm>
            <a:off x="10579100" y="5435600"/>
            <a:ext cx="1435100" cy="2413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rystal texture"/>
          <p:cNvCxnSpPr/>
          <p:nvPr/>
        </p:nvCxnSpPr>
        <p:spPr>
          <a:xfrm>
            <a:off x="11430000" y="5041900"/>
            <a:ext cx="355600" cy="1219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rystal texture"/>
          <p:cNvCxnSpPr/>
          <p:nvPr/>
        </p:nvCxnSpPr>
        <p:spPr>
          <a:xfrm flipH="1">
            <a:off x="10426700" y="5676900"/>
            <a:ext cx="1587500" cy="4064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Video divider"/>
          <p:cNvCxnSpPr/>
          <p:nvPr/>
        </p:nvCxnSpPr>
        <p:spPr>
          <a:xfrm>
            <a:off x="3931920" y="914400"/>
            <a:ext cx="0" cy="5029200"/>
          </a:xfrm>
          <a:prstGeom prst="line">
            <a:avLst/>
          </a:prstGeom>
          <a:ln w="8255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"/>
          <p:cNvSpPr txBox="1"/>
          <p:nvPr/>
        </p:nvSpPr>
        <p:spPr>
          <a:xfrm>
            <a:off x="4114800" y="457200"/>
            <a:ext cx="7315200" cy="1121664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>
              <a:lnSpc>
                <a:spcPts val="4216"/>
              </a:lnSpc>
              <a:spcBef>
                <a:spcPts val="0"/>
              </a:spcBef>
              <a:spcAft>
                <a:spcPts val="0"/>
              </a:spcAft>
              <a:defRPr sz="3400" i="0">
                <a:latin typeface="Georgia"/>
              </a:defRPr>
            </a:pPr>
            <a:r>
              <a:rPr>
                <a:solidFill>
                  <a:srgbClr val="D4AF37"/>
                </a:solidFill>
              </a:rPr>
              <a:t>Как возникает</a:t>
            </a:r>
          </a:p>
          <a:p>
            <a:pPr>
              <a:lnSpc>
                <a:spcPts val="4216"/>
              </a:lnSpc>
              <a:spcBef>
                <a:spcPts val="0"/>
              </a:spcBef>
              <a:spcAft>
                <a:spcPts val="0"/>
              </a:spcAft>
              <a:defRPr sz="3400" i="0">
                <a:latin typeface="Georgia"/>
              </a:defRPr>
            </a:pPr>
            <a:r>
              <a:rPr>
                <a:solidFill>
                  <a:srgbClr val="D4AF37"/>
                </a:solidFill>
              </a:rPr>
              <a:t>незабываемость</a:t>
            </a:r>
          </a:p>
        </p:txBody>
      </p:sp>
      <p:sp>
        <p:nvSpPr>
          <p:cNvPr id="13" name="Card 1"/>
          <p:cNvSpPr/>
          <p:nvPr/>
        </p:nvSpPr>
        <p:spPr>
          <a:xfrm>
            <a:off x="4114800" y="1841500"/>
            <a:ext cx="7315200" cy="588264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old bullet"/>
          <p:cNvSpPr/>
          <p:nvPr/>
        </p:nvSpPr>
        <p:spPr>
          <a:xfrm>
            <a:off x="4267200" y="2057400"/>
            <a:ext cx="50800" cy="508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4114800" y="1981200"/>
            <a:ext cx="7315200" cy="334264"/>
          </a:xfrm>
          <a:prstGeom prst="rect">
            <a:avLst/>
          </a:prstGeom>
          <a:noFill/>
        </p:spPr>
        <p:txBody>
          <a:bodyPr wrap="none" lIns="304800" rIns="304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D4AF37"/>
                </a:solidFill>
              </a:rPr>
              <a:t>ГРАНЬ → СОПРИКОСНОВЕНИЕ</a:t>
            </a:r>
          </a:p>
        </p:txBody>
      </p:sp>
      <p:sp>
        <p:nvSpPr>
          <p:cNvPr id="16" name="Card 2"/>
          <p:cNvSpPr/>
          <p:nvPr/>
        </p:nvSpPr>
        <p:spPr>
          <a:xfrm>
            <a:off x="4114800" y="2556764"/>
            <a:ext cx="7315200" cy="588264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old bullet"/>
          <p:cNvSpPr/>
          <p:nvPr/>
        </p:nvSpPr>
        <p:spPr>
          <a:xfrm>
            <a:off x="4267200" y="2772664"/>
            <a:ext cx="50800" cy="508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"/>
          <p:cNvSpPr txBox="1"/>
          <p:nvPr/>
        </p:nvSpPr>
        <p:spPr>
          <a:xfrm>
            <a:off x="4114800" y="2696464"/>
            <a:ext cx="7315200" cy="334264"/>
          </a:xfrm>
          <a:prstGeom prst="rect">
            <a:avLst/>
          </a:prstGeom>
          <a:noFill/>
        </p:spPr>
        <p:txBody>
          <a:bodyPr wrap="none" lIns="304800" rIns="304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D4AF37"/>
                </a:solidFill>
              </a:rPr>
              <a:t>→ СЛЕД → ПАМЯТЬ</a:t>
            </a:r>
          </a:p>
        </p:txBody>
      </p:sp>
      <p:sp>
        <p:nvSpPr>
          <p:cNvPr id="19" name="Card 3"/>
          <p:cNvSpPr/>
          <p:nvPr/>
        </p:nvSpPr>
        <p:spPr>
          <a:xfrm>
            <a:off x="4114800" y="3272028"/>
            <a:ext cx="7315200" cy="588264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old bullet"/>
          <p:cNvSpPr/>
          <p:nvPr/>
        </p:nvSpPr>
        <p:spPr>
          <a:xfrm>
            <a:off x="4267200" y="3487928"/>
            <a:ext cx="50800" cy="508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"/>
          <p:cNvSpPr txBox="1"/>
          <p:nvPr/>
        </p:nvSpPr>
        <p:spPr>
          <a:xfrm>
            <a:off x="4114800" y="3411728"/>
            <a:ext cx="7315200" cy="334264"/>
          </a:xfrm>
          <a:prstGeom prst="rect">
            <a:avLst/>
          </a:prstGeom>
          <a:noFill/>
        </p:spPr>
        <p:txBody>
          <a:bodyPr wrap="none" lIns="304800" rIns="304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D4AF37"/>
                </a:solidFill>
              </a:rPr>
              <a:t>→ НЕЗАБЫВАЕМОСТЬ</a:t>
            </a:r>
          </a:p>
        </p:txBody>
      </p:sp>
      <p:sp>
        <p:nvSpPr>
          <p:cNvPr id="22" name="Bottom page-number mask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rystal texture"/>
          <p:cNvCxnSpPr/>
          <p:nvPr/>
        </p:nvCxnSpPr>
        <p:spPr>
          <a:xfrm flipV="1">
            <a:off x="10579100" y="5041900"/>
            <a:ext cx="850900" cy="3937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rystal texture"/>
          <p:cNvCxnSpPr/>
          <p:nvPr/>
        </p:nvCxnSpPr>
        <p:spPr>
          <a:xfrm>
            <a:off x="11430000" y="5041900"/>
            <a:ext cx="584200" cy="6350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rystal texture"/>
          <p:cNvCxnSpPr/>
          <p:nvPr/>
        </p:nvCxnSpPr>
        <p:spPr>
          <a:xfrm flipH="1">
            <a:off x="11785600" y="5676900"/>
            <a:ext cx="228600" cy="584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rystal texture"/>
          <p:cNvCxnSpPr/>
          <p:nvPr/>
        </p:nvCxnSpPr>
        <p:spPr>
          <a:xfrm flipH="1">
            <a:off x="10998200" y="6261100"/>
            <a:ext cx="787400" cy="76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rystal texture"/>
          <p:cNvCxnSpPr/>
          <p:nvPr/>
        </p:nvCxnSpPr>
        <p:spPr>
          <a:xfrm flipH="1" flipV="1">
            <a:off x="10426700" y="6083300"/>
            <a:ext cx="571500" cy="2540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rystal texture"/>
          <p:cNvCxnSpPr/>
          <p:nvPr/>
        </p:nvCxnSpPr>
        <p:spPr>
          <a:xfrm flipV="1">
            <a:off x="10426700" y="5435600"/>
            <a:ext cx="152400" cy="6477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rystal texture"/>
          <p:cNvCxnSpPr/>
          <p:nvPr/>
        </p:nvCxnSpPr>
        <p:spPr>
          <a:xfrm>
            <a:off x="10579100" y="5435600"/>
            <a:ext cx="1435100" cy="2413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rystal texture"/>
          <p:cNvCxnSpPr/>
          <p:nvPr/>
        </p:nvCxnSpPr>
        <p:spPr>
          <a:xfrm>
            <a:off x="11430000" y="5041900"/>
            <a:ext cx="355600" cy="1219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rystal texture"/>
          <p:cNvCxnSpPr/>
          <p:nvPr/>
        </p:nvCxnSpPr>
        <p:spPr>
          <a:xfrm flipH="1">
            <a:off x="10426700" y="5676900"/>
            <a:ext cx="1587500" cy="4064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Video divider"/>
          <p:cNvCxnSpPr/>
          <p:nvPr/>
        </p:nvCxnSpPr>
        <p:spPr>
          <a:xfrm>
            <a:off x="3931920" y="914400"/>
            <a:ext cx="0" cy="5029200"/>
          </a:xfrm>
          <a:prstGeom prst="line">
            <a:avLst/>
          </a:prstGeom>
          <a:ln w="8255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"/>
          <p:cNvSpPr txBox="1"/>
          <p:nvPr/>
        </p:nvSpPr>
        <p:spPr>
          <a:xfrm>
            <a:off x="4114800" y="457200"/>
            <a:ext cx="7315200" cy="1121664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>
              <a:lnSpc>
                <a:spcPts val="4216"/>
              </a:lnSpc>
              <a:spcBef>
                <a:spcPts val="0"/>
              </a:spcBef>
              <a:spcAft>
                <a:spcPts val="0"/>
              </a:spcAft>
              <a:defRPr sz="3400" i="0">
                <a:latin typeface="Georgia"/>
              </a:defRPr>
            </a:pPr>
            <a:r>
              <a:rPr>
                <a:solidFill>
                  <a:srgbClr val="D4AF37"/>
                </a:solidFill>
              </a:rPr>
              <a:t>Встреча закончилась.</a:t>
            </a:r>
          </a:p>
          <a:p>
            <a:pPr>
              <a:lnSpc>
                <a:spcPts val="4216"/>
              </a:lnSpc>
              <a:spcBef>
                <a:spcPts val="0"/>
              </a:spcBef>
              <a:spcAft>
                <a:spcPts val="0"/>
              </a:spcAft>
              <a:defRPr sz="3400" i="0">
                <a:latin typeface="Georgia"/>
              </a:defRPr>
            </a:pPr>
            <a:r>
              <a:rPr>
                <a:solidFill>
                  <a:srgbClr val="D4AF37"/>
                </a:solidFill>
              </a:rPr>
              <a:t>А лёгкость осталась.</a:t>
            </a:r>
          </a:p>
        </p:txBody>
      </p:sp>
      <p:sp>
        <p:nvSpPr>
          <p:cNvPr id="13" name="Card 1"/>
          <p:cNvSpPr/>
          <p:nvPr/>
        </p:nvSpPr>
        <p:spPr>
          <a:xfrm>
            <a:off x="4114800" y="1841500"/>
            <a:ext cx="7315200" cy="588264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old bullet"/>
          <p:cNvSpPr/>
          <p:nvPr/>
        </p:nvSpPr>
        <p:spPr>
          <a:xfrm>
            <a:off x="4267200" y="2057400"/>
            <a:ext cx="50800" cy="508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4114800" y="1981200"/>
            <a:ext cx="7315200" cy="334264"/>
          </a:xfrm>
          <a:prstGeom prst="rect">
            <a:avLst/>
          </a:prstGeom>
          <a:noFill/>
        </p:spPr>
        <p:txBody>
          <a:bodyPr wrap="none" lIns="304800" rIns="304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Например, вы умеете создавать невероятную </a:t>
            </a:r>
            <a:r>
              <a:rPr>
                <a:solidFill>
                  <a:srgbClr val="D4AF37"/>
                </a:solidFill>
              </a:rPr>
              <a:t>лёгкость</a:t>
            </a:r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6" name="Card 2"/>
          <p:cNvSpPr/>
          <p:nvPr/>
        </p:nvSpPr>
        <p:spPr>
          <a:xfrm>
            <a:off x="4114800" y="2556764"/>
            <a:ext cx="7315200" cy="588264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old bullet"/>
          <p:cNvSpPr/>
          <p:nvPr/>
        </p:nvSpPr>
        <p:spPr>
          <a:xfrm>
            <a:off x="4267200" y="2772664"/>
            <a:ext cx="50800" cy="508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"/>
          <p:cNvSpPr txBox="1"/>
          <p:nvPr/>
        </p:nvSpPr>
        <p:spPr>
          <a:xfrm>
            <a:off x="4114800" y="2696464"/>
            <a:ext cx="7315200" cy="334264"/>
          </a:xfrm>
          <a:prstGeom prst="rect">
            <a:avLst/>
          </a:prstGeom>
          <a:noFill/>
        </p:spPr>
        <p:txBody>
          <a:bodyPr wrap="none" lIns="304800" rIns="304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Вы встретились — посмеялись, поговорили, разошлись.</a:t>
            </a:r>
          </a:p>
        </p:txBody>
      </p:sp>
      <p:sp>
        <p:nvSpPr>
          <p:cNvPr id="19" name="Author quote"/>
          <p:cNvSpPr/>
          <p:nvPr/>
        </p:nvSpPr>
        <p:spPr>
          <a:xfrm>
            <a:off x="4121150" y="3373628"/>
            <a:ext cx="7302500" cy="588264"/>
          </a:xfrm>
          <a:prstGeom prst="rect">
            <a:avLst/>
          </a:prstGeom>
          <a:solidFill>
            <a:srgbClr val="1A1A1A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"/>
          <p:cNvSpPr txBox="1"/>
          <p:nvPr/>
        </p:nvSpPr>
        <p:spPr>
          <a:xfrm>
            <a:off x="4114800" y="3513328"/>
            <a:ext cx="7315200" cy="334264"/>
          </a:xfrm>
          <a:prstGeom prst="rect">
            <a:avLst/>
          </a:prstGeom>
          <a:noFill/>
        </p:spPr>
        <p:txBody>
          <a:bodyPr wrap="none" lIns="177800" rIns="177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1">
                <a:latin typeface="Georgia"/>
              </a:defRPr>
            </a:pPr>
            <a:r>
              <a:rPr>
                <a:solidFill>
                  <a:srgbClr val="D4AF37"/>
                </a:solidFill>
              </a:rPr>
              <a:t>Это след.</a:t>
            </a:r>
          </a:p>
        </p:txBody>
      </p:sp>
      <p:sp>
        <p:nvSpPr>
          <p:cNvPr id="21" name="Photo prompt container"/>
          <p:cNvSpPr/>
          <p:nvPr/>
        </p:nvSpPr>
        <p:spPr>
          <a:xfrm>
            <a:off x="4121150" y="4470400"/>
            <a:ext cx="7302500" cy="1492504"/>
          </a:xfrm>
          <a:prstGeom prst="rect">
            <a:avLst/>
          </a:prstGeom>
          <a:solidFill>
            <a:srgbClr val="1A1A1A"/>
          </a:solidFill>
          <a:ln w="825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 txBox="1"/>
          <p:nvPr/>
        </p:nvSpPr>
        <p:spPr>
          <a:xfrm>
            <a:off x="4114800" y="4622800"/>
            <a:ext cx="7315200" cy="302768"/>
          </a:xfrm>
          <a:prstGeom prst="rect">
            <a:avLst/>
          </a:prstGeom>
          <a:noFill/>
        </p:spPr>
        <p:txBody>
          <a:bodyPr wrap="none" lIns="177800" rIns="17780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i="0">
                <a:latin typeface="Arial"/>
              </a:defRPr>
            </a:pPr>
            <a:r>
              <a:rPr>
                <a:solidFill>
                  <a:srgbClr val="D4AF37"/>
                </a:solidFill>
              </a:rPr>
              <a:t>ПРОМПТ ДЛЯ MIDJOURNEY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4114800" y="5016500"/>
            <a:ext cx="7315200" cy="806704"/>
          </a:xfrm>
          <a:prstGeom prst="rect">
            <a:avLst/>
          </a:prstGeom>
          <a:noFill/>
        </p:spPr>
        <p:txBody>
          <a:bodyPr wrap="none" lIns="177800" rIns="17780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Two crystal glasses on a dark stone table after an intimate conversation,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delicate golden light reflections lingering on graphite silk, poetic luxury still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life, no text --ar 16:9 --style raw</a:t>
            </a:r>
          </a:p>
        </p:txBody>
      </p:sp>
      <p:sp>
        <p:nvSpPr>
          <p:cNvPr id="24" name="Bottom page-number mask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rystal texture"/>
          <p:cNvCxnSpPr/>
          <p:nvPr/>
        </p:nvCxnSpPr>
        <p:spPr>
          <a:xfrm flipV="1">
            <a:off x="10579100" y="5041900"/>
            <a:ext cx="850900" cy="3937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rystal texture"/>
          <p:cNvCxnSpPr/>
          <p:nvPr/>
        </p:nvCxnSpPr>
        <p:spPr>
          <a:xfrm>
            <a:off x="11430000" y="5041900"/>
            <a:ext cx="584200" cy="6350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rystal texture"/>
          <p:cNvCxnSpPr/>
          <p:nvPr/>
        </p:nvCxnSpPr>
        <p:spPr>
          <a:xfrm flipH="1">
            <a:off x="11785600" y="5676900"/>
            <a:ext cx="228600" cy="584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rystal texture"/>
          <p:cNvCxnSpPr/>
          <p:nvPr/>
        </p:nvCxnSpPr>
        <p:spPr>
          <a:xfrm flipH="1">
            <a:off x="10998200" y="6261100"/>
            <a:ext cx="787400" cy="76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rystal texture"/>
          <p:cNvCxnSpPr/>
          <p:nvPr/>
        </p:nvCxnSpPr>
        <p:spPr>
          <a:xfrm flipH="1" flipV="1">
            <a:off x="10426700" y="6083300"/>
            <a:ext cx="571500" cy="2540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rystal texture"/>
          <p:cNvCxnSpPr/>
          <p:nvPr/>
        </p:nvCxnSpPr>
        <p:spPr>
          <a:xfrm flipV="1">
            <a:off x="10426700" y="5435600"/>
            <a:ext cx="152400" cy="6477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rystal texture"/>
          <p:cNvCxnSpPr/>
          <p:nvPr/>
        </p:nvCxnSpPr>
        <p:spPr>
          <a:xfrm>
            <a:off x="10579100" y="5435600"/>
            <a:ext cx="1435100" cy="2413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rystal texture"/>
          <p:cNvCxnSpPr/>
          <p:nvPr/>
        </p:nvCxnSpPr>
        <p:spPr>
          <a:xfrm>
            <a:off x="11430000" y="5041900"/>
            <a:ext cx="355600" cy="1219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rystal texture"/>
          <p:cNvCxnSpPr/>
          <p:nvPr/>
        </p:nvCxnSpPr>
        <p:spPr>
          <a:xfrm flipH="1">
            <a:off x="10426700" y="5676900"/>
            <a:ext cx="1587500" cy="4064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Video divider"/>
          <p:cNvCxnSpPr/>
          <p:nvPr/>
        </p:nvCxnSpPr>
        <p:spPr>
          <a:xfrm>
            <a:off x="3931920" y="914400"/>
            <a:ext cx="0" cy="5029200"/>
          </a:xfrm>
          <a:prstGeom prst="line">
            <a:avLst/>
          </a:prstGeom>
          <a:ln w="8255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"/>
          <p:cNvSpPr txBox="1"/>
          <p:nvPr/>
        </p:nvSpPr>
        <p:spPr>
          <a:xfrm>
            <a:off x="4114800" y="457200"/>
            <a:ext cx="7315200" cy="586232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>
              <a:lnSpc>
                <a:spcPts val="4216"/>
              </a:lnSpc>
              <a:spcBef>
                <a:spcPts val="0"/>
              </a:spcBef>
              <a:spcAft>
                <a:spcPts val="0"/>
              </a:spcAft>
              <a:defRPr sz="3400" i="0">
                <a:latin typeface="Georgia"/>
              </a:defRPr>
            </a:pPr>
            <a:r>
              <a:rPr>
                <a:solidFill>
                  <a:srgbClr val="D4AF37"/>
                </a:solidFill>
              </a:rPr>
              <a:t>Память о вас</a:t>
            </a:r>
          </a:p>
        </p:txBody>
      </p:sp>
      <p:sp>
        <p:nvSpPr>
          <p:cNvPr id="13" name="Card 1"/>
          <p:cNvSpPr/>
          <p:nvPr/>
        </p:nvSpPr>
        <p:spPr>
          <a:xfrm>
            <a:off x="4114800" y="1841500"/>
            <a:ext cx="7315200" cy="871728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old bullet"/>
          <p:cNvSpPr/>
          <p:nvPr/>
        </p:nvSpPr>
        <p:spPr>
          <a:xfrm>
            <a:off x="4267200" y="2057400"/>
            <a:ext cx="50800" cy="508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4114800" y="1981200"/>
            <a:ext cx="7315200" cy="617728"/>
          </a:xfrm>
          <a:prstGeom prst="rect">
            <a:avLst/>
          </a:prstGeom>
          <a:noFill/>
        </p:spPr>
        <p:txBody>
          <a:bodyPr wrap="none" lIns="304800" rIns="304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Мужчина вспоминает вас — и вместе с вашим образом</a:t>
            </a:r>
          </a:p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возвращается это ощущение.</a:t>
            </a:r>
          </a:p>
        </p:txBody>
      </p:sp>
      <p:sp>
        <p:nvSpPr>
          <p:cNvPr id="16" name="Card 2"/>
          <p:cNvSpPr/>
          <p:nvPr/>
        </p:nvSpPr>
        <p:spPr>
          <a:xfrm>
            <a:off x="4114800" y="2840228"/>
            <a:ext cx="7315200" cy="588264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old bullet"/>
          <p:cNvSpPr/>
          <p:nvPr/>
        </p:nvSpPr>
        <p:spPr>
          <a:xfrm>
            <a:off x="4267200" y="3056128"/>
            <a:ext cx="50800" cy="508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"/>
          <p:cNvSpPr txBox="1"/>
          <p:nvPr/>
        </p:nvSpPr>
        <p:spPr>
          <a:xfrm>
            <a:off x="4114800" y="2979928"/>
            <a:ext cx="7315200" cy="334264"/>
          </a:xfrm>
          <a:prstGeom prst="rect">
            <a:avLst/>
          </a:prstGeom>
          <a:noFill/>
        </p:spPr>
        <p:txBody>
          <a:bodyPr wrap="none" lIns="304800" rIns="304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А когда таких следов становится много,</a:t>
            </a:r>
          </a:p>
        </p:txBody>
      </p:sp>
      <p:sp>
        <p:nvSpPr>
          <p:cNvPr id="19" name="Author quote"/>
          <p:cNvSpPr/>
          <p:nvPr/>
        </p:nvSpPr>
        <p:spPr>
          <a:xfrm>
            <a:off x="4121150" y="3657091"/>
            <a:ext cx="7302500" cy="588264"/>
          </a:xfrm>
          <a:prstGeom prst="rect">
            <a:avLst/>
          </a:prstGeom>
          <a:solidFill>
            <a:srgbClr val="1A1A1A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"/>
          <p:cNvSpPr txBox="1"/>
          <p:nvPr/>
        </p:nvSpPr>
        <p:spPr>
          <a:xfrm>
            <a:off x="4114800" y="3796791"/>
            <a:ext cx="7315200" cy="334264"/>
          </a:xfrm>
          <a:prstGeom prst="rect">
            <a:avLst/>
          </a:prstGeom>
          <a:noFill/>
        </p:spPr>
        <p:txBody>
          <a:bodyPr wrap="none" lIns="177800" rIns="177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1">
                <a:latin typeface="Georgia"/>
              </a:defRPr>
            </a:pPr>
            <a:r>
              <a:rPr>
                <a:solidFill>
                  <a:srgbClr val="D4AF37"/>
                </a:solidFill>
              </a:rPr>
              <a:t>появляется то, что я называю эффектом незабываемости.</a:t>
            </a:r>
          </a:p>
        </p:txBody>
      </p:sp>
      <p:sp>
        <p:nvSpPr>
          <p:cNvPr id="21" name="Bottom page-number mask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rystal texture"/>
          <p:cNvCxnSpPr/>
          <p:nvPr/>
        </p:nvCxnSpPr>
        <p:spPr>
          <a:xfrm flipV="1">
            <a:off x="10579100" y="5041900"/>
            <a:ext cx="850900" cy="3937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rystal texture"/>
          <p:cNvCxnSpPr/>
          <p:nvPr/>
        </p:nvCxnSpPr>
        <p:spPr>
          <a:xfrm>
            <a:off x="11430000" y="5041900"/>
            <a:ext cx="584200" cy="6350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rystal texture"/>
          <p:cNvCxnSpPr/>
          <p:nvPr/>
        </p:nvCxnSpPr>
        <p:spPr>
          <a:xfrm flipH="1">
            <a:off x="11785600" y="5676900"/>
            <a:ext cx="228600" cy="584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rystal texture"/>
          <p:cNvCxnSpPr/>
          <p:nvPr/>
        </p:nvCxnSpPr>
        <p:spPr>
          <a:xfrm flipH="1">
            <a:off x="10998200" y="6261100"/>
            <a:ext cx="787400" cy="76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rystal texture"/>
          <p:cNvCxnSpPr/>
          <p:nvPr/>
        </p:nvCxnSpPr>
        <p:spPr>
          <a:xfrm flipH="1" flipV="1">
            <a:off x="10426700" y="6083300"/>
            <a:ext cx="571500" cy="2540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rystal texture"/>
          <p:cNvCxnSpPr/>
          <p:nvPr/>
        </p:nvCxnSpPr>
        <p:spPr>
          <a:xfrm flipV="1">
            <a:off x="10426700" y="5435600"/>
            <a:ext cx="152400" cy="6477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rystal texture"/>
          <p:cNvCxnSpPr/>
          <p:nvPr/>
        </p:nvCxnSpPr>
        <p:spPr>
          <a:xfrm>
            <a:off x="10579100" y="5435600"/>
            <a:ext cx="1435100" cy="2413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rystal texture"/>
          <p:cNvCxnSpPr/>
          <p:nvPr/>
        </p:nvCxnSpPr>
        <p:spPr>
          <a:xfrm>
            <a:off x="11430000" y="5041900"/>
            <a:ext cx="355600" cy="1219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rystal texture"/>
          <p:cNvCxnSpPr/>
          <p:nvPr/>
        </p:nvCxnSpPr>
        <p:spPr>
          <a:xfrm flipH="1">
            <a:off x="10426700" y="5676900"/>
            <a:ext cx="1587500" cy="4064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Video divider"/>
          <p:cNvCxnSpPr/>
          <p:nvPr/>
        </p:nvCxnSpPr>
        <p:spPr>
          <a:xfrm>
            <a:off x="3931920" y="914400"/>
            <a:ext cx="0" cy="5029200"/>
          </a:xfrm>
          <a:prstGeom prst="line">
            <a:avLst/>
          </a:prstGeom>
          <a:ln w="8255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"/>
          <p:cNvSpPr txBox="1"/>
          <p:nvPr/>
        </p:nvSpPr>
        <p:spPr>
          <a:xfrm>
            <a:off x="4114800" y="457200"/>
            <a:ext cx="7315200" cy="586232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>
              <a:lnSpc>
                <a:spcPts val="4216"/>
              </a:lnSpc>
              <a:spcBef>
                <a:spcPts val="0"/>
              </a:spcBef>
              <a:spcAft>
                <a:spcPts val="0"/>
              </a:spcAft>
              <a:defRPr sz="3400" i="0">
                <a:latin typeface="Georgia"/>
              </a:defRPr>
            </a:pPr>
            <a:r>
              <a:rPr>
                <a:solidFill>
                  <a:srgbClr val="D4AF37"/>
                </a:solidFill>
              </a:rPr>
              <a:t>Одна грань — один след</a:t>
            </a:r>
          </a:p>
        </p:txBody>
      </p:sp>
      <p:sp>
        <p:nvSpPr>
          <p:cNvPr id="13" name="Card table 1"/>
          <p:cNvSpPr/>
          <p:nvPr/>
        </p:nvSpPr>
        <p:spPr>
          <a:xfrm>
            <a:off x="4114800" y="1841500"/>
            <a:ext cx="7315200" cy="723900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"/>
          <p:cNvSpPr txBox="1"/>
          <p:nvPr/>
        </p:nvSpPr>
        <p:spPr>
          <a:xfrm>
            <a:off x="4114800" y="2057400"/>
            <a:ext cx="7315200" cy="334264"/>
          </a:xfrm>
          <a:prstGeom prst="rect">
            <a:avLst/>
          </a:prstGeom>
          <a:noFill/>
        </p:spPr>
        <p:txBody>
          <a:bodyPr wrap="none" lIns="177800" rIns="177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D4AF37"/>
                </a:solidFill>
              </a:rPr>
              <a:t>Лёгкость</a:t>
            </a:r>
          </a:p>
        </p:txBody>
      </p:sp>
      <p:sp>
        <p:nvSpPr>
          <p:cNvPr id="15" name="Table value"/>
          <p:cNvSpPr txBox="1"/>
          <p:nvPr/>
        </p:nvSpPr>
        <p:spPr>
          <a:xfrm>
            <a:off x="6985000" y="2057400"/>
            <a:ext cx="4267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→ </a:t>
            </a:r>
            <a:r>
              <a:rPr>
                <a:solidFill>
                  <a:srgbClr val="D4AF37"/>
                </a:solidFill>
              </a:rPr>
              <a:t>след</a:t>
            </a:r>
            <a:r>
              <a:rPr>
                <a:solidFill>
                  <a:srgbClr val="FFFFFF"/>
                </a:solidFill>
              </a:rPr>
              <a:t> лёгкости</a:t>
            </a:r>
          </a:p>
        </p:txBody>
      </p:sp>
      <p:cxnSp>
        <p:nvCxnSpPr>
          <p:cNvPr id="16" name="Table separator"/>
          <p:cNvCxnSpPr/>
          <p:nvPr/>
        </p:nvCxnSpPr>
        <p:spPr>
          <a:xfrm>
            <a:off x="6654800" y="1993900"/>
            <a:ext cx="0" cy="419100"/>
          </a:xfrm>
          <a:prstGeom prst="line">
            <a:avLst/>
          </a:prstGeom>
          <a:ln w="6350">
            <a:solidFill>
              <a:srgbClr val="D4AF37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rd table 2"/>
          <p:cNvSpPr/>
          <p:nvPr/>
        </p:nvSpPr>
        <p:spPr>
          <a:xfrm>
            <a:off x="4114800" y="2692400"/>
            <a:ext cx="7315200" cy="723900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"/>
          <p:cNvSpPr txBox="1"/>
          <p:nvPr/>
        </p:nvSpPr>
        <p:spPr>
          <a:xfrm>
            <a:off x="4114800" y="2908300"/>
            <a:ext cx="7315200" cy="334264"/>
          </a:xfrm>
          <a:prstGeom prst="rect">
            <a:avLst/>
          </a:prstGeom>
          <a:noFill/>
        </p:spPr>
        <p:txBody>
          <a:bodyPr wrap="none" lIns="177800" rIns="177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D4AF37"/>
                </a:solidFill>
              </a:rPr>
              <a:t>Вдохновение</a:t>
            </a:r>
          </a:p>
        </p:txBody>
      </p:sp>
      <p:sp>
        <p:nvSpPr>
          <p:cNvPr id="19" name="Table value"/>
          <p:cNvSpPr txBox="1"/>
          <p:nvPr/>
        </p:nvSpPr>
        <p:spPr>
          <a:xfrm>
            <a:off x="6985000" y="2908300"/>
            <a:ext cx="4267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→ </a:t>
            </a:r>
            <a:r>
              <a:rPr>
                <a:solidFill>
                  <a:srgbClr val="D4AF37"/>
                </a:solidFill>
              </a:rPr>
              <a:t>след</a:t>
            </a:r>
            <a:r>
              <a:rPr>
                <a:solidFill>
                  <a:srgbClr val="FFFFFF"/>
                </a:solidFill>
              </a:rPr>
              <a:t> вдохновения</a:t>
            </a:r>
          </a:p>
        </p:txBody>
      </p:sp>
      <p:cxnSp>
        <p:nvCxnSpPr>
          <p:cNvPr id="20" name="Table separator"/>
          <p:cNvCxnSpPr/>
          <p:nvPr/>
        </p:nvCxnSpPr>
        <p:spPr>
          <a:xfrm>
            <a:off x="6654800" y="2844800"/>
            <a:ext cx="0" cy="419100"/>
          </a:xfrm>
          <a:prstGeom prst="line">
            <a:avLst/>
          </a:prstGeom>
          <a:ln w="6350">
            <a:solidFill>
              <a:srgbClr val="D4AF37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rd table 3"/>
          <p:cNvSpPr/>
          <p:nvPr/>
        </p:nvSpPr>
        <p:spPr>
          <a:xfrm>
            <a:off x="4114800" y="3543300"/>
            <a:ext cx="7315200" cy="723900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 txBox="1"/>
          <p:nvPr/>
        </p:nvSpPr>
        <p:spPr>
          <a:xfrm>
            <a:off x="4114800" y="3759200"/>
            <a:ext cx="7315200" cy="334264"/>
          </a:xfrm>
          <a:prstGeom prst="rect">
            <a:avLst/>
          </a:prstGeom>
          <a:noFill/>
        </p:spPr>
        <p:txBody>
          <a:bodyPr wrap="none" lIns="177800" rIns="177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D4AF37"/>
                </a:solidFill>
              </a:rPr>
              <a:t>Интеллект</a:t>
            </a:r>
          </a:p>
        </p:txBody>
      </p:sp>
      <p:sp>
        <p:nvSpPr>
          <p:cNvPr id="23" name="Table value"/>
          <p:cNvSpPr txBox="1"/>
          <p:nvPr/>
        </p:nvSpPr>
        <p:spPr>
          <a:xfrm>
            <a:off x="6985000" y="3759200"/>
            <a:ext cx="4267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→ интеллектуальный </a:t>
            </a:r>
            <a:r>
              <a:rPr>
                <a:solidFill>
                  <a:srgbClr val="D4AF37"/>
                </a:solidFill>
              </a:rPr>
              <a:t>след</a:t>
            </a:r>
          </a:p>
        </p:txBody>
      </p:sp>
      <p:cxnSp>
        <p:nvCxnSpPr>
          <p:cNvPr id="24" name="Table separator"/>
          <p:cNvCxnSpPr/>
          <p:nvPr/>
        </p:nvCxnSpPr>
        <p:spPr>
          <a:xfrm>
            <a:off x="6654800" y="3695700"/>
            <a:ext cx="0" cy="419100"/>
          </a:xfrm>
          <a:prstGeom prst="line">
            <a:avLst/>
          </a:prstGeom>
          <a:ln w="6350">
            <a:solidFill>
              <a:srgbClr val="D4AF37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ard table 4"/>
          <p:cNvSpPr/>
          <p:nvPr/>
        </p:nvSpPr>
        <p:spPr>
          <a:xfrm>
            <a:off x="4114800" y="4394200"/>
            <a:ext cx="7315200" cy="723900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"/>
          <p:cNvSpPr txBox="1"/>
          <p:nvPr/>
        </p:nvSpPr>
        <p:spPr>
          <a:xfrm>
            <a:off x="4114800" y="4610100"/>
            <a:ext cx="7315200" cy="334264"/>
          </a:xfrm>
          <a:prstGeom prst="rect">
            <a:avLst/>
          </a:prstGeom>
          <a:noFill/>
        </p:spPr>
        <p:txBody>
          <a:bodyPr wrap="none" lIns="177800" rIns="177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D4AF37"/>
                </a:solidFill>
              </a:rPr>
              <a:t>Индивидуальность</a:t>
            </a:r>
          </a:p>
        </p:txBody>
      </p:sp>
      <p:sp>
        <p:nvSpPr>
          <p:cNvPr id="27" name="Table value"/>
          <p:cNvSpPr txBox="1"/>
          <p:nvPr/>
        </p:nvSpPr>
        <p:spPr>
          <a:xfrm>
            <a:off x="6985000" y="4610100"/>
            <a:ext cx="4267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→ </a:t>
            </a:r>
            <a:r>
              <a:rPr>
                <a:solidFill>
                  <a:srgbClr val="D4AF37"/>
                </a:solidFill>
              </a:rPr>
              <a:t>след</a:t>
            </a:r>
            <a:r>
              <a:rPr>
                <a:solidFill>
                  <a:srgbClr val="FFFFFF"/>
                </a:solidFill>
              </a:rPr>
              <a:t> уникальности</a:t>
            </a:r>
          </a:p>
        </p:txBody>
      </p:sp>
      <p:cxnSp>
        <p:nvCxnSpPr>
          <p:cNvPr id="28" name="Table separator"/>
          <p:cNvCxnSpPr/>
          <p:nvPr/>
        </p:nvCxnSpPr>
        <p:spPr>
          <a:xfrm>
            <a:off x="6654800" y="4546600"/>
            <a:ext cx="0" cy="419100"/>
          </a:xfrm>
          <a:prstGeom prst="line">
            <a:avLst/>
          </a:prstGeom>
          <a:ln w="6350">
            <a:solidFill>
              <a:srgbClr val="D4AF37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Bottom page-number mask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rystal texture"/>
          <p:cNvCxnSpPr/>
          <p:nvPr/>
        </p:nvCxnSpPr>
        <p:spPr>
          <a:xfrm flipV="1">
            <a:off x="10579100" y="5041900"/>
            <a:ext cx="850900" cy="3937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rystal texture"/>
          <p:cNvCxnSpPr/>
          <p:nvPr/>
        </p:nvCxnSpPr>
        <p:spPr>
          <a:xfrm>
            <a:off x="11430000" y="5041900"/>
            <a:ext cx="584200" cy="6350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rystal texture"/>
          <p:cNvCxnSpPr/>
          <p:nvPr/>
        </p:nvCxnSpPr>
        <p:spPr>
          <a:xfrm flipH="1">
            <a:off x="11785600" y="5676900"/>
            <a:ext cx="228600" cy="584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rystal texture"/>
          <p:cNvCxnSpPr/>
          <p:nvPr/>
        </p:nvCxnSpPr>
        <p:spPr>
          <a:xfrm flipH="1">
            <a:off x="10998200" y="6261100"/>
            <a:ext cx="787400" cy="76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rystal texture"/>
          <p:cNvCxnSpPr/>
          <p:nvPr/>
        </p:nvCxnSpPr>
        <p:spPr>
          <a:xfrm flipH="1" flipV="1">
            <a:off x="10426700" y="6083300"/>
            <a:ext cx="571500" cy="2540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rystal texture"/>
          <p:cNvCxnSpPr/>
          <p:nvPr/>
        </p:nvCxnSpPr>
        <p:spPr>
          <a:xfrm flipV="1">
            <a:off x="10426700" y="5435600"/>
            <a:ext cx="152400" cy="6477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rystal texture"/>
          <p:cNvCxnSpPr/>
          <p:nvPr/>
        </p:nvCxnSpPr>
        <p:spPr>
          <a:xfrm>
            <a:off x="10579100" y="5435600"/>
            <a:ext cx="1435100" cy="2413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rystal texture"/>
          <p:cNvCxnSpPr/>
          <p:nvPr/>
        </p:nvCxnSpPr>
        <p:spPr>
          <a:xfrm>
            <a:off x="11430000" y="5041900"/>
            <a:ext cx="355600" cy="1219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rystal texture"/>
          <p:cNvCxnSpPr/>
          <p:nvPr/>
        </p:nvCxnSpPr>
        <p:spPr>
          <a:xfrm flipH="1">
            <a:off x="10426700" y="5676900"/>
            <a:ext cx="1587500" cy="4064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Video divider"/>
          <p:cNvCxnSpPr/>
          <p:nvPr/>
        </p:nvCxnSpPr>
        <p:spPr>
          <a:xfrm>
            <a:off x="3931920" y="914400"/>
            <a:ext cx="0" cy="5029200"/>
          </a:xfrm>
          <a:prstGeom prst="line">
            <a:avLst/>
          </a:prstGeom>
          <a:ln w="8255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"/>
          <p:cNvSpPr txBox="1"/>
          <p:nvPr/>
        </p:nvSpPr>
        <p:spPr>
          <a:xfrm>
            <a:off x="4114800" y="457200"/>
            <a:ext cx="7315200" cy="1121664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>
              <a:lnSpc>
                <a:spcPts val="4216"/>
              </a:lnSpc>
              <a:spcBef>
                <a:spcPts val="0"/>
              </a:spcBef>
              <a:spcAft>
                <a:spcPts val="0"/>
              </a:spcAft>
              <a:defRPr sz="3400" i="0">
                <a:latin typeface="Georgia"/>
              </a:defRPr>
            </a:pPr>
            <a:r>
              <a:rPr>
                <a:solidFill>
                  <a:srgbClr val="D4AF37"/>
                </a:solidFill>
              </a:rPr>
              <a:t>Почему одной красоты</a:t>
            </a:r>
          </a:p>
          <a:p>
            <a:pPr>
              <a:lnSpc>
                <a:spcPts val="4216"/>
              </a:lnSpc>
              <a:spcBef>
                <a:spcPts val="0"/>
              </a:spcBef>
              <a:spcAft>
                <a:spcPts val="0"/>
              </a:spcAft>
              <a:defRPr sz="3400" i="0">
                <a:latin typeface="Georgia"/>
              </a:defRPr>
            </a:pPr>
            <a:r>
              <a:rPr>
                <a:solidFill>
                  <a:srgbClr val="D4AF37"/>
                </a:solidFill>
              </a:rPr>
              <a:t>недостаточно.</a:t>
            </a:r>
          </a:p>
        </p:txBody>
      </p:sp>
      <p:sp>
        <p:nvSpPr>
          <p:cNvPr id="13" name="Card table 1"/>
          <p:cNvSpPr/>
          <p:nvPr/>
        </p:nvSpPr>
        <p:spPr>
          <a:xfrm>
            <a:off x="4114800" y="1841500"/>
            <a:ext cx="7315200" cy="723900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"/>
          <p:cNvSpPr txBox="1"/>
          <p:nvPr/>
        </p:nvSpPr>
        <p:spPr>
          <a:xfrm>
            <a:off x="4114800" y="2057400"/>
            <a:ext cx="7315200" cy="334264"/>
          </a:xfrm>
          <a:prstGeom prst="rect">
            <a:avLst/>
          </a:prstGeom>
          <a:noFill/>
        </p:spPr>
        <p:txBody>
          <a:bodyPr wrap="none" lIns="177800" rIns="177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D4AF37"/>
                </a:solidFill>
              </a:rPr>
              <a:t>Эстетика</a:t>
            </a:r>
          </a:p>
        </p:txBody>
      </p:sp>
      <p:sp>
        <p:nvSpPr>
          <p:cNvPr id="15" name="Table value"/>
          <p:cNvSpPr txBox="1"/>
          <p:nvPr/>
        </p:nvSpPr>
        <p:spPr>
          <a:xfrm>
            <a:off x="6985000" y="2057400"/>
            <a:ext cx="4267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→ эстетический </a:t>
            </a:r>
            <a:r>
              <a:rPr>
                <a:solidFill>
                  <a:srgbClr val="D4AF37"/>
                </a:solidFill>
              </a:rPr>
              <a:t>след</a:t>
            </a:r>
          </a:p>
        </p:txBody>
      </p:sp>
      <p:cxnSp>
        <p:nvCxnSpPr>
          <p:cNvPr id="16" name="Table separator"/>
          <p:cNvCxnSpPr/>
          <p:nvPr/>
        </p:nvCxnSpPr>
        <p:spPr>
          <a:xfrm>
            <a:off x="6654800" y="1993900"/>
            <a:ext cx="0" cy="419100"/>
          </a:xfrm>
          <a:prstGeom prst="line">
            <a:avLst/>
          </a:prstGeom>
          <a:ln w="6350">
            <a:solidFill>
              <a:srgbClr val="D4AF37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rd table 2"/>
          <p:cNvSpPr/>
          <p:nvPr/>
        </p:nvSpPr>
        <p:spPr>
          <a:xfrm>
            <a:off x="4114800" y="2692400"/>
            <a:ext cx="7315200" cy="723900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"/>
          <p:cNvSpPr txBox="1"/>
          <p:nvPr/>
        </p:nvSpPr>
        <p:spPr>
          <a:xfrm>
            <a:off x="4114800" y="2908300"/>
            <a:ext cx="7315200" cy="334264"/>
          </a:xfrm>
          <a:prstGeom prst="rect">
            <a:avLst/>
          </a:prstGeom>
          <a:noFill/>
        </p:spPr>
        <p:txBody>
          <a:bodyPr wrap="none" lIns="177800" rIns="177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D4AF37"/>
                </a:solidFill>
              </a:rPr>
              <a:t>Достоинство</a:t>
            </a:r>
          </a:p>
        </p:txBody>
      </p:sp>
      <p:sp>
        <p:nvSpPr>
          <p:cNvPr id="19" name="Table value"/>
          <p:cNvSpPr txBox="1"/>
          <p:nvPr/>
        </p:nvSpPr>
        <p:spPr>
          <a:xfrm>
            <a:off x="6985000" y="2908300"/>
            <a:ext cx="4267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→ </a:t>
            </a:r>
            <a:r>
              <a:rPr>
                <a:solidFill>
                  <a:srgbClr val="D4AF37"/>
                </a:solidFill>
              </a:rPr>
              <a:t>след</a:t>
            </a:r>
            <a:r>
              <a:rPr>
                <a:solidFill>
                  <a:srgbClr val="FFFFFF"/>
                </a:solidFill>
              </a:rPr>
              <a:t> уважения</a:t>
            </a:r>
          </a:p>
        </p:txBody>
      </p:sp>
      <p:cxnSp>
        <p:nvCxnSpPr>
          <p:cNvPr id="20" name="Table separator"/>
          <p:cNvCxnSpPr/>
          <p:nvPr/>
        </p:nvCxnSpPr>
        <p:spPr>
          <a:xfrm>
            <a:off x="6654800" y="2844800"/>
            <a:ext cx="0" cy="419100"/>
          </a:xfrm>
          <a:prstGeom prst="line">
            <a:avLst/>
          </a:prstGeom>
          <a:ln w="6350">
            <a:solidFill>
              <a:srgbClr val="D4AF37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rd table 3"/>
          <p:cNvSpPr/>
          <p:nvPr/>
        </p:nvSpPr>
        <p:spPr>
          <a:xfrm>
            <a:off x="4114800" y="3543300"/>
            <a:ext cx="7315200" cy="723900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 txBox="1"/>
          <p:nvPr/>
        </p:nvSpPr>
        <p:spPr>
          <a:xfrm>
            <a:off x="4114800" y="3759200"/>
            <a:ext cx="7315200" cy="334264"/>
          </a:xfrm>
          <a:prstGeom prst="rect">
            <a:avLst/>
          </a:prstGeom>
          <a:noFill/>
        </p:spPr>
        <p:txBody>
          <a:bodyPr wrap="none" lIns="177800" rIns="177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D4AF37"/>
                </a:solidFill>
              </a:rPr>
              <a:t>Контраст</a:t>
            </a:r>
          </a:p>
        </p:txBody>
      </p:sp>
      <p:sp>
        <p:nvSpPr>
          <p:cNvPr id="23" name="Table value"/>
          <p:cNvSpPr txBox="1"/>
          <p:nvPr/>
        </p:nvSpPr>
        <p:spPr>
          <a:xfrm>
            <a:off x="6985000" y="3759200"/>
            <a:ext cx="42672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→ </a:t>
            </a:r>
            <a:r>
              <a:rPr>
                <a:solidFill>
                  <a:srgbClr val="D4AF37"/>
                </a:solidFill>
              </a:rPr>
              <a:t>след</a:t>
            </a:r>
            <a:r>
              <a:rPr>
                <a:solidFill>
                  <a:srgbClr val="FFFFFF"/>
                </a:solidFill>
              </a:rPr>
              <a:t> новизны</a:t>
            </a:r>
          </a:p>
        </p:txBody>
      </p:sp>
      <p:cxnSp>
        <p:nvCxnSpPr>
          <p:cNvPr id="24" name="Table separator"/>
          <p:cNvCxnSpPr/>
          <p:nvPr/>
        </p:nvCxnSpPr>
        <p:spPr>
          <a:xfrm>
            <a:off x="6654800" y="3695700"/>
            <a:ext cx="0" cy="419100"/>
          </a:xfrm>
          <a:prstGeom prst="line">
            <a:avLst/>
          </a:prstGeom>
          <a:ln w="6350">
            <a:solidFill>
              <a:srgbClr val="D4AF37">
                <a:alpha val="4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Author quote"/>
          <p:cNvSpPr/>
          <p:nvPr/>
        </p:nvSpPr>
        <p:spPr>
          <a:xfrm>
            <a:off x="4121150" y="4495800"/>
            <a:ext cx="7302500" cy="588264"/>
          </a:xfrm>
          <a:prstGeom prst="rect">
            <a:avLst/>
          </a:prstGeom>
          <a:solidFill>
            <a:srgbClr val="1A1A1A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"/>
          <p:cNvSpPr txBox="1"/>
          <p:nvPr/>
        </p:nvSpPr>
        <p:spPr>
          <a:xfrm>
            <a:off x="4114800" y="4635500"/>
            <a:ext cx="7315200" cy="334264"/>
          </a:xfrm>
          <a:prstGeom prst="rect">
            <a:avLst/>
          </a:prstGeom>
          <a:noFill/>
        </p:spPr>
        <p:txBody>
          <a:bodyPr wrap="none" lIns="177800" rIns="177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1">
                <a:latin typeface="Georgia"/>
              </a:defRPr>
            </a:pPr>
            <a:r>
              <a:rPr>
                <a:solidFill>
                  <a:srgbClr val="D4AF37"/>
                </a:solidFill>
              </a:rPr>
              <a:t>Красота тоже способна оставить след. Но это один след.</a:t>
            </a:r>
          </a:p>
        </p:txBody>
      </p:sp>
      <p:sp>
        <p:nvSpPr>
          <p:cNvPr id="27" name="Bottom page-number mask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rystal texture"/>
          <p:cNvCxnSpPr/>
          <p:nvPr/>
        </p:nvCxnSpPr>
        <p:spPr>
          <a:xfrm flipV="1">
            <a:off x="10579100" y="5041900"/>
            <a:ext cx="850900" cy="3937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rystal texture"/>
          <p:cNvCxnSpPr/>
          <p:nvPr/>
        </p:nvCxnSpPr>
        <p:spPr>
          <a:xfrm>
            <a:off x="11430000" y="5041900"/>
            <a:ext cx="584200" cy="6350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rystal texture"/>
          <p:cNvCxnSpPr/>
          <p:nvPr/>
        </p:nvCxnSpPr>
        <p:spPr>
          <a:xfrm flipH="1">
            <a:off x="11785600" y="5676900"/>
            <a:ext cx="228600" cy="584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rystal texture"/>
          <p:cNvCxnSpPr/>
          <p:nvPr/>
        </p:nvCxnSpPr>
        <p:spPr>
          <a:xfrm flipH="1">
            <a:off x="10998200" y="6261100"/>
            <a:ext cx="787400" cy="76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rystal texture"/>
          <p:cNvCxnSpPr/>
          <p:nvPr/>
        </p:nvCxnSpPr>
        <p:spPr>
          <a:xfrm flipH="1" flipV="1">
            <a:off x="10426700" y="6083300"/>
            <a:ext cx="571500" cy="2540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rystal texture"/>
          <p:cNvCxnSpPr/>
          <p:nvPr/>
        </p:nvCxnSpPr>
        <p:spPr>
          <a:xfrm flipV="1">
            <a:off x="10426700" y="5435600"/>
            <a:ext cx="152400" cy="6477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rystal texture"/>
          <p:cNvCxnSpPr/>
          <p:nvPr/>
        </p:nvCxnSpPr>
        <p:spPr>
          <a:xfrm>
            <a:off x="10579100" y="5435600"/>
            <a:ext cx="1435100" cy="2413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rystal texture"/>
          <p:cNvCxnSpPr/>
          <p:nvPr/>
        </p:nvCxnSpPr>
        <p:spPr>
          <a:xfrm>
            <a:off x="11430000" y="5041900"/>
            <a:ext cx="355600" cy="1219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rystal texture"/>
          <p:cNvCxnSpPr/>
          <p:nvPr/>
        </p:nvCxnSpPr>
        <p:spPr>
          <a:xfrm flipH="1">
            <a:off x="10426700" y="5676900"/>
            <a:ext cx="1587500" cy="4064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Video divider"/>
          <p:cNvCxnSpPr/>
          <p:nvPr/>
        </p:nvCxnSpPr>
        <p:spPr>
          <a:xfrm>
            <a:off x="3931920" y="914400"/>
            <a:ext cx="0" cy="5029200"/>
          </a:xfrm>
          <a:prstGeom prst="line">
            <a:avLst/>
          </a:prstGeom>
          <a:ln w="8255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"/>
          <p:cNvSpPr txBox="1"/>
          <p:nvPr/>
        </p:nvSpPr>
        <p:spPr>
          <a:xfrm>
            <a:off x="4114800" y="457200"/>
            <a:ext cx="7315200" cy="1121664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>
              <a:lnSpc>
                <a:spcPts val="4216"/>
              </a:lnSpc>
              <a:spcBef>
                <a:spcPts val="0"/>
              </a:spcBef>
              <a:spcAft>
                <a:spcPts val="0"/>
              </a:spcAft>
              <a:defRPr sz="3400" i="0">
                <a:latin typeface="Georgia"/>
              </a:defRPr>
            </a:pPr>
            <a:r>
              <a:rPr>
                <a:solidFill>
                  <a:srgbClr val="D4AF37"/>
                </a:solidFill>
              </a:rPr>
              <a:t>Совершенно другой</a:t>
            </a:r>
          </a:p>
          <a:p>
            <a:pPr>
              <a:lnSpc>
                <a:spcPts val="4216"/>
              </a:lnSpc>
              <a:spcBef>
                <a:spcPts val="0"/>
              </a:spcBef>
              <a:spcAft>
                <a:spcPts val="0"/>
              </a:spcAft>
              <a:defRPr sz="3400" i="0">
                <a:latin typeface="Georgia"/>
              </a:defRPr>
            </a:pPr>
            <a:r>
              <a:rPr>
                <a:solidFill>
                  <a:srgbClr val="D4AF37"/>
                </a:solidFill>
              </a:rPr>
              <a:t>объём впечатления.</a:t>
            </a:r>
          </a:p>
        </p:txBody>
      </p:sp>
      <p:sp>
        <p:nvSpPr>
          <p:cNvPr id="13" name="Card 1"/>
          <p:cNvSpPr/>
          <p:nvPr/>
        </p:nvSpPr>
        <p:spPr>
          <a:xfrm>
            <a:off x="4114800" y="1841500"/>
            <a:ext cx="7315200" cy="588264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old bullet"/>
          <p:cNvSpPr/>
          <p:nvPr/>
        </p:nvSpPr>
        <p:spPr>
          <a:xfrm>
            <a:off x="4267200" y="2057400"/>
            <a:ext cx="50800" cy="508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4114800" y="1981200"/>
            <a:ext cx="7315200" cy="334264"/>
          </a:xfrm>
          <a:prstGeom prst="rect">
            <a:avLst/>
          </a:prstGeom>
          <a:noFill/>
        </p:spPr>
        <p:txBody>
          <a:bodyPr wrap="none" lIns="304800" rIns="304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восхищение, интерес, </a:t>
            </a:r>
            <a:r>
              <a:rPr>
                <a:solidFill>
                  <a:srgbClr val="D4AF37"/>
                </a:solidFill>
              </a:rPr>
              <a:t>лёгкость</a:t>
            </a:r>
            <a:r>
              <a:rPr>
                <a:solidFill>
                  <a:srgbClr val="FFFFFF"/>
                </a:solidFill>
              </a:rPr>
              <a:t>,</a:t>
            </a:r>
          </a:p>
        </p:txBody>
      </p:sp>
      <p:sp>
        <p:nvSpPr>
          <p:cNvPr id="16" name="Card 2"/>
          <p:cNvSpPr/>
          <p:nvPr/>
        </p:nvSpPr>
        <p:spPr>
          <a:xfrm>
            <a:off x="4114800" y="2556764"/>
            <a:ext cx="7315200" cy="588264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old bullet"/>
          <p:cNvSpPr/>
          <p:nvPr/>
        </p:nvSpPr>
        <p:spPr>
          <a:xfrm>
            <a:off x="4267200" y="2772664"/>
            <a:ext cx="50800" cy="508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"/>
          <p:cNvSpPr txBox="1"/>
          <p:nvPr/>
        </p:nvSpPr>
        <p:spPr>
          <a:xfrm>
            <a:off x="4114800" y="2696464"/>
            <a:ext cx="7315200" cy="334264"/>
          </a:xfrm>
          <a:prstGeom prst="rect">
            <a:avLst/>
          </a:prstGeom>
          <a:noFill/>
        </p:spPr>
        <p:txBody>
          <a:bodyPr wrap="none" lIns="304800" rIns="304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D4AF37"/>
                </a:solidFill>
              </a:rPr>
              <a:t>уважение</a:t>
            </a:r>
            <a:r>
              <a:rPr>
                <a:solidFill>
                  <a:srgbClr val="FFFFFF"/>
                </a:solidFill>
              </a:rPr>
              <a:t>, любопытство, </a:t>
            </a:r>
            <a:r>
              <a:rPr>
                <a:solidFill>
                  <a:srgbClr val="D4AF37"/>
                </a:solidFill>
              </a:rPr>
              <a:t>вдохновение</a:t>
            </a:r>
            <a:r>
              <a:rPr>
                <a:solidFill>
                  <a:srgbClr val="FFFFFF"/>
                </a:solidFill>
              </a:rPr>
              <a:t>, тепло,</a:t>
            </a:r>
          </a:p>
        </p:txBody>
      </p:sp>
      <p:sp>
        <p:nvSpPr>
          <p:cNvPr id="19" name="Card 3"/>
          <p:cNvSpPr/>
          <p:nvPr/>
        </p:nvSpPr>
        <p:spPr>
          <a:xfrm>
            <a:off x="4114800" y="3272028"/>
            <a:ext cx="7315200" cy="588264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old bullet"/>
          <p:cNvSpPr/>
          <p:nvPr/>
        </p:nvSpPr>
        <p:spPr>
          <a:xfrm>
            <a:off x="4267200" y="3487928"/>
            <a:ext cx="50800" cy="508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"/>
          <p:cNvSpPr txBox="1"/>
          <p:nvPr/>
        </p:nvSpPr>
        <p:spPr>
          <a:xfrm>
            <a:off x="4114800" y="3411728"/>
            <a:ext cx="7315200" cy="334264"/>
          </a:xfrm>
          <a:prstGeom prst="rect">
            <a:avLst/>
          </a:prstGeom>
          <a:noFill/>
        </p:spPr>
        <p:txBody>
          <a:bodyPr wrap="none" lIns="304800" rIns="304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яркое воспоминание.</a:t>
            </a:r>
          </a:p>
        </p:txBody>
      </p:sp>
      <p:sp>
        <p:nvSpPr>
          <p:cNvPr id="22" name="Photo prompt container"/>
          <p:cNvSpPr/>
          <p:nvPr/>
        </p:nvSpPr>
        <p:spPr>
          <a:xfrm>
            <a:off x="4121150" y="4470400"/>
            <a:ext cx="7302500" cy="1492504"/>
          </a:xfrm>
          <a:prstGeom prst="rect">
            <a:avLst/>
          </a:prstGeom>
          <a:solidFill>
            <a:srgbClr val="1A1A1A"/>
          </a:solidFill>
          <a:ln w="825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"/>
          <p:cNvSpPr txBox="1"/>
          <p:nvPr/>
        </p:nvSpPr>
        <p:spPr>
          <a:xfrm>
            <a:off x="4114800" y="4622800"/>
            <a:ext cx="7315200" cy="302768"/>
          </a:xfrm>
          <a:prstGeom prst="rect">
            <a:avLst/>
          </a:prstGeom>
          <a:noFill/>
        </p:spPr>
        <p:txBody>
          <a:bodyPr wrap="none" lIns="177800" rIns="17780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i="0">
                <a:latin typeface="Arial"/>
              </a:defRPr>
            </a:pPr>
            <a:r>
              <a:rPr>
                <a:solidFill>
                  <a:srgbClr val="D4AF37"/>
                </a:solidFill>
              </a:rPr>
              <a:t>ПРОМПТ ДЛЯ MIDJOURNEY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4114800" y="5016500"/>
            <a:ext cx="7315200" cy="806704"/>
          </a:xfrm>
          <a:prstGeom prst="rect">
            <a:avLst/>
          </a:prstGeom>
          <a:noFill/>
        </p:spPr>
        <p:txBody>
          <a:bodyPr wrap="none" lIns="177800" rIns="177800" tIns="0" bIns="0">
            <a:spAutoFit/>
          </a:bodyPr>
          <a:lstStyle/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A clear multifaceted crystal casting layered champagne light onto matte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graphite stone, rich subtle reflections, sculptural luxury still life, editorial</a:t>
            </a:r>
          </a:p>
          <a:p>
            <a:pPr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photography, no text --ar 16:9 --style raw</a:t>
            </a:r>
          </a:p>
        </p:txBody>
      </p:sp>
      <p:sp>
        <p:nvSpPr>
          <p:cNvPr id="25" name="Bottom page-number mask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rystal texture"/>
          <p:cNvCxnSpPr/>
          <p:nvPr/>
        </p:nvCxnSpPr>
        <p:spPr>
          <a:xfrm flipV="1">
            <a:off x="10579100" y="5041900"/>
            <a:ext cx="850900" cy="3937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rystal texture"/>
          <p:cNvCxnSpPr/>
          <p:nvPr/>
        </p:nvCxnSpPr>
        <p:spPr>
          <a:xfrm>
            <a:off x="11430000" y="5041900"/>
            <a:ext cx="584200" cy="6350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rystal texture"/>
          <p:cNvCxnSpPr/>
          <p:nvPr/>
        </p:nvCxnSpPr>
        <p:spPr>
          <a:xfrm flipH="1">
            <a:off x="11785600" y="5676900"/>
            <a:ext cx="228600" cy="584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rystal texture"/>
          <p:cNvCxnSpPr/>
          <p:nvPr/>
        </p:nvCxnSpPr>
        <p:spPr>
          <a:xfrm flipH="1">
            <a:off x="10998200" y="6261100"/>
            <a:ext cx="787400" cy="76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rystal texture"/>
          <p:cNvCxnSpPr/>
          <p:nvPr/>
        </p:nvCxnSpPr>
        <p:spPr>
          <a:xfrm flipH="1" flipV="1">
            <a:off x="10426700" y="6083300"/>
            <a:ext cx="571500" cy="2540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rystal texture"/>
          <p:cNvCxnSpPr/>
          <p:nvPr/>
        </p:nvCxnSpPr>
        <p:spPr>
          <a:xfrm flipV="1">
            <a:off x="10426700" y="5435600"/>
            <a:ext cx="152400" cy="6477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rystal texture"/>
          <p:cNvCxnSpPr/>
          <p:nvPr/>
        </p:nvCxnSpPr>
        <p:spPr>
          <a:xfrm>
            <a:off x="10579100" y="5435600"/>
            <a:ext cx="1435100" cy="2413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rystal texture"/>
          <p:cNvCxnSpPr/>
          <p:nvPr/>
        </p:nvCxnSpPr>
        <p:spPr>
          <a:xfrm>
            <a:off x="11430000" y="5041900"/>
            <a:ext cx="355600" cy="1219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rystal texture"/>
          <p:cNvCxnSpPr/>
          <p:nvPr/>
        </p:nvCxnSpPr>
        <p:spPr>
          <a:xfrm flipH="1">
            <a:off x="10426700" y="5676900"/>
            <a:ext cx="1587500" cy="4064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Video divider"/>
          <p:cNvCxnSpPr/>
          <p:nvPr/>
        </p:nvCxnSpPr>
        <p:spPr>
          <a:xfrm>
            <a:off x="3931920" y="914400"/>
            <a:ext cx="0" cy="5029200"/>
          </a:xfrm>
          <a:prstGeom prst="line">
            <a:avLst/>
          </a:prstGeom>
          <a:ln w="8255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"/>
          <p:cNvSpPr txBox="1"/>
          <p:nvPr/>
        </p:nvSpPr>
        <p:spPr>
          <a:xfrm>
            <a:off x="4114800" y="457200"/>
            <a:ext cx="7315200" cy="586232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>
              <a:lnSpc>
                <a:spcPts val="4216"/>
              </a:lnSpc>
              <a:spcBef>
                <a:spcPts val="0"/>
              </a:spcBef>
              <a:spcAft>
                <a:spcPts val="0"/>
              </a:spcAft>
              <a:defRPr sz="3400" i="0">
                <a:latin typeface="Georgia"/>
              </a:defRPr>
            </a:pPr>
            <a:r>
              <a:rPr>
                <a:solidFill>
                  <a:srgbClr val="D4AF37"/>
                </a:solidFill>
              </a:rPr>
              <a:t>Закон многогранности</a:t>
            </a:r>
          </a:p>
        </p:txBody>
      </p:sp>
      <p:sp>
        <p:nvSpPr>
          <p:cNvPr id="13" name="Card 1"/>
          <p:cNvSpPr/>
          <p:nvPr/>
        </p:nvSpPr>
        <p:spPr>
          <a:xfrm>
            <a:off x="4114800" y="1841500"/>
            <a:ext cx="7315200" cy="588264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old bullet"/>
          <p:cNvSpPr/>
          <p:nvPr/>
        </p:nvSpPr>
        <p:spPr>
          <a:xfrm>
            <a:off x="4267200" y="2057400"/>
            <a:ext cx="50800" cy="508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4114800" y="1981200"/>
            <a:ext cx="7315200" cy="334264"/>
          </a:xfrm>
          <a:prstGeom prst="rect">
            <a:avLst/>
          </a:prstGeom>
          <a:noFill/>
        </p:spPr>
        <p:txBody>
          <a:bodyPr wrap="none" lIns="304800" rIns="304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Незабываемость редко создаётся одной суперспособностью.</a:t>
            </a:r>
          </a:p>
        </p:txBody>
      </p:sp>
      <p:sp>
        <p:nvSpPr>
          <p:cNvPr id="16" name="Card 2"/>
          <p:cNvSpPr/>
          <p:nvPr/>
        </p:nvSpPr>
        <p:spPr>
          <a:xfrm>
            <a:off x="4114800" y="2556764"/>
            <a:ext cx="7315200" cy="588264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old bullet"/>
          <p:cNvSpPr/>
          <p:nvPr/>
        </p:nvSpPr>
        <p:spPr>
          <a:xfrm>
            <a:off x="4267200" y="2772664"/>
            <a:ext cx="50800" cy="508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"/>
          <p:cNvSpPr txBox="1"/>
          <p:nvPr/>
        </p:nvSpPr>
        <p:spPr>
          <a:xfrm>
            <a:off x="4114800" y="2696464"/>
            <a:ext cx="7315200" cy="334264"/>
          </a:xfrm>
          <a:prstGeom prst="rect">
            <a:avLst/>
          </a:prstGeom>
          <a:noFill/>
        </p:spPr>
        <p:txBody>
          <a:bodyPr wrap="none" lIns="304800" rIns="304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Она создаётся </a:t>
            </a:r>
            <a:r>
              <a:rPr>
                <a:solidFill>
                  <a:srgbClr val="D4AF37"/>
                </a:solidFill>
              </a:rPr>
              <a:t>комбинацией</a:t>
            </a:r>
            <a:r>
              <a:rPr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9" name="Author quote"/>
          <p:cNvSpPr/>
          <p:nvPr/>
        </p:nvSpPr>
        <p:spPr>
          <a:xfrm>
            <a:off x="4121150" y="3373628"/>
            <a:ext cx="7302500" cy="871728"/>
          </a:xfrm>
          <a:prstGeom prst="rect">
            <a:avLst/>
          </a:prstGeom>
          <a:solidFill>
            <a:srgbClr val="1A1A1A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"/>
          <p:cNvSpPr txBox="1"/>
          <p:nvPr/>
        </p:nvSpPr>
        <p:spPr>
          <a:xfrm>
            <a:off x="4114800" y="3513328"/>
            <a:ext cx="7315200" cy="617728"/>
          </a:xfrm>
          <a:prstGeom prst="rect">
            <a:avLst/>
          </a:prstGeom>
          <a:noFill/>
        </p:spPr>
        <p:txBody>
          <a:bodyPr wrap="none" lIns="177800" rIns="177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1">
                <a:latin typeface="Georgia"/>
              </a:defRPr>
            </a:pPr>
            <a:r>
              <a:rPr>
                <a:solidFill>
                  <a:srgbClr val="D4AF37"/>
                </a:solidFill>
              </a:rPr>
              <a:t>Чем больше раскрытых граней — тем объёмнее образ</a:t>
            </a:r>
          </a:p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1">
                <a:latin typeface="Georgia"/>
              </a:defRPr>
            </a:pPr>
            <a:r>
              <a:rPr>
                <a:solidFill>
                  <a:srgbClr val="D4AF37"/>
                </a:solidFill>
              </a:rPr>
              <a:t>женщины.</a:t>
            </a:r>
          </a:p>
        </p:txBody>
      </p:sp>
      <p:sp>
        <p:nvSpPr>
          <p:cNvPr id="21" name="Bottom page-number mask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rystal texture"/>
          <p:cNvCxnSpPr/>
          <p:nvPr/>
        </p:nvCxnSpPr>
        <p:spPr>
          <a:xfrm flipV="1">
            <a:off x="10579100" y="5041900"/>
            <a:ext cx="850900" cy="3937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rystal texture"/>
          <p:cNvCxnSpPr/>
          <p:nvPr/>
        </p:nvCxnSpPr>
        <p:spPr>
          <a:xfrm>
            <a:off x="11430000" y="5041900"/>
            <a:ext cx="584200" cy="6350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rystal texture"/>
          <p:cNvCxnSpPr/>
          <p:nvPr/>
        </p:nvCxnSpPr>
        <p:spPr>
          <a:xfrm flipH="1">
            <a:off x="11785600" y="5676900"/>
            <a:ext cx="228600" cy="584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rystal texture"/>
          <p:cNvCxnSpPr/>
          <p:nvPr/>
        </p:nvCxnSpPr>
        <p:spPr>
          <a:xfrm flipH="1">
            <a:off x="10998200" y="6261100"/>
            <a:ext cx="787400" cy="76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rystal texture"/>
          <p:cNvCxnSpPr/>
          <p:nvPr/>
        </p:nvCxnSpPr>
        <p:spPr>
          <a:xfrm flipH="1" flipV="1">
            <a:off x="10426700" y="6083300"/>
            <a:ext cx="571500" cy="2540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rystal texture"/>
          <p:cNvCxnSpPr/>
          <p:nvPr/>
        </p:nvCxnSpPr>
        <p:spPr>
          <a:xfrm flipV="1">
            <a:off x="10426700" y="5435600"/>
            <a:ext cx="152400" cy="6477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rystal texture"/>
          <p:cNvCxnSpPr/>
          <p:nvPr/>
        </p:nvCxnSpPr>
        <p:spPr>
          <a:xfrm>
            <a:off x="10579100" y="5435600"/>
            <a:ext cx="1435100" cy="2413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rystal texture"/>
          <p:cNvCxnSpPr/>
          <p:nvPr/>
        </p:nvCxnSpPr>
        <p:spPr>
          <a:xfrm>
            <a:off x="11430000" y="5041900"/>
            <a:ext cx="355600" cy="1219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rystal texture"/>
          <p:cNvCxnSpPr/>
          <p:nvPr/>
        </p:nvCxnSpPr>
        <p:spPr>
          <a:xfrm flipH="1">
            <a:off x="10426700" y="5676900"/>
            <a:ext cx="1587500" cy="4064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Video divider"/>
          <p:cNvCxnSpPr/>
          <p:nvPr/>
        </p:nvCxnSpPr>
        <p:spPr>
          <a:xfrm>
            <a:off x="3931920" y="914400"/>
            <a:ext cx="0" cy="5029200"/>
          </a:xfrm>
          <a:prstGeom prst="line">
            <a:avLst/>
          </a:prstGeom>
          <a:ln w="8255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"/>
          <p:cNvSpPr txBox="1"/>
          <p:nvPr/>
        </p:nvSpPr>
        <p:spPr>
          <a:xfrm>
            <a:off x="4114800" y="457200"/>
            <a:ext cx="7315200" cy="586232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>
              <a:lnSpc>
                <a:spcPts val="4216"/>
              </a:lnSpc>
              <a:spcBef>
                <a:spcPts val="0"/>
              </a:spcBef>
              <a:spcAft>
                <a:spcPts val="0"/>
              </a:spcAft>
              <a:defRPr sz="3400" i="0">
                <a:latin typeface="Georgia"/>
              </a:defRPr>
            </a:pPr>
            <a:r>
              <a:rPr>
                <a:solidFill>
                  <a:srgbClr val="D4AF37"/>
                </a:solidFill>
              </a:rPr>
              <a:t>Только одна грань</a:t>
            </a:r>
          </a:p>
        </p:txBody>
      </p:sp>
      <p:sp>
        <p:nvSpPr>
          <p:cNvPr id="13" name="Card 1"/>
          <p:cNvSpPr/>
          <p:nvPr/>
        </p:nvSpPr>
        <p:spPr>
          <a:xfrm>
            <a:off x="4114800" y="1841500"/>
            <a:ext cx="7315200" cy="871728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old bullet"/>
          <p:cNvSpPr/>
          <p:nvPr/>
        </p:nvSpPr>
        <p:spPr>
          <a:xfrm>
            <a:off x="4267200" y="2057400"/>
            <a:ext cx="50800" cy="508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4114800" y="1981200"/>
            <a:ext cx="7315200" cy="617728"/>
          </a:xfrm>
          <a:prstGeom prst="rect">
            <a:avLst/>
          </a:prstGeom>
          <a:noFill/>
        </p:spPr>
        <p:txBody>
          <a:bodyPr wrap="none" lIns="304800" rIns="304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если женщина только красивая — мужчина достаточно</a:t>
            </a:r>
          </a:p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быстро привыкает к красоте.</a:t>
            </a:r>
          </a:p>
        </p:txBody>
      </p:sp>
      <p:sp>
        <p:nvSpPr>
          <p:cNvPr id="16" name="Card 2"/>
          <p:cNvSpPr/>
          <p:nvPr/>
        </p:nvSpPr>
        <p:spPr>
          <a:xfrm>
            <a:off x="4114800" y="2840228"/>
            <a:ext cx="7315200" cy="871728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old bullet"/>
          <p:cNvSpPr/>
          <p:nvPr/>
        </p:nvSpPr>
        <p:spPr>
          <a:xfrm>
            <a:off x="4267200" y="3056128"/>
            <a:ext cx="50800" cy="508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"/>
          <p:cNvSpPr txBox="1"/>
          <p:nvPr/>
        </p:nvSpPr>
        <p:spPr>
          <a:xfrm>
            <a:off x="4114800" y="2979928"/>
            <a:ext cx="7315200" cy="617728"/>
          </a:xfrm>
          <a:prstGeom prst="rect">
            <a:avLst/>
          </a:prstGeom>
          <a:noFill/>
        </p:spPr>
        <p:txBody>
          <a:bodyPr wrap="none" lIns="304800" rIns="304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Если она только лёгкая — прекрасно, но этого может быть</a:t>
            </a:r>
          </a:p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мало.</a:t>
            </a:r>
          </a:p>
        </p:txBody>
      </p:sp>
      <p:sp>
        <p:nvSpPr>
          <p:cNvPr id="19" name="Card 3"/>
          <p:cNvSpPr/>
          <p:nvPr/>
        </p:nvSpPr>
        <p:spPr>
          <a:xfrm>
            <a:off x="4114800" y="3838955"/>
            <a:ext cx="7315200" cy="588264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old bullet"/>
          <p:cNvSpPr/>
          <p:nvPr/>
        </p:nvSpPr>
        <p:spPr>
          <a:xfrm>
            <a:off x="4267200" y="4054855"/>
            <a:ext cx="50800" cy="508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"/>
          <p:cNvSpPr txBox="1"/>
          <p:nvPr/>
        </p:nvSpPr>
        <p:spPr>
          <a:xfrm>
            <a:off x="4114800" y="3978655"/>
            <a:ext cx="7315200" cy="334264"/>
          </a:xfrm>
          <a:prstGeom prst="rect">
            <a:avLst/>
          </a:prstGeom>
          <a:noFill/>
        </p:spPr>
        <p:txBody>
          <a:bodyPr wrap="none" lIns="304800" rIns="304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Только умная — тоже одна грань.</a:t>
            </a:r>
          </a:p>
        </p:txBody>
      </p:sp>
      <p:sp>
        <p:nvSpPr>
          <p:cNvPr id="22" name="Bottom page-number mask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rystal texture"/>
          <p:cNvCxnSpPr/>
          <p:nvPr/>
        </p:nvCxnSpPr>
        <p:spPr>
          <a:xfrm flipV="1">
            <a:off x="10579100" y="5041900"/>
            <a:ext cx="850900" cy="3937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rystal texture"/>
          <p:cNvCxnSpPr/>
          <p:nvPr/>
        </p:nvCxnSpPr>
        <p:spPr>
          <a:xfrm>
            <a:off x="11430000" y="5041900"/>
            <a:ext cx="584200" cy="6350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rystal texture"/>
          <p:cNvCxnSpPr/>
          <p:nvPr/>
        </p:nvCxnSpPr>
        <p:spPr>
          <a:xfrm flipH="1">
            <a:off x="11785600" y="5676900"/>
            <a:ext cx="228600" cy="584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rystal texture"/>
          <p:cNvCxnSpPr/>
          <p:nvPr/>
        </p:nvCxnSpPr>
        <p:spPr>
          <a:xfrm flipH="1">
            <a:off x="10998200" y="6261100"/>
            <a:ext cx="787400" cy="76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rystal texture"/>
          <p:cNvCxnSpPr/>
          <p:nvPr/>
        </p:nvCxnSpPr>
        <p:spPr>
          <a:xfrm flipH="1" flipV="1">
            <a:off x="10426700" y="6083300"/>
            <a:ext cx="571500" cy="2540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rystal texture"/>
          <p:cNvCxnSpPr/>
          <p:nvPr/>
        </p:nvCxnSpPr>
        <p:spPr>
          <a:xfrm flipV="1">
            <a:off x="10426700" y="5435600"/>
            <a:ext cx="152400" cy="6477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rystal texture"/>
          <p:cNvCxnSpPr/>
          <p:nvPr/>
        </p:nvCxnSpPr>
        <p:spPr>
          <a:xfrm>
            <a:off x="10579100" y="5435600"/>
            <a:ext cx="1435100" cy="2413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rystal texture"/>
          <p:cNvCxnSpPr/>
          <p:nvPr/>
        </p:nvCxnSpPr>
        <p:spPr>
          <a:xfrm>
            <a:off x="11430000" y="5041900"/>
            <a:ext cx="355600" cy="1219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rystal texture"/>
          <p:cNvCxnSpPr/>
          <p:nvPr/>
        </p:nvCxnSpPr>
        <p:spPr>
          <a:xfrm flipH="1">
            <a:off x="10426700" y="5676900"/>
            <a:ext cx="1587500" cy="4064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Video divider"/>
          <p:cNvCxnSpPr/>
          <p:nvPr/>
        </p:nvCxnSpPr>
        <p:spPr>
          <a:xfrm>
            <a:off x="3931920" y="914400"/>
            <a:ext cx="0" cy="5029200"/>
          </a:xfrm>
          <a:prstGeom prst="line">
            <a:avLst/>
          </a:prstGeom>
          <a:ln w="8255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"/>
          <p:cNvSpPr txBox="1"/>
          <p:nvPr/>
        </p:nvSpPr>
        <p:spPr>
          <a:xfrm>
            <a:off x="4114800" y="457200"/>
            <a:ext cx="7315200" cy="586232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>
              <a:lnSpc>
                <a:spcPts val="4216"/>
              </a:lnSpc>
              <a:spcBef>
                <a:spcPts val="0"/>
              </a:spcBef>
              <a:spcAft>
                <a:spcPts val="0"/>
              </a:spcAft>
              <a:defRPr sz="3400" i="0">
                <a:latin typeface="Georgia"/>
              </a:defRPr>
            </a:pPr>
            <a:r>
              <a:rPr>
                <a:solidFill>
                  <a:srgbClr val="D4AF37"/>
                </a:solidFill>
              </a:rPr>
              <a:t>Она создаётся комбинацией.</a:t>
            </a:r>
          </a:p>
        </p:txBody>
      </p:sp>
      <p:sp>
        <p:nvSpPr>
          <p:cNvPr id="13" name="Card 1"/>
          <p:cNvSpPr/>
          <p:nvPr/>
        </p:nvSpPr>
        <p:spPr>
          <a:xfrm>
            <a:off x="4114800" y="1841500"/>
            <a:ext cx="7315200" cy="588264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old bullet"/>
          <p:cNvSpPr/>
          <p:nvPr/>
        </p:nvSpPr>
        <p:spPr>
          <a:xfrm>
            <a:off x="4267200" y="2057400"/>
            <a:ext cx="50800" cy="508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4114800" y="1981200"/>
            <a:ext cx="7315200" cy="334264"/>
          </a:xfrm>
          <a:prstGeom prst="rect">
            <a:avLst/>
          </a:prstGeom>
          <a:noFill/>
        </p:spPr>
        <p:txBody>
          <a:bodyPr wrap="none" lIns="304800" rIns="304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она лёгкая, но глубокая.</a:t>
            </a:r>
          </a:p>
        </p:txBody>
      </p:sp>
      <p:sp>
        <p:nvSpPr>
          <p:cNvPr id="16" name="Card 2"/>
          <p:cNvSpPr/>
          <p:nvPr/>
        </p:nvSpPr>
        <p:spPr>
          <a:xfrm>
            <a:off x="4114800" y="2556764"/>
            <a:ext cx="7315200" cy="588264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old bullet"/>
          <p:cNvSpPr/>
          <p:nvPr/>
        </p:nvSpPr>
        <p:spPr>
          <a:xfrm>
            <a:off x="4267200" y="2772664"/>
            <a:ext cx="50800" cy="508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"/>
          <p:cNvSpPr txBox="1"/>
          <p:nvPr/>
        </p:nvSpPr>
        <p:spPr>
          <a:xfrm>
            <a:off x="4114800" y="2696464"/>
            <a:ext cx="7315200" cy="334264"/>
          </a:xfrm>
          <a:prstGeom prst="rect">
            <a:avLst/>
          </a:prstGeom>
          <a:noFill/>
        </p:spPr>
        <p:txBody>
          <a:bodyPr wrap="none" lIns="304800" rIns="304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Нежная, но с характером.</a:t>
            </a:r>
          </a:p>
        </p:txBody>
      </p:sp>
      <p:sp>
        <p:nvSpPr>
          <p:cNvPr id="19" name="Card 3"/>
          <p:cNvSpPr/>
          <p:nvPr/>
        </p:nvSpPr>
        <p:spPr>
          <a:xfrm>
            <a:off x="4114800" y="3272028"/>
            <a:ext cx="7315200" cy="588264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Gold bullet"/>
          <p:cNvSpPr/>
          <p:nvPr/>
        </p:nvSpPr>
        <p:spPr>
          <a:xfrm>
            <a:off x="4267200" y="3487928"/>
            <a:ext cx="50800" cy="508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"/>
          <p:cNvSpPr txBox="1"/>
          <p:nvPr/>
        </p:nvSpPr>
        <p:spPr>
          <a:xfrm>
            <a:off x="4114800" y="3411728"/>
            <a:ext cx="7315200" cy="334264"/>
          </a:xfrm>
          <a:prstGeom prst="rect">
            <a:avLst/>
          </a:prstGeom>
          <a:noFill/>
        </p:spPr>
        <p:txBody>
          <a:bodyPr wrap="none" lIns="304800" rIns="304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Женственная, но со своим миром.</a:t>
            </a:r>
          </a:p>
        </p:txBody>
      </p:sp>
      <p:sp>
        <p:nvSpPr>
          <p:cNvPr id="22" name="Card 4"/>
          <p:cNvSpPr/>
          <p:nvPr/>
        </p:nvSpPr>
        <p:spPr>
          <a:xfrm>
            <a:off x="4114800" y="3987291"/>
            <a:ext cx="7315200" cy="588264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Gold bullet"/>
          <p:cNvSpPr/>
          <p:nvPr/>
        </p:nvSpPr>
        <p:spPr>
          <a:xfrm>
            <a:off x="4267200" y="4203192"/>
            <a:ext cx="50800" cy="508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"/>
          <p:cNvSpPr txBox="1"/>
          <p:nvPr/>
        </p:nvSpPr>
        <p:spPr>
          <a:xfrm>
            <a:off x="4114800" y="4126991"/>
            <a:ext cx="7315200" cy="334264"/>
          </a:xfrm>
          <a:prstGeom prst="rect">
            <a:avLst/>
          </a:prstGeom>
          <a:noFill/>
        </p:spPr>
        <p:txBody>
          <a:bodyPr wrap="none" lIns="304800" rIns="304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Спокойная, но иногда совершенно неожиданная.</a:t>
            </a:r>
          </a:p>
        </p:txBody>
      </p:sp>
      <p:sp>
        <p:nvSpPr>
          <p:cNvPr id="25" name="Bottom page-number mask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rystal texture"/>
          <p:cNvCxnSpPr/>
          <p:nvPr/>
        </p:nvCxnSpPr>
        <p:spPr>
          <a:xfrm flipV="1">
            <a:off x="10579100" y="5041900"/>
            <a:ext cx="850900" cy="3937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rystal texture"/>
          <p:cNvCxnSpPr/>
          <p:nvPr/>
        </p:nvCxnSpPr>
        <p:spPr>
          <a:xfrm>
            <a:off x="11430000" y="5041900"/>
            <a:ext cx="584200" cy="6350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rystal texture"/>
          <p:cNvCxnSpPr/>
          <p:nvPr/>
        </p:nvCxnSpPr>
        <p:spPr>
          <a:xfrm flipH="1">
            <a:off x="11785600" y="5676900"/>
            <a:ext cx="228600" cy="584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rystal texture"/>
          <p:cNvCxnSpPr/>
          <p:nvPr/>
        </p:nvCxnSpPr>
        <p:spPr>
          <a:xfrm flipH="1">
            <a:off x="10998200" y="6261100"/>
            <a:ext cx="787400" cy="76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rystal texture"/>
          <p:cNvCxnSpPr/>
          <p:nvPr/>
        </p:nvCxnSpPr>
        <p:spPr>
          <a:xfrm flipH="1" flipV="1">
            <a:off x="10426700" y="6083300"/>
            <a:ext cx="571500" cy="2540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rystal texture"/>
          <p:cNvCxnSpPr/>
          <p:nvPr/>
        </p:nvCxnSpPr>
        <p:spPr>
          <a:xfrm flipV="1">
            <a:off x="10426700" y="5435600"/>
            <a:ext cx="152400" cy="6477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rystal texture"/>
          <p:cNvCxnSpPr/>
          <p:nvPr/>
        </p:nvCxnSpPr>
        <p:spPr>
          <a:xfrm>
            <a:off x="10579100" y="5435600"/>
            <a:ext cx="1435100" cy="2413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rystal texture"/>
          <p:cNvCxnSpPr/>
          <p:nvPr/>
        </p:nvCxnSpPr>
        <p:spPr>
          <a:xfrm>
            <a:off x="11430000" y="5041900"/>
            <a:ext cx="355600" cy="12192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rystal texture"/>
          <p:cNvCxnSpPr/>
          <p:nvPr/>
        </p:nvCxnSpPr>
        <p:spPr>
          <a:xfrm flipH="1">
            <a:off x="10426700" y="5676900"/>
            <a:ext cx="1587500" cy="406400"/>
          </a:xfrm>
          <a:prstGeom prst="line">
            <a:avLst/>
          </a:prstGeom>
          <a:ln w="3810">
            <a:solidFill>
              <a:srgbClr val="D4AF37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Video divider"/>
          <p:cNvCxnSpPr/>
          <p:nvPr/>
        </p:nvCxnSpPr>
        <p:spPr>
          <a:xfrm>
            <a:off x="3931920" y="914400"/>
            <a:ext cx="0" cy="5029200"/>
          </a:xfrm>
          <a:prstGeom prst="line">
            <a:avLst/>
          </a:prstGeom>
          <a:ln w="8255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"/>
          <p:cNvSpPr txBox="1"/>
          <p:nvPr/>
        </p:nvSpPr>
        <p:spPr>
          <a:xfrm>
            <a:off x="4114800" y="457200"/>
            <a:ext cx="7315200" cy="1121664"/>
          </a:xfrm>
          <a:prstGeom prst="rect">
            <a:avLst/>
          </a:prstGeom>
          <a:noFill/>
        </p:spPr>
        <p:txBody>
          <a:bodyPr wrap="none" lIns="25400" rIns="25400" tIns="0" bIns="0">
            <a:spAutoFit/>
          </a:bodyPr>
          <a:lstStyle/>
          <a:p>
            <a:pPr>
              <a:lnSpc>
                <a:spcPts val="4216"/>
              </a:lnSpc>
              <a:spcBef>
                <a:spcPts val="0"/>
              </a:spcBef>
              <a:spcAft>
                <a:spcPts val="0"/>
              </a:spcAft>
              <a:defRPr sz="3400" i="0">
                <a:latin typeface="Georgia"/>
              </a:defRPr>
            </a:pPr>
            <a:r>
              <a:rPr>
                <a:solidFill>
                  <a:srgbClr val="D4AF37"/>
                </a:solidFill>
              </a:rPr>
              <a:t>Невозможно поместить</a:t>
            </a:r>
          </a:p>
          <a:p>
            <a:pPr>
              <a:lnSpc>
                <a:spcPts val="4216"/>
              </a:lnSpc>
              <a:spcBef>
                <a:spcPts val="0"/>
              </a:spcBef>
              <a:spcAft>
                <a:spcPts val="0"/>
              </a:spcAft>
              <a:defRPr sz="3400" i="0">
                <a:latin typeface="Georgia"/>
              </a:defRPr>
            </a:pPr>
            <a:r>
              <a:rPr>
                <a:solidFill>
                  <a:srgbClr val="D4AF37"/>
                </a:solidFill>
              </a:rPr>
              <a:t>в одну категорию</a:t>
            </a:r>
          </a:p>
        </p:txBody>
      </p:sp>
      <p:sp>
        <p:nvSpPr>
          <p:cNvPr id="13" name="Card 1"/>
          <p:cNvSpPr/>
          <p:nvPr/>
        </p:nvSpPr>
        <p:spPr>
          <a:xfrm>
            <a:off x="4114800" y="1841500"/>
            <a:ext cx="7315200" cy="588264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old bullet"/>
          <p:cNvSpPr/>
          <p:nvPr/>
        </p:nvSpPr>
        <p:spPr>
          <a:xfrm>
            <a:off x="4267200" y="2057400"/>
            <a:ext cx="50800" cy="508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4114800" y="1981200"/>
            <a:ext cx="7315200" cy="334264"/>
          </a:xfrm>
          <a:prstGeom prst="rect">
            <a:avLst/>
          </a:prstGeom>
          <a:noFill/>
        </p:spPr>
        <p:txBody>
          <a:bodyPr wrap="none" lIns="304800" rIns="304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С ней можно смеяться</a:t>
            </a:r>
          </a:p>
        </p:txBody>
      </p:sp>
      <p:sp>
        <p:nvSpPr>
          <p:cNvPr id="16" name="Card 2"/>
          <p:cNvSpPr/>
          <p:nvPr/>
        </p:nvSpPr>
        <p:spPr>
          <a:xfrm>
            <a:off x="4114800" y="2556764"/>
            <a:ext cx="7315200" cy="871728"/>
          </a:xfrm>
          <a:prstGeom prst="rect">
            <a:avLst/>
          </a:prstGeom>
          <a:solidFill>
            <a:srgbClr val="282828"/>
          </a:solidFill>
          <a:ln w="63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old bullet"/>
          <p:cNvSpPr/>
          <p:nvPr/>
        </p:nvSpPr>
        <p:spPr>
          <a:xfrm>
            <a:off x="4267200" y="2772664"/>
            <a:ext cx="50800" cy="50800"/>
          </a:xfrm>
          <a:prstGeom prst="diamond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"/>
          <p:cNvSpPr txBox="1"/>
          <p:nvPr/>
        </p:nvSpPr>
        <p:spPr>
          <a:xfrm>
            <a:off x="4114800" y="2696464"/>
            <a:ext cx="7315200" cy="617728"/>
          </a:xfrm>
          <a:prstGeom prst="rect">
            <a:avLst/>
          </a:prstGeom>
          <a:noFill/>
        </p:spPr>
        <p:txBody>
          <a:bodyPr wrap="none" lIns="304800" rIns="304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и через двадцать минут разговаривать о вещах, о которых</a:t>
            </a:r>
          </a:p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0"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мужчина почти ни с кем не говорит.</a:t>
            </a:r>
          </a:p>
        </p:txBody>
      </p:sp>
      <p:sp>
        <p:nvSpPr>
          <p:cNvPr id="19" name="Author quote"/>
          <p:cNvSpPr/>
          <p:nvPr/>
        </p:nvSpPr>
        <p:spPr>
          <a:xfrm>
            <a:off x="4121150" y="3657091"/>
            <a:ext cx="7302500" cy="871728"/>
          </a:xfrm>
          <a:prstGeom prst="rect">
            <a:avLst/>
          </a:prstGeom>
          <a:solidFill>
            <a:srgbClr val="1A1A1A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"/>
          <p:cNvSpPr txBox="1"/>
          <p:nvPr/>
        </p:nvSpPr>
        <p:spPr>
          <a:xfrm>
            <a:off x="4114800" y="3796791"/>
            <a:ext cx="7315200" cy="617728"/>
          </a:xfrm>
          <a:prstGeom prst="rect">
            <a:avLst/>
          </a:prstGeom>
          <a:noFill/>
        </p:spPr>
        <p:txBody>
          <a:bodyPr wrap="none" lIns="177800" rIns="177800" tIns="0" bIns="0">
            <a:spAutoFit/>
          </a:bodyPr>
          <a:lstStyle/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1">
                <a:latin typeface="Georgia"/>
              </a:defRPr>
            </a:pPr>
            <a:r>
              <a:rPr>
                <a:solidFill>
                  <a:srgbClr val="D4AF37"/>
                </a:solidFill>
              </a:rPr>
              <a:t>Вот такую женщину уже невозможно поместить в одну</a:t>
            </a:r>
          </a:p>
          <a:p>
            <a:pPr>
              <a:lnSpc>
                <a:spcPts val="2232"/>
              </a:lnSpc>
              <a:spcBef>
                <a:spcPts val="0"/>
              </a:spcBef>
              <a:spcAft>
                <a:spcPts val="0"/>
              </a:spcAft>
              <a:defRPr sz="1800" i="1">
                <a:latin typeface="Georgia"/>
              </a:defRPr>
            </a:pPr>
            <a:r>
              <a:rPr>
                <a:solidFill>
                  <a:srgbClr val="D4AF37"/>
                </a:solidFill>
              </a:rPr>
              <a:t>категорию.</a:t>
            </a:r>
          </a:p>
        </p:txBody>
      </p:sp>
      <p:sp>
        <p:nvSpPr>
          <p:cNvPr id="21" name="Bottom page-number mask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Ваш Кристалл незабываемости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ru-RU</dc:language>
</cp:coreProperties>
</file>