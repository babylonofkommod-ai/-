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/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Ваш Кристалл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незабываемости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Есть красивые женщины. Есть умные.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Есть сексуальные. Есть интересные.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А есть незабываемые.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Незабываемая женщина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незабываемая — это не обязательно самая красивая женщина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в комнате.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840227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9799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Не самая молодая. Не самая сексуальная.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555492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695191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И даже не самая интересная в привычном понимании.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Почему?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сначала интерес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потом привыкание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потом охлаждение.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1150" y="4088892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228592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«хорошая женщина» и «незабываемая женщина» — не одно 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то же.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Мужчина запоминает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 только вас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Он может забыть ресторан.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Он может даже забыть какие-то ваши слова.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Он запоминает себя рядом с вами.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Каким он себя чувствовал.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Было ли ему легко? Интересно?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Хотелось ли ему становиться сильнее? Чувствовал ли он себя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мужчиной?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555492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695191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Смеялся ли? Удивлялся? Восхищался?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Научиться оставлять следы.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Наша задача гораздо интереснее.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Научиться оставлять следы.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513328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И поэтому наша задача — не научиться «правильно вести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себя с мужчиной».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Как возникает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незабываемость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t>ГРАНЬ → СОПРИКОСНОВЕНИЕ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t>→ СЛЕД → ПАМЯТЬ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D4AF37"/>
                </a:solidFill>
                <a:latin typeface="Arial"/>
              </a:defRPr>
            </a:pPr>
            <a:r>
              <a:t>→ НЕЗАБЫВАЕМОСТЬ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Встреча закончилась.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А лёгкость осталась.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Например, вы умеете создавать невероятную лёгкость.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Вы встретились — посмеялись, поговорили, разошлись.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373628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513328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Это след.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Память о вас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Мужчина вспоминает вас — и вместе с вашим образом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возвращается это ощущение.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840227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9799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А когда таких следов становится много,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657092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796792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появляется то, что я называю эффектом незабываемости.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Одна грань — один след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Лёгкость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лёгкости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9083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Вдохновение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вдохновения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759199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Интеллект	</a:t>
            </a:r>
            <a:r>
              <a:rPr sz="1800">
                <a:solidFill>
                  <a:srgbClr val="FFFFFF"/>
                </a:solidFill>
                <a:latin typeface="Arial"/>
              </a:rPr>
              <a:t>→ интеллектуальный след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3942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6101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Индивидуальность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уникальности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Почему одной красоты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недостаточно.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Эстетика	</a:t>
            </a:r>
            <a:r>
              <a:rPr sz="1800">
                <a:solidFill>
                  <a:srgbClr val="FFFFFF"/>
                </a:solidFill>
                <a:latin typeface="Arial"/>
              </a:rPr>
              <a:t>→ эстетический след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6924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908300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Достоинство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уважения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543300"/>
            <a:ext cx="7315200" cy="723900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759199"/>
            <a:ext cx="7315200" cy="393700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defRPr sz="1800">
                <a:latin typeface="Arial"/>
              </a:defRPr>
              <a:tabLst>
                <a:tab pos="2697480" algn="l"/>
              </a:tabLst>
            </a:pPr>
            <a:r>
              <a:rPr sz="1800">
                <a:solidFill>
                  <a:srgbClr val="D4AF37"/>
                </a:solidFill>
                <a:latin typeface="Arial"/>
              </a:rPr>
              <a:t>Контраст	</a:t>
            </a:r>
            <a:r>
              <a:rPr sz="1800">
                <a:solidFill>
                  <a:srgbClr val="FFFFFF"/>
                </a:solidFill>
                <a:latin typeface="Arial"/>
              </a:rPr>
              <a:t>→ след новизны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21150" y="4495800"/>
            <a:ext cx="7302500" cy="588264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635500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Красота тоже способна оставить след. Но это один след.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Совершенно другой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объём впечатления.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восхищение, интерес, лёгкость,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уважение, любопытство, вдохновение, тепло,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яркое воспоминание.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Закон многогранности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Незабываемость редко создаётся одной суперспособностью.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Она создаётся комбинацией.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373628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513328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Чем больше раскрытых граней — тем объёмнее образ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женщины.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Только одна грань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если женщина только красивая — мужчина достаточно быстро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привыкает к красоте.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840227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9799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Если она только лёгкая — прекрасно, но этого может быть мало.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555492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695191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Только умная — тоже одна грань.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637032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Она создаётся комбинацией.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она лёгкая, но глубокая.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Нежная, но с характером.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272028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411727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Женственная, но со своим миром.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987291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126991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Спокойная, но иногда совершенно неожиданная.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457200"/>
            <a:ext cx="7315200" cy="1172464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Невозможно поместить</a:t>
            </a:r>
          </a:p>
          <a:p>
            <a:pPr>
              <a:lnSpc>
                <a:spcPts val="4216"/>
              </a:lnSpc>
              <a:spcBef>
                <a:spcPts val="0"/>
              </a:spcBef>
              <a:spcAft>
                <a:spcPts val="0"/>
              </a:spcAft>
              <a:defRPr i="0" sz="3400">
                <a:solidFill>
                  <a:srgbClr val="D4AF37"/>
                </a:solidFill>
                <a:latin typeface="Georgia"/>
              </a:defRPr>
            </a:pPr>
            <a:r>
              <a:t>в одну категорию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841500"/>
            <a:ext cx="7315200" cy="588264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981199"/>
            <a:ext cx="7315200" cy="385064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С ней можно смеяться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556764"/>
            <a:ext cx="7315200" cy="871728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696464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и через двадцать минут разговаривать о вещах, о которых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0" sz="1800">
                <a:solidFill>
                  <a:srgbClr val="FFFFFF"/>
                </a:solidFill>
                <a:latin typeface="Arial"/>
              </a:defRPr>
            </a:pPr>
            <a:r>
              <a:t>мужчина почти ни с кем не говорит.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1150" y="3657092"/>
            <a:ext cx="7302500" cy="871728"/>
          </a:xfrm>
          <a:prstGeom prst="rect">
            <a:avLst/>
          </a:prstGeom>
          <a:solidFill>
            <a:srgbClr val="1A1A1A"/>
          </a:solidFill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796792"/>
            <a:ext cx="7315200" cy="668528"/>
          </a:xfrm>
          <a:prstGeom prst="rect">
            <a:avLst/>
          </a:prstGeom>
          <a:noFill/>
        </p:spPr>
        <p:txBody>
          <a:bodyPr wrap="none" lIns="177800" rIns="177800" tIns="0" bIns="0">
            <a:spAutoFit/>
          </a:bodyPr>
          <a:lstStyle/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Вот такую женщину уже невозможно поместить в одну</a:t>
            </a:r>
          </a:p>
          <a:p>
            <a:pPr>
              <a:lnSpc>
                <a:spcPts val="2232"/>
              </a:lnSpc>
              <a:spcBef>
                <a:spcPts val="0"/>
              </a:spcBef>
              <a:spcAft>
                <a:spcPts val="0"/>
              </a:spcAft>
              <a:defRPr i="1" sz="1800">
                <a:solidFill>
                  <a:srgbClr val="D4AF37"/>
                </a:solidFill>
                <a:latin typeface="Georgia"/>
              </a:defRPr>
            </a:pPr>
            <a:r>
              <a:t>категорию.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477000"/>
            <a:ext cx="7315200" cy="353568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>
              <a:lnSpc>
                <a:spcPts val="1984"/>
              </a:lnSpc>
              <a:spcBef>
                <a:spcPts val="0"/>
              </a:spcBef>
              <a:spcAft>
                <a:spcPts val="0"/>
              </a:spcAft>
              <a:defRPr i="0" sz="1600">
                <a:solidFill>
                  <a:srgbClr val="FFFFFF"/>
                </a:solidFill>
                <a:latin typeface="Arial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 Кристалл незабываемости — обучающий урок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