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Вводный блок</a:t>
            </a:r>
          </a:p>
          <a:p>
            <a:r>
              <a:t>«Ваш Кристалл незабываемости»</a:t>
            </a:r>
          </a:p>
          <a:p>
            <a:r>
              <a:t>Почему одних женщин забывают, а других — нет?</a:t>
            </a:r>
          </a:p>
          <a:p/>
          <a:p>
            <a:r>
              <a:t>Есть красивые женщины. Есть умные. Есть сексуальные. Есть интересные.</a:t>
            </a:r>
          </a:p>
          <a:p>
            <a:r>
              <a:t>А есть незабываемые.</a:t>
            </a:r>
          </a:p>
          <a:p>
            <a:r>
              <a:t>И первое, что я хочу, чтобы вы поняли: незабываемая — это не обязательно самая красивая женщина в комнате.</a:t>
            </a:r>
          </a:p>
          <a:p>
            <a:r>
              <a:t>Не самая молодая. Не самая сексуальная.</a:t>
            </a:r>
          </a:p>
          <a:p>
            <a:r>
              <a:t>И даже не самая интересная в привычном понимании.</a:t>
            </a:r>
          </a:p>
          <a:p>
            <a:r>
              <a:t>Вы наверняка встречали женщин, которые вроде бы ничем невероятным не выделяются, но мужчины почему-то очень сильно на них западают.</a:t>
            </a:r>
          </a:p>
          <a:p>
            <a:r>
              <a:t>И наоборот: потрясающая женщина — красивая, умная, успешная — а отношения с мужчинами почему-то постоянно заканчиваются одним и тем же: сначала интерес, потом привыкание, потом охлаждение.</a:t>
            </a:r>
          </a:p>
          <a:p>
            <a:r>
              <a:t>Почему?</a:t>
            </a:r>
          </a:p>
          <a:p>
            <a:r>
              <a:t>Потому что «хорошая женщина» и «незабываемая женщина» — не одно и то 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Мужчина запоминает не только вас</a:t>
            </a:r>
          </a:p>
          <a:p>
            <a:r>
              <a:t>Он запоминает себя рядом с вами.</a:t>
            </a:r>
          </a:p>
          <a:p>
            <a:r>
              <a:t>И это одна из главных мыслей всей программы.</a:t>
            </a:r>
          </a:p>
          <a:p>
            <a:r>
              <a:t>Через несколько лет мужчина может забыть, в каком платье вы пришли на свидание.</a:t>
            </a:r>
          </a:p>
          <a:p>
            <a:r>
              <a:t>Он может забыть ресторан. Он может даже забыть какие-то ваши слова.</a:t>
            </a:r>
          </a:p>
          <a:p>
            <a:r>
              <a:t>Но он гораздо дольше способен помнить: как ему было рядом с вами.</a:t>
            </a:r>
          </a:p>
          <a:p>
            <a:r>
              <a:t>Каким он себя чувствовал. Было ли ему легко? Интересно?</a:t>
            </a:r>
          </a:p>
          <a:p>
            <a:r>
              <a:t>Хотелось ли ему становиться сильнее? Чувствовал ли он себя мужчиной?</a:t>
            </a:r>
          </a:p>
          <a:p>
            <a:r>
              <a:t>Смеялся ли? Удивлялся? Восхищался?</a:t>
            </a:r>
          </a:p>
          <a:p>
            <a:r>
              <a:t>И поэтому наша задача — не научиться «правильно вести себя с мужчиной».</a:t>
            </a:r>
          </a:p>
          <a:p>
            <a:r>
              <a:t>Наша задача гораздо интереснее. Научиться оставлять следы.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Как возникает незабываемость</a:t>
            </a:r>
          </a:p>
          <a:p>
            <a:r>
              <a:t>Сразу же покажу вам нашу главную формулу незабываемости.</a:t>
            </a:r>
          </a:p>
          <a:p>
            <a:r>
              <a:t>ГРАНЬ → СОПРИКОСНОВЕНИЕ → СЛЕД → ПАМЯТЬ → НЕЗАБЫВАЕМОСТЬ</a:t>
            </a:r>
          </a:p>
          <a:p>
            <a:r>
              <a:t>У каждой женщины есть разные грани.</a:t>
            </a:r>
          </a:p>
          <a:p>
            <a:r>
              <a:t>И когда какая-то ваша грань соприкасается с мужчиной, она оставляет след.</a:t>
            </a:r>
          </a:p>
          <a:p>
            <a:r>
              <a:t>Например, вы умеете создавать невероятную лёгкость. Вы встретились — посмеялись, поговорили, разошлись.</a:t>
            </a:r>
          </a:p>
          <a:p>
            <a:r>
              <a:t>Встреча закончилась. А лёгкость осталась.</a:t>
            </a:r>
          </a:p>
          <a:p>
            <a:r>
              <a:t>Это след.</a:t>
            </a:r>
          </a:p>
          <a:p>
            <a:r>
              <a:t>Проходит несколько дней. Мужчина вспоминает вас — и вместе с вашим образом возвращается это ощущение.</a:t>
            </a:r>
          </a:p>
          <a:p>
            <a:r>
              <a:t>Так появляется память о вас. А когда таких следов становится много, появляется то, что я называю эффектом незабываемости.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Одна грань — один след</a:t>
            </a:r>
          </a:p>
          <a:p>
            <a:r>
              <a:t>Например</a:t>
            </a:r>
          </a:p>
          <a:p>
            <a:r>
              <a:t>Лёгкость → след лёгкости, Вдохновение → след вдохновения</a:t>
            </a:r>
          </a:p>
          <a:p>
            <a:r>
              <a:t>Интеллект → интеллектуальный след, Индивидуальность → след уникальности</a:t>
            </a:r>
          </a:p>
          <a:p>
            <a:r>
              <a:t>Эстетика → эстетический след, Достоинство → след уважения</a:t>
            </a:r>
          </a:p>
          <a:p>
            <a:r>
              <a:t>Контраст → след новизны</a:t>
            </a:r>
          </a:p>
          <a:p>
            <a:r>
              <a:t>И вот теперь становится понятно, почему одной красоты недостаточно.</a:t>
            </a:r>
          </a:p>
          <a:p>
            <a:r>
              <a:t>Красота тоже способна оставить след. Но это один след.</a:t>
            </a:r>
          </a:p>
          <a:p>
            <a:r>
              <a:t>А теперь представьте женщину, после которой мужчина одновременно уносит:</a:t>
            </a:r>
          </a:p>
          <a:p>
            <a:r>
              <a:t>восхищение, интерес, лёгкость, уважение, любопытство, вдохновение, тепло,</a:t>
            </a:r>
          </a:p>
          <a:p>
            <a:r>
              <a:t>яркое воспоминание.</a:t>
            </a:r>
          </a:p>
          <a:p>
            <a:r>
              <a:t>Это уже совершенно другой объём впечатления.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Закон многогранности</a:t>
            </a:r>
          </a:p>
          <a:p>
            <a:r>
              <a:t>Чем больше раскрытых граней — тем объёмнее образ женщины.</a:t>
            </a:r>
          </a:p>
          <a:p>
            <a:r>
              <a:t>И это второй важнейший принцип нашей программы.</a:t>
            </a:r>
          </a:p>
          <a:p>
            <a:r>
              <a:t>Незабываемость редко создаётся одной суперспособностью.</a:t>
            </a:r>
          </a:p>
          <a:p>
            <a:r>
              <a:t>Она создаётся комбинацией. Потому что если женщина только красивая — мужчина достаточно быстро привыкает к красоте.</a:t>
            </a:r>
          </a:p>
          <a:p>
            <a:r>
              <a:t>Если она только лёгкая — прекрасно, но этого может быть мало. Только умная — тоже одна грань.</a:t>
            </a:r>
          </a:p>
          <a:p>
            <a:r>
              <a:t>А теперь представьте: она лёгкая, но глубокая. Нежная, но с характером.</a:t>
            </a:r>
          </a:p>
          <a:p>
            <a:r>
              <a:t>Женственная, но со своим миром. Спокойная, но иногда совершенно неожиданная.</a:t>
            </a:r>
          </a:p>
          <a:p>
            <a:r>
              <a:t>С ней можно смеяться — и через двадцать минут разговаривать о вещах, о которых мужчина почти ни с кем не говорит.</a:t>
            </a:r>
          </a:p>
          <a:p>
            <a:r>
              <a:t>Вот такую женщину уже невозможно поместить в одну категорию.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38800" y="596900"/>
            <a:ext cx="8077200" cy="25781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9C9488"/>
                </a:solidFill>
                <a:latin typeface="Arial"/>
              </a:defRPr>
            </a:pPr>
            <a:r>
              <a:t>ВАШ КРИСТАЛЛ НЕЗАБЫВАЕМОСТИ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38800" y="1422400"/>
            <a:ext cx="533400" cy="0"/>
          </a:xfrm>
          <a:prstGeom prst="line">
            <a:avLst/>
          </a:prstGeom>
          <a:ln w="8255">
            <a:solidFill>
              <a:srgbClr val="D4AF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38800" y="2044700"/>
            <a:ext cx="8077200" cy="28905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476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9C9488"/>
                </a:solidFill>
                <a:latin typeface="Arial"/>
              </a:defRPr>
            </a:pPr>
            <a:r>
              <a:t>ВВОДНЫЙ БЛОК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38800" y="2603500"/>
            <a:ext cx="8077200" cy="158292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5832"/>
              </a:lnSpc>
              <a:spcBef>
                <a:spcPts val="0"/>
              </a:spcBef>
              <a:spcAft>
                <a:spcPts val="0"/>
              </a:spcAft>
              <a:defRPr sz="5400">
                <a:solidFill>
                  <a:srgbClr val="F5F1EA"/>
                </a:solidFill>
                <a:latin typeface="EB Garamond"/>
              </a:defRPr>
            </a:pPr>
            <a:r>
              <a:t>Ваш Кристалл</a:t>
            </a:r>
          </a:p>
          <a:p>
            <a:pPr>
              <a:lnSpc>
                <a:spcPts val="5832"/>
              </a:lnSpc>
              <a:spcBef>
                <a:spcPts val="0"/>
              </a:spcBef>
              <a:spcAft>
                <a:spcPts val="0"/>
              </a:spcAft>
              <a:defRPr sz="5400">
                <a:solidFill>
                  <a:srgbClr val="F5F1EA"/>
                </a:solidFill>
                <a:latin typeface="EB Garamond"/>
              </a:defRPr>
            </a:pPr>
            <a:r>
              <a:t>незабываемости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38800" y="4965700"/>
            <a:ext cx="8077200" cy="5389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344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D4AF37"/>
                </a:solidFill>
                <a:latin typeface="Arial"/>
              </a:defRPr>
            </a:pPr>
            <a:r>
              <a:t>А есть незабываемые.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169900" y="6235700"/>
            <a:ext cx="381000" cy="231140"/>
          </a:xfrm>
          <a:prstGeom prst="line">
            <a:avLst/>
          </a:prstGeom>
          <a:ln w="635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13444219" y="6466840"/>
            <a:ext cx="106681" cy="363220"/>
          </a:xfrm>
          <a:prstGeom prst="line">
            <a:avLst/>
          </a:prstGeom>
          <a:ln w="635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3169900" y="6830060"/>
            <a:ext cx="274319" cy="231140"/>
          </a:xfrm>
          <a:prstGeom prst="line">
            <a:avLst/>
          </a:prstGeom>
          <a:ln w="635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12895580" y="6830060"/>
            <a:ext cx="274320" cy="231140"/>
          </a:xfrm>
          <a:prstGeom prst="line">
            <a:avLst/>
          </a:prstGeom>
          <a:ln w="635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 flipV="1">
            <a:off x="12788900" y="6466840"/>
            <a:ext cx="106680" cy="363220"/>
          </a:xfrm>
          <a:prstGeom prst="line">
            <a:avLst/>
          </a:prstGeom>
          <a:ln w="635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2788900" y="6235700"/>
            <a:ext cx="381000" cy="231140"/>
          </a:xfrm>
          <a:prstGeom prst="line">
            <a:avLst/>
          </a:prstGeom>
          <a:ln w="635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3169900" y="6235700"/>
            <a:ext cx="274319" cy="594360"/>
          </a:xfrm>
          <a:prstGeom prst="line">
            <a:avLst/>
          </a:prstGeom>
          <a:ln w="508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12895580" y="6235700"/>
            <a:ext cx="274320" cy="594360"/>
          </a:xfrm>
          <a:prstGeom prst="line">
            <a:avLst/>
          </a:prstGeom>
          <a:ln w="508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13169900" y="6466840"/>
            <a:ext cx="381000" cy="594360"/>
          </a:xfrm>
          <a:prstGeom prst="line">
            <a:avLst/>
          </a:prstGeom>
          <a:ln w="508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 flipV="1">
            <a:off x="12788900" y="6466840"/>
            <a:ext cx="381000" cy="594360"/>
          </a:xfrm>
          <a:prstGeom prst="line">
            <a:avLst/>
          </a:prstGeom>
          <a:ln w="508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2788900" y="6466840"/>
            <a:ext cx="762000" cy="0"/>
          </a:xfrm>
          <a:prstGeom prst="line">
            <a:avLst/>
          </a:prstGeom>
          <a:ln w="508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12895580" y="6830060"/>
            <a:ext cx="548639" cy="0"/>
          </a:xfrm>
          <a:prstGeom prst="line">
            <a:avLst/>
          </a:prstGeom>
          <a:ln w="508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638800" y="7581899"/>
            <a:ext cx="8077200" cy="25781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9C9488"/>
                </a:solidFill>
                <a:latin typeface="Arial"/>
              </a:defRPr>
            </a:pPr>
            <a:r>
              <a:t>01 / 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38800" y="596900"/>
            <a:ext cx="8077200" cy="25781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9C9488"/>
                </a:solidFill>
                <a:latin typeface="Arial"/>
              </a:defRPr>
            </a:pPr>
            <a:r>
              <a:t>ВАШ КРИСТАЛЛ НЕЗАБЫВАЕМОСТИ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38800" y="1422400"/>
            <a:ext cx="533400" cy="0"/>
          </a:xfrm>
          <a:prstGeom prst="line">
            <a:avLst/>
          </a:prstGeom>
          <a:ln w="8255">
            <a:solidFill>
              <a:srgbClr val="D4AF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38800" y="2070100"/>
            <a:ext cx="8077200" cy="13644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4972"/>
              </a:lnSpc>
              <a:spcBef>
                <a:spcPts val="0"/>
              </a:spcBef>
              <a:spcAft>
                <a:spcPts val="0"/>
              </a:spcAft>
              <a:defRPr sz="4400">
                <a:solidFill>
                  <a:srgbClr val="F5F1EA"/>
                </a:solidFill>
                <a:latin typeface="EB Garamond"/>
              </a:defRPr>
            </a:pPr>
            <a:r>
              <a:t>Мужчина запоминает</a:t>
            </a:r>
          </a:p>
          <a:p>
            <a:pPr>
              <a:lnSpc>
                <a:spcPts val="4972"/>
              </a:lnSpc>
              <a:spcBef>
                <a:spcPts val="0"/>
              </a:spcBef>
              <a:spcAft>
                <a:spcPts val="0"/>
              </a:spcAft>
              <a:defRPr sz="4400">
                <a:solidFill>
                  <a:srgbClr val="F5F1EA"/>
                </a:solidFill>
                <a:latin typeface="EB Garamond"/>
              </a:defRPr>
            </a:pPr>
            <a:r>
              <a:t>не только вас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38800" y="4152900"/>
            <a:ext cx="8077200" cy="14452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5290"/>
              </a:lnSpc>
              <a:spcBef>
                <a:spcPts val="0"/>
              </a:spcBef>
              <a:spcAft>
                <a:spcPts val="0"/>
              </a:spcAft>
              <a:defRPr sz="4600">
                <a:solidFill>
                  <a:srgbClr val="D4AF37"/>
                </a:solidFill>
                <a:latin typeface="EB Garamond"/>
              </a:defRPr>
            </a:pPr>
            <a:r>
              <a:t>Он запоминает себя</a:t>
            </a:r>
          </a:p>
          <a:p>
            <a:pPr>
              <a:lnSpc>
                <a:spcPts val="5290"/>
              </a:lnSpc>
              <a:spcBef>
                <a:spcPts val="0"/>
              </a:spcBef>
              <a:spcAft>
                <a:spcPts val="0"/>
              </a:spcAft>
              <a:defRPr sz="4600">
                <a:solidFill>
                  <a:srgbClr val="D4AF37"/>
                </a:solidFill>
                <a:latin typeface="EB Garamond"/>
              </a:defRPr>
            </a:pPr>
            <a:r>
              <a:t>рядом с вами.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3169900" y="6235700"/>
            <a:ext cx="381000" cy="231140"/>
          </a:xfrm>
          <a:prstGeom prst="line">
            <a:avLst/>
          </a:prstGeom>
          <a:ln w="635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3444219" y="6466840"/>
            <a:ext cx="106681" cy="363220"/>
          </a:xfrm>
          <a:prstGeom prst="line">
            <a:avLst/>
          </a:prstGeom>
          <a:ln w="635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13169900" y="6830060"/>
            <a:ext cx="274319" cy="231140"/>
          </a:xfrm>
          <a:prstGeom prst="line">
            <a:avLst/>
          </a:prstGeom>
          <a:ln w="635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 flipV="1">
            <a:off x="12895580" y="6830060"/>
            <a:ext cx="274320" cy="231140"/>
          </a:xfrm>
          <a:prstGeom prst="line">
            <a:avLst/>
          </a:prstGeom>
          <a:ln w="635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12788900" y="6466840"/>
            <a:ext cx="106680" cy="363220"/>
          </a:xfrm>
          <a:prstGeom prst="line">
            <a:avLst/>
          </a:prstGeom>
          <a:ln w="635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2788900" y="6235700"/>
            <a:ext cx="381000" cy="231140"/>
          </a:xfrm>
          <a:prstGeom prst="line">
            <a:avLst/>
          </a:prstGeom>
          <a:ln w="635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3169900" y="6235700"/>
            <a:ext cx="274319" cy="594360"/>
          </a:xfrm>
          <a:prstGeom prst="line">
            <a:avLst/>
          </a:prstGeom>
          <a:ln w="508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12895580" y="6235700"/>
            <a:ext cx="274320" cy="594360"/>
          </a:xfrm>
          <a:prstGeom prst="line">
            <a:avLst/>
          </a:prstGeom>
          <a:ln w="508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13169900" y="6466840"/>
            <a:ext cx="381000" cy="594360"/>
          </a:xfrm>
          <a:prstGeom prst="line">
            <a:avLst/>
          </a:prstGeom>
          <a:ln w="508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 flipV="1">
            <a:off x="12788900" y="6466840"/>
            <a:ext cx="381000" cy="594360"/>
          </a:xfrm>
          <a:prstGeom prst="line">
            <a:avLst/>
          </a:prstGeom>
          <a:ln w="508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12788900" y="6466840"/>
            <a:ext cx="762000" cy="0"/>
          </a:xfrm>
          <a:prstGeom prst="line">
            <a:avLst/>
          </a:prstGeom>
          <a:ln w="508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2895580" y="6830060"/>
            <a:ext cx="548639" cy="0"/>
          </a:xfrm>
          <a:prstGeom prst="line">
            <a:avLst/>
          </a:prstGeom>
          <a:ln w="508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638800" y="7581899"/>
            <a:ext cx="8077200" cy="25781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9C9488"/>
                </a:solidFill>
                <a:latin typeface="Arial"/>
              </a:defRPr>
            </a:pPr>
            <a:r>
              <a:t>02 / 05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38800" y="596900"/>
            <a:ext cx="8077200" cy="25781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9C9488"/>
                </a:solidFill>
                <a:latin typeface="Arial"/>
              </a:defRPr>
            </a:pPr>
            <a:r>
              <a:t>ВАШ КРИСТАЛЛ НЕЗАБЫВАЕМОСТИ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38800" y="1422400"/>
            <a:ext cx="533400" cy="0"/>
          </a:xfrm>
          <a:prstGeom prst="line">
            <a:avLst/>
          </a:prstGeom>
          <a:ln w="8255">
            <a:solidFill>
              <a:srgbClr val="D4AF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38800" y="1943100"/>
            <a:ext cx="8077200" cy="13644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4972"/>
              </a:lnSpc>
              <a:spcBef>
                <a:spcPts val="0"/>
              </a:spcBef>
              <a:spcAft>
                <a:spcPts val="0"/>
              </a:spcAft>
              <a:defRPr sz="4400">
                <a:solidFill>
                  <a:srgbClr val="F5F1EA"/>
                </a:solidFill>
                <a:latin typeface="EB Garamond"/>
              </a:defRPr>
            </a:pPr>
            <a:r>
              <a:t>Как возникает</a:t>
            </a:r>
          </a:p>
          <a:p>
            <a:pPr>
              <a:lnSpc>
                <a:spcPts val="4972"/>
              </a:lnSpc>
              <a:spcBef>
                <a:spcPts val="0"/>
              </a:spcBef>
              <a:spcAft>
                <a:spcPts val="0"/>
              </a:spcAft>
              <a:defRPr sz="4400">
                <a:solidFill>
                  <a:srgbClr val="F5F1EA"/>
                </a:solidFill>
                <a:latin typeface="EB Garamond"/>
              </a:defRPr>
            </a:pPr>
            <a:r>
              <a:t>незабываемость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38800" y="4051300"/>
            <a:ext cx="8077200" cy="47650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2952"/>
              </a:lnSpc>
              <a:spcBef>
                <a:spcPts val="0"/>
              </a:spcBef>
              <a:spcAft>
                <a:spcPts val="0"/>
              </a:spcAft>
              <a:defRPr sz="2400">
                <a:solidFill>
                  <a:srgbClr val="F5F1EA"/>
                </a:solidFill>
                <a:latin typeface="Arial"/>
              </a:defRPr>
            </a:pPr>
            <a:r>
              <a:t>ГРАНЬ → СОПРИКОСНОВЕНИЕ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38800" y="4686300"/>
            <a:ext cx="8077200" cy="47650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2952"/>
              </a:lnSpc>
              <a:spcBef>
                <a:spcPts val="0"/>
              </a:spcBef>
              <a:spcAft>
                <a:spcPts val="0"/>
              </a:spcAft>
              <a:defRPr sz="2400">
                <a:solidFill>
                  <a:srgbClr val="F5F1EA"/>
                </a:solidFill>
                <a:latin typeface="Arial"/>
              </a:defRPr>
            </a:pPr>
            <a:r>
              <a:t>→ СЛЕД → ПАМЯТЬ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38800" y="5321300"/>
            <a:ext cx="8077200" cy="55460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3567"/>
              </a:lnSpc>
              <a:spcBef>
                <a:spcPts val="0"/>
              </a:spcBef>
              <a:spcAft>
                <a:spcPts val="0"/>
              </a:spcAft>
              <a:defRPr sz="2900">
                <a:solidFill>
                  <a:srgbClr val="D4AF37"/>
                </a:solidFill>
                <a:latin typeface="Arial"/>
              </a:defRPr>
            </a:pPr>
            <a:r>
              <a:t>→ НЕЗАБЫВАЕМОСТЬ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3169900" y="6235700"/>
            <a:ext cx="381000" cy="231140"/>
          </a:xfrm>
          <a:prstGeom prst="line">
            <a:avLst/>
          </a:prstGeom>
          <a:ln w="635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3444219" y="6466840"/>
            <a:ext cx="106681" cy="363220"/>
          </a:xfrm>
          <a:prstGeom prst="line">
            <a:avLst/>
          </a:prstGeom>
          <a:ln w="635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13169900" y="6830060"/>
            <a:ext cx="274319" cy="231140"/>
          </a:xfrm>
          <a:prstGeom prst="line">
            <a:avLst/>
          </a:prstGeom>
          <a:ln w="635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 flipV="1">
            <a:off x="12895580" y="6830060"/>
            <a:ext cx="274320" cy="231140"/>
          </a:xfrm>
          <a:prstGeom prst="line">
            <a:avLst/>
          </a:prstGeom>
          <a:ln w="635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12788900" y="6466840"/>
            <a:ext cx="106680" cy="363220"/>
          </a:xfrm>
          <a:prstGeom prst="line">
            <a:avLst/>
          </a:prstGeom>
          <a:ln w="635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2788900" y="6235700"/>
            <a:ext cx="381000" cy="231140"/>
          </a:xfrm>
          <a:prstGeom prst="line">
            <a:avLst/>
          </a:prstGeom>
          <a:ln w="635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169900" y="6235700"/>
            <a:ext cx="274319" cy="594360"/>
          </a:xfrm>
          <a:prstGeom prst="line">
            <a:avLst/>
          </a:prstGeom>
          <a:ln w="508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12895580" y="6235700"/>
            <a:ext cx="274320" cy="594360"/>
          </a:xfrm>
          <a:prstGeom prst="line">
            <a:avLst/>
          </a:prstGeom>
          <a:ln w="508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13169900" y="6466840"/>
            <a:ext cx="381000" cy="594360"/>
          </a:xfrm>
          <a:prstGeom prst="line">
            <a:avLst/>
          </a:prstGeom>
          <a:ln w="508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 flipV="1">
            <a:off x="12788900" y="6466840"/>
            <a:ext cx="381000" cy="594360"/>
          </a:xfrm>
          <a:prstGeom prst="line">
            <a:avLst/>
          </a:prstGeom>
          <a:ln w="508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12788900" y="6466840"/>
            <a:ext cx="762000" cy="0"/>
          </a:xfrm>
          <a:prstGeom prst="line">
            <a:avLst/>
          </a:prstGeom>
          <a:ln w="508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12895580" y="6830060"/>
            <a:ext cx="548639" cy="0"/>
          </a:xfrm>
          <a:prstGeom prst="line">
            <a:avLst/>
          </a:prstGeom>
          <a:ln w="508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638800" y="7581899"/>
            <a:ext cx="8077200" cy="25781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9C9488"/>
                </a:solidFill>
                <a:latin typeface="Arial"/>
              </a:defRPr>
            </a:pPr>
            <a:r>
              <a:t>03 / 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38800" y="596900"/>
            <a:ext cx="8077200" cy="25781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9C9488"/>
                </a:solidFill>
                <a:latin typeface="Arial"/>
              </a:defRPr>
            </a:pPr>
            <a:r>
              <a:t>ВАШ КРИСТАЛЛ НЕЗАБЫВАЕМОСТИ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38800" y="1422400"/>
            <a:ext cx="533400" cy="0"/>
          </a:xfrm>
          <a:prstGeom prst="line">
            <a:avLst/>
          </a:prstGeom>
          <a:ln w="8255">
            <a:solidFill>
              <a:srgbClr val="D4AF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38800" y="2070100"/>
            <a:ext cx="8077200" cy="78892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5412"/>
              </a:lnSpc>
              <a:spcBef>
                <a:spcPts val="0"/>
              </a:spcBef>
              <a:spcAft>
                <a:spcPts val="0"/>
              </a:spcAft>
              <a:defRPr sz="4400">
                <a:solidFill>
                  <a:srgbClr val="F5F1EA"/>
                </a:solidFill>
                <a:latin typeface="EB Garamond"/>
              </a:defRPr>
            </a:pPr>
            <a:r>
              <a:t>Одна грань — один след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38800" y="3759199"/>
            <a:ext cx="8077200" cy="52336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3321"/>
              </a:lnSpc>
              <a:spcBef>
                <a:spcPts val="0"/>
              </a:spcBef>
              <a:spcAft>
                <a:spcPts val="0"/>
              </a:spcAft>
              <a:defRPr sz="2700">
                <a:solidFill>
                  <a:srgbClr val="D4AF37"/>
                </a:solidFill>
                <a:latin typeface="Arial"/>
              </a:defRPr>
            </a:pPr>
            <a:r>
              <a:t>Лёгкость → след лёгкости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38800" y="4584700"/>
            <a:ext cx="8077200" cy="52336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3321"/>
              </a:lnSpc>
              <a:spcBef>
                <a:spcPts val="0"/>
              </a:spcBef>
              <a:spcAft>
                <a:spcPts val="0"/>
              </a:spcAft>
              <a:defRPr sz="2700">
                <a:solidFill>
                  <a:srgbClr val="F5F1EA"/>
                </a:solidFill>
                <a:latin typeface="Arial"/>
              </a:defRPr>
            </a:pPr>
            <a:r>
              <a:t>Эстетика → эстетический след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38800" y="5410200"/>
            <a:ext cx="8077200" cy="52336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3321"/>
              </a:lnSpc>
              <a:spcBef>
                <a:spcPts val="0"/>
              </a:spcBef>
              <a:spcAft>
                <a:spcPts val="0"/>
              </a:spcAft>
              <a:defRPr sz="2700">
                <a:solidFill>
                  <a:srgbClr val="F5F1EA"/>
                </a:solidFill>
                <a:latin typeface="Arial"/>
              </a:defRPr>
            </a:pPr>
            <a:r>
              <a:t>Достоинство → след уважения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3169900" y="6235700"/>
            <a:ext cx="381000" cy="231140"/>
          </a:xfrm>
          <a:prstGeom prst="line">
            <a:avLst/>
          </a:prstGeom>
          <a:ln w="635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3444219" y="6466840"/>
            <a:ext cx="106681" cy="363220"/>
          </a:xfrm>
          <a:prstGeom prst="line">
            <a:avLst/>
          </a:prstGeom>
          <a:ln w="635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13169900" y="6830060"/>
            <a:ext cx="274319" cy="231140"/>
          </a:xfrm>
          <a:prstGeom prst="line">
            <a:avLst/>
          </a:prstGeom>
          <a:ln w="635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 flipV="1">
            <a:off x="12895580" y="6830060"/>
            <a:ext cx="274320" cy="231140"/>
          </a:xfrm>
          <a:prstGeom prst="line">
            <a:avLst/>
          </a:prstGeom>
          <a:ln w="635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12788900" y="6466840"/>
            <a:ext cx="106680" cy="363220"/>
          </a:xfrm>
          <a:prstGeom prst="line">
            <a:avLst/>
          </a:prstGeom>
          <a:ln w="635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2788900" y="6235700"/>
            <a:ext cx="381000" cy="231140"/>
          </a:xfrm>
          <a:prstGeom prst="line">
            <a:avLst/>
          </a:prstGeom>
          <a:ln w="635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169900" y="6235700"/>
            <a:ext cx="274319" cy="594360"/>
          </a:xfrm>
          <a:prstGeom prst="line">
            <a:avLst/>
          </a:prstGeom>
          <a:ln w="508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12895580" y="6235700"/>
            <a:ext cx="274320" cy="594360"/>
          </a:xfrm>
          <a:prstGeom prst="line">
            <a:avLst/>
          </a:prstGeom>
          <a:ln w="508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13169900" y="6466840"/>
            <a:ext cx="381000" cy="594360"/>
          </a:xfrm>
          <a:prstGeom prst="line">
            <a:avLst/>
          </a:prstGeom>
          <a:ln w="508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 flipV="1">
            <a:off x="12788900" y="6466840"/>
            <a:ext cx="381000" cy="594360"/>
          </a:xfrm>
          <a:prstGeom prst="line">
            <a:avLst/>
          </a:prstGeom>
          <a:ln w="508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12788900" y="6466840"/>
            <a:ext cx="762000" cy="0"/>
          </a:xfrm>
          <a:prstGeom prst="line">
            <a:avLst/>
          </a:prstGeom>
          <a:ln w="508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12895580" y="6830060"/>
            <a:ext cx="548639" cy="0"/>
          </a:xfrm>
          <a:prstGeom prst="line">
            <a:avLst/>
          </a:prstGeom>
          <a:ln w="508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638800" y="7581899"/>
            <a:ext cx="8077200" cy="25781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9C9488"/>
                </a:solidFill>
                <a:latin typeface="Arial"/>
              </a:defRPr>
            </a:pPr>
            <a:r>
              <a:t>04 / 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38800" y="596900"/>
            <a:ext cx="8077200" cy="25781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9C9488"/>
                </a:solidFill>
                <a:latin typeface="Arial"/>
              </a:defRPr>
            </a:pPr>
            <a:r>
              <a:t>ВАШ КРИСТАЛЛ НЕЗАБЫВАЕМОСТИ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38800" y="1422400"/>
            <a:ext cx="533400" cy="0"/>
          </a:xfrm>
          <a:prstGeom prst="line">
            <a:avLst/>
          </a:prstGeom>
          <a:ln w="8255">
            <a:solidFill>
              <a:srgbClr val="D4AF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38800" y="2070100"/>
            <a:ext cx="8077200" cy="78892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5412"/>
              </a:lnSpc>
              <a:spcBef>
                <a:spcPts val="0"/>
              </a:spcBef>
              <a:spcAft>
                <a:spcPts val="0"/>
              </a:spcAft>
              <a:defRPr sz="4400">
                <a:solidFill>
                  <a:srgbClr val="F5F1EA"/>
                </a:solidFill>
                <a:latin typeface="EB Garamond"/>
              </a:defRPr>
            </a:pPr>
            <a:r>
              <a:t>Закон многогранности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38800" y="3530600"/>
            <a:ext cx="8077200" cy="11303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4050"/>
              </a:lnSpc>
              <a:spcBef>
                <a:spcPts val="0"/>
              </a:spcBef>
              <a:spcAft>
                <a:spcPts val="0"/>
              </a:spcAft>
              <a:defRPr sz="3000">
                <a:solidFill>
                  <a:srgbClr val="F5F1EA"/>
                </a:solidFill>
                <a:latin typeface="EB Garamond"/>
              </a:defRPr>
            </a:pPr>
            <a:r>
              <a:t>Чем больше раскрытых граней —</a:t>
            </a:r>
          </a:p>
          <a:p>
            <a:pPr>
              <a:lnSpc>
                <a:spcPts val="4050"/>
              </a:lnSpc>
              <a:spcBef>
                <a:spcPts val="0"/>
              </a:spcBef>
              <a:spcAft>
                <a:spcPts val="0"/>
              </a:spcAft>
              <a:defRPr sz="3000">
                <a:solidFill>
                  <a:srgbClr val="F5F1EA"/>
                </a:solidFill>
                <a:latin typeface="EB Garamond"/>
              </a:defRPr>
            </a:pPr>
            <a:r>
              <a:t>тем объёмнее образ женщины.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38800" y="5168900"/>
            <a:ext cx="8077200" cy="52336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3321"/>
              </a:lnSpc>
              <a:spcBef>
                <a:spcPts val="0"/>
              </a:spcBef>
              <a:spcAft>
                <a:spcPts val="0"/>
              </a:spcAft>
              <a:defRPr sz="2700">
                <a:solidFill>
                  <a:srgbClr val="D4AF37"/>
                </a:solidFill>
                <a:latin typeface="Arial"/>
              </a:defRPr>
            </a:pPr>
            <a:r>
              <a:t>Она создаётся комбинацией.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169900" y="6235700"/>
            <a:ext cx="381000" cy="231140"/>
          </a:xfrm>
          <a:prstGeom prst="line">
            <a:avLst/>
          </a:prstGeom>
          <a:ln w="635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13444219" y="6466840"/>
            <a:ext cx="106681" cy="363220"/>
          </a:xfrm>
          <a:prstGeom prst="line">
            <a:avLst/>
          </a:prstGeom>
          <a:ln w="635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3169900" y="6830060"/>
            <a:ext cx="274319" cy="231140"/>
          </a:xfrm>
          <a:prstGeom prst="line">
            <a:avLst/>
          </a:prstGeom>
          <a:ln w="635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12895580" y="6830060"/>
            <a:ext cx="274320" cy="231140"/>
          </a:xfrm>
          <a:prstGeom prst="line">
            <a:avLst/>
          </a:prstGeom>
          <a:ln w="635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 flipV="1">
            <a:off x="12788900" y="6466840"/>
            <a:ext cx="106680" cy="363220"/>
          </a:xfrm>
          <a:prstGeom prst="line">
            <a:avLst/>
          </a:prstGeom>
          <a:ln w="635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2788900" y="6235700"/>
            <a:ext cx="381000" cy="231140"/>
          </a:xfrm>
          <a:prstGeom prst="line">
            <a:avLst/>
          </a:prstGeom>
          <a:ln w="635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3169900" y="6235700"/>
            <a:ext cx="274319" cy="594360"/>
          </a:xfrm>
          <a:prstGeom prst="line">
            <a:avLst/>
          </a:prstGeom>
          <a:ln w="508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12895580" y="6235700"/>
            <a:ext cx="274320" cy="594360"/>
          </a:xfrm>
          <a:prstGeom prst="line">
            <a:avLst/>
          </a:prstGeom>
          <a:ln w="508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13169900" y="6466840"/>
            <a:ext cx="381000" cy="594360"/>
          </a:xfrm>
          <a:prstGeom prst="line">
            <a:avLst/>
          </a:prstGeom>
          <a:ln w="508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 flipV="1">
            <a:off x="12788900" y="6466840"/>
            <a:ext cx="381000" cy="594360"/>
          </a:xfrm>
          <a:prstGeom prst="line">
            <a:avLst/>
          </a:prstGeom>
          <a:ln w="508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2788900" y="6466840"/>
            <a:ext cx="762000" cy="0"/>
          </a:xfrm>
          <a:prstGeom prst="line">
            <a:avLst/>
          </a:prstGeom>
          <a:ln w="508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12895580" y="6830060"/>
            <a:ext cx="548639" cy="0"/>
          </a:xfrm>
          <a:prstGeom prst="line">
            <a:avLst/>
          </a:prstGeom>
          <a:ln w="5080">
            <a:solidFill>
              <a:srgbClr val="6558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638800" y="7581899"/>
            <a:ext cx="8077200" cy="25781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9C9488"/>
                </a:solidFill>
                <a:latin typeface="Arial"/>
              </a:defRPr>
            </a:pPr>
            <a:r>
              <a:t>05 / 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Ваш Кристалл незабываемости</dc:title>
  <dc:subject>Вводный блок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ru-RU</dc:language>
</cp:coreProperties>
</file>