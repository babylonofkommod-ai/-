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Вводный блок</a:t>
            </a:r>
          </a:p>
          <a:p>
            <a:r>
              <a:t>«Ваш Кристалл незабываемости»</a:t>
            </a:r>
          </a:p>
          <a:p>
            <a:r>
              <a:t>Почему одних женщин забывают, а других — нет?</a:t>
            </a:r>
          </a:p>
          <a:p>
            <a:r>
              <a:t>Есть красивые женщины. Есть умные. Есть сексуальные. Есть интересные.</a:t>
            </a:r>
          </a:p>
          <a:p>
            <a:r>
              <a:t>А есть незабываемые.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 первое, что я хочу, чтобы вы поняли: незабываемая — это не обязательно самая красивая женщина в комнате.</a:t>
            </a:r>
          </a:p>
          <a:p>
            <a:r>
              <a:t>Не самая молодая. Не самая сексуальная.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 даже не самая интересная в привычном понимании.</a:t>
            </a:r>
          </a:p>
          <a:p>
            <a:r>
              <a:t>Вы наверняка встречали женщин, которые вроде бы ничем невероятным не выделяются, но мужчины почему-то очень сильно на них западают.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 наоборот: потрясающая женщина — красивая, умная, успешная — а отношения с мужчинами почему-то постоянно заканчиваются одним и тем же: сначала интерес, потом привыкание, потом охлаждение.</a:t>
            </a:r>
          </a:p>
          <a:p>
            <a:r>
              <a:t>Почему?</a:t>
            </a:r>
          </a:p>
          <a:p>
            <a:r>
              <a:t>Потому что «хорошая женщина» и «незабываемая женщина» — не одно и то же.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Мужчина запоминает не только вас</a:t>
            </a:r>
          </a:p>
          <a:p>
            <a:r>
              <a:t>Он запоминает себя рядом с вами.</a:t>
            </a:r>
          </a:p>
          <a:p>
            <a:r>
              <a:t>И это одна из главных мыслей всей программы.</a:t>
            </a:r>
          </a:p>
          <a:p>
            <a:r>
              <a:t>Через несколько лет мужчина может забыть, в каком платье вы пришли на свидание.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Он может забыть ресторан. Он может даже забыть какие-то ваши слова.</a:t>
            </a:r>
          </a:p>
          <a:p>
            <a:r>
              <a:t>Но он гораздо дольше способен помнить: как ему было рядом с вами.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Каким он себя чувствовал. Было ли ему легко? Интересно?</a:t>
            </a:r>
          </a:p>
          <a:p>
            <a:r>
              <a:t>Хотелось ли ему становиться сильнее? Чувствовал ли он себя мужчиной?</a:t>
            </a:r>
          </a:p>
          <a:p>
            <a:r>
              <a:t>Смеялся ли? Удивлялся? Восхищался?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 поэтому наша задача — не научиться «правильно вести себя с мужчиной».</a:t>
            </a:r>
          </a:p>
          <a:p>
            <a:r>
              <a:t>Наша задача гораздо интереснее. Научиться оставлять следы.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Как возникает незабываемость</a:t>
            </a:r>
          </a:p>
          <a:p>
            <a:r>
              <a:t>Сразу же покажу вам нашу главную формулу незабываемости.</a:t>
            </a:r>
          </a:p>
          <a:p>
            <a:r>
              <a:t>ГРАНЬ → СОПРИКОСНОВЕНИЕ → СЛЕД → ПАМЯТЬ → НЕЗАБЫВАЕМОСТЬ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У каждой женщины есть разные грани.</a:t>
            </a:r>
          </a:p>
          <a:p>
            <a:r>
              <a:t>И когда какая-то ваша грань соприкасается с мужчиной, она оставляет след.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Например, вы умеете создавать невероятную лёгкость. Вы встретились — посмеялись, поговорили, разошлись.</a:t>
            </a:r>
          </a:p>
          <a:p>
            <a:r>
              <a:t>Встреча закончилась. А лёгкость осталась.</a:t>
            </a:r>
          </a:p>
          <a:p>
            <a:r>
              <a:t>Это след.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Проходит несколько дней. Мужчина вспоминает вас — и вместе с вашим образом возвращается это ощущение.</a:t>
            </a:r>
          </a:p>
          <a:p>
            <a:r>
              <a:t>Так появляется память о вас. А когда таких следов становится много, появляется то, что я называю эффектом незабываемости.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Одна грань — один след</a:t>
            </a:r>
          </a:p>
          <a:p>
            <a:r>
              <a:t>Например</a:t>
            </a:r>
          </a:p>
          <a:p>
            <a:r>
              <a:t>Лёгкость → след лёгкости, Вдохновение → след вдохновения</a:t>
            </a:r>
          </a:p>
          <a:p>
            <a:r>
              <a:t>Интеллект → интеллектуальный след, Индивидуальность → след уникальности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Эстетика → эстетический след, Достоинство → след уважения</a:t>
            </a:r>
          </a:p>
          <a:p>
            <a:r>
              <a:t>Контраст → след новизны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 вот теперь становится понятно, почему одной красоты недостаточно.</a:t>
            </a:r>
          </a:p>
          <a:p>
            <a:r>
              <a:t>Красота тоже способна оставить след. Но это один след.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 теперь представьте женщину, после которой мужчина одновременно уносит:</a:t>
            </a:r>
          </a:p>
          <a:p>
            <a:r>
              <a:t>восхищение, интерес, лёгкость, уважение, любопытство, вдохновение, тепло,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яркое воспоминание.</a:t>
            </a:r>
          </a:p>
          <a:p>
            <a:r>
              <a:t>Это уже совершенно другой объём впечатления.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Закон многогранности</a:t>
            </a:r>
          </a:p>
          <a:p>
            <a:r>
              <a:t>Чем больше раскрытых граней — тем объёмнее образ женщины.</a:t>
            </a:r>
          </a:p>
          <a:p>
            <a:r>
              <a:t>И это второй важнейший принцип нашей программы.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Незабываемость редко создаётся одной суперспособностью.</a:t>
            </a:r>
          </a:p>
          <a:p>
            <a:r>
              <a:t>Она создаётся комбинацией.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Потому что если женщина только красивая — мужчина достаточно быстро привыкает к красоте.</a:t>
            </a:r>
          </a:p>
          <a:p>
            <a:r>
              <a:t>Если она только лёгкая — прекрасно, но этого может быть мало. Только умная — тоже одна грань.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 теперь представьте: она лёгкая, но глубокая. Нежная, но с характером.</a:t>
            </a:r>
          </a:p>
          <a:p>
            <a:r>
              <a:t>Женственная, но со своим миром. Спокойная, но иногда совершенно неожиданная.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 ней можно смеяться — и через двадцать минут разговаривать о вещах, о которых мужчина почти ни с кем не говорит.</a:t>
            </a:r>
          </a:p>
          <a:p>
            <a:r>
              <a:t>Вот такую женщину уже невозможно поместить в одну категорию.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0" y="304800"/>
            <a:ext cx="7589520" cy="986536"/>
          </a:xfrm>
          <a:prstGeom prst="rect">
            <a:avLst/>
          </a:prstGeom>
          <a:noFill/>
        </p:spPr>
        <p:txBody>
          <a:bodyPr wrap="none" lIns="25400" rIns="25400" tIns="0" bIns="0">
            <a:spAutoFit/>
          </a:bodyPr>
          <a:lstStyle/>
          <a:p>
            <a:pPr>
              <a:lnSpc>
                <a:spcPts val="3968"/>
              </a:lnSpc>
              <a:spcBef>
                <a:spcPts val="0"/>
              </a:spcBef>
              <a:spcAft>
                <a:spcPts val="0"/>
              </a:spcAft>
              <a:defRPr sz="3200" i="0">
                <a:solidFill>
                  <a:srgbClr val="D4AF37"/>
                </a:solidFill>
                <a:latin typeface="Georgia"/>
              </a:defRPr>
            </a:pPr>
            <a:r>
              <a:rPr>
                <a:solidFill>
                  <a:srgbClr val="D4AF37"/>
                </a:solidFill>
              </a:rPr>
              <a:t>Ваш Кристалл</a:t>
            </a:r>
          </a:p>
          <a:p>
            <a:pPr>
              <a:lnSpc>
                <a:spcPts val="3968"/>
              </a:lnSpc>
              <a:spcBef>
                <a:spcPts val="0"/>
              </a:spcBef>
              <a:spcAft>
                <a:spcPts val="0"/>
              </a:spcAft>
              <a:defRPr sz="3200" i="0">
                <a:solidFill>
                  <a:srgbClr val="D4AF37"/>
                </a:solidFill>
                <a:latin typeface="Georgia"/>
              </a:defRPr>
            </a:pPr>
            <a:r>
              <a:rPr>
                <a:solidFill>
                  <a:srgbClr val="D4AF37"/>
                </a:solidFill>
              </a:rPr>
              <a:t>незабываемости</a:t>
            </a:r>
          </a:p>
        </p:txBody>
      </p:sp>
      <p:sp>
        <p:nvSpPr>
          <p:cNvPr id="3" name="Teaching card"/>
          <p:cNvSpPr/>
          <p:nvPr/>
        </p:nvSpPr>
        <p:spPr>
          <a:xfrm>
            <a:off x="4114800" y="1651000"/>
            <a:ext cx="7589520" cy="897128"/>
          </a:xfrm>
          <a:prstGeom prst="rect">
            <a:avLst/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Inset gold outline"/>
          <p:cNvSpPr/>
          <p:nvPr/>
        </p:nvSpPr>
        <p:spPr>
          <a:xfrm>
            <a:off x="4121150" y="1657350"/>
            <a:ext cx="7576820" cy="884428"/>
          </a:xfrm>
          <a:prstGeom prst="rect">
            <a:avLst/>
          </a:prstGeom>
          <a:solidFill>
            <a:srgbClr val="282828"/>
          </a:solidFill>
          <a:ln w="63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0" y="1790700"/>
            <a:ext cx="7589520" cy="588264"/>
          </a:xfrm>
          <a:prstGeom prst="rect">
            <a:avLst/>
          </a:prstGeom>
          <a:noFill/>
        </p:spPr>
        <p:txBody>
          <a:bodyPr wrap="none" lIns="177800" rIns="177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Есть красивые женщины. Есть умные. Есть сексуальные. Есть</a:t>
            </a:r>
          </a:p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интересные.</a:t>
            </a:r>
          </a:p>
        </p:txBody>
      </p:sp>
      <p:sp>
        <p:nvSpPr>
          <p:cNvPr id="6" name="Quote"/>
          <p:cNvSpPr/>
          <p:nvPr/>
        </p:nvSpPr>
        <p:spPr>
          <a:xfrm>
            <a:off x="4114800" y="5583936"/>
            <a:ext cx="7589520" cy="613664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Inset gold outline"/>
          <p:cNvSpPr/>
          <p:nvPr/>
        </p:nvSpPr>
        <p:spPr>
          <a:xfrm>
            <a:off x="4121150" y="5590286"/>
            <a:ext cx="7576820" cy="600964"/>
          </a:xfrm>
          <a:prstGeom prst="rect">
            <a:avLst/>
          </a:prstGeom>
          <a:solidFill>
            <a:srgbClr val="1A1A1A"/>
          </a:solidFill>
          <a:ln w="63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0" y="5723636"/>
            <a:ext cx="7589520" cy="304800"/>
          </a:xfrm>
          <a:prstGeom prst="rect">
            <a:avLst/>
          </a:prstGeom>
          <a:noFill/>
        </p:spPr>
        <p:txBody>
          <a:bodyPr wrap="none" lIns="177800" rIns="177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1">
                <a:solidFill>
                  <a:srgbClr val="D4AF37"/>
                </a:solidFill>
                <a:latin typeface="Georgia"/>
              </a:defRPr>
            </a:pPr>
            <a:r>
              <a:rPr>
                <a:solidFill>
                  <a:srgbClr val="D4AF37"/>
                </a:solidFill>
              </a:rPr>
              <a:t>А есть незабываемые.</a:t>
            </a:r>
          </a:p>
        </p:txBody>
      </p:sp>
      <p:sp>
        <p:nvSpPr>
          <p:cNvPr id="9" name="Bottom page-number mask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0" y="304800"/>
            <a:ext cx="7589520" cy="482600"/>
          </a:xfrm>
          <a:prstGeom prst="rect">
            <a:avLst/>
          </a:prstGeom>
          <a:noFill/>
        </p:spPr>
        <p:txBody>
          <a:bodyPr wrap="none" lIns="25400" rIns="25400" tIns="0" bIns="0">
            <a:spAutoFit/>
          </a:bodyPr>
          <a:lstStyle/>
          <a:p>
            <a:pPr>
              <a:lnSpc>
                <a:spcPts val="3968"/>
              </a:lnSpc>
              <a:spcBef>
                <a:spcPts val="0"/>
              </a:spcBef>
              <a:spcAft>
                <a:spcPts val="0"/>
              </a:spcAft>
              <a:defRPr sz="3200" i="0">
                <a:solidFill>
                  <a:srgbClr val="D4AF37"/>
                </a:solidFill>
                <a:latin typeface="Georgia"/>
              </a:defRPr>
            </a:pPr>
            <a:r>
              <a:rPr>
                <a:solidFill>
                  <a:srgbClr val="D4AF37"/>
                </a:solidFill>
              </a:rPr>
              <a:t>Незабываемая женщина</a:t>
            </a:r>
          </a:p>
        </p:txBody>
      </p:sp>
      <p:sp>
        <p:nvSpPr>
          <p:cNvPr id="3" name="Teaching card"/>
          <p:cNvSpPr/>
          <p:nvPr/>
        </p:nvSpPr>
        <p:spPr>
          <a:xfrm>
            <a:off x="4114800" y="1651000"/>
            <a:ext cx="7589520" cy="897128"/>
          </a:xfrm>
          <a:prstGeom prst="rect">
            <a:avLst/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Inset gold outline"/>
          <p:cNvSpPr/>
          <p:nvPr/>
        </p:nvSpPr>
        <p:spPr>
          <a:xfrm>
            <a:off x="4121150" y="1657350"/>
            <a:ext cx="7576820" cy="884428"/>
          </a:xfrm>
          <a:prstGeom prst="rect">
            <a:avLst/>
          </a:prstGeom>
          <a:solidFill>
            <a:srgbClr val="282828"/>
          </a:solidFill>
          <a:ln w="63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0" y="1790700"/>
            <a:ext cx="7589520" cy="588264"/>
          </a:xfrm>
          <a:prstGeom prst="rect">
            <a:avLst/>
          </a:prstGeom>
          <a:noFill/>
        </p:spPr>
        <p:txBody>
          <a:bodyPr wrap="none" lIns="177800" rIns="177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И первое, что я хочу, чтобы вы поняли: </a:t>
            </a:r>
            <a:r>
              <a:rPr>
                <a:solidFill>
                  <a:srgbClr val="D4AF37"/>
                </a:solidFill>
              </a:rPr>
              <a:t>незабываемая</a:t>
            </a:r>
            <a:r>
              <a:rPr>
                <a:solidFill>
                  <a:srgbClr val="FFFFFF"/>
                </a:solidFill>
              </a:rPr>
              <a:t> — это не</a:t>
            </a:r>
          </a:p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обязательно самая красивая женщина в комнате.</a:t>
            </a:r>
          </a:p>
        </p:txBody>
      </p:sp>
      <p:sp>
        <p:nvSpPr>
          <p:cNvPr id="6" name="Teaching card"/>
          <p:cNvSpPr/>
          <p:nvPr/>
        </p:nvSpPr>
        <p:spPr>
          <a:xfrm>
            <a:off x="4114800" y="2675128"/>
            <a:ext cx="7589520" cy="613664"/>
          </a:xfrm>
          <a:prstGeom prst="rect">
            <a:avLst/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Inset gold outline"/>
          <p:cNvSpPr/>
          <p:nvPr/>
        </p:nvSpPr>
        <p:spPr>
          <a:xfrm>
            <a:off x="4121150" y="2681478"/>
            <a:ext cx="7576820" cy="600964"/>
          </a:xfrm>
          <a:prstGeom prst="rect">
            <a:avLst/>
          </a:prstGeom>
          <a:solidFill>
            <a:srgbClr val="282828"/>
          </a:solidFill>
          <a:ln w="63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0" y="2814828"/>
            <a:ext cx="7589520" cy="304800"/>
          </a:xfrm>
          <a:prstGeom prst="rect">
            <a:avLst/>
          </a:prstGeom>
          <a:noFill/>
        </p:spPr>
        <p:txBody>
          <a:bodyPr wrap="none" lIns="177800" rIns="177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Не самая молодая. Не самая сексуальная.</a:t>
            </a:r>
          </a:p>
        </p:txBody>
      </p:sp>
      <p:sp>
        <p:nvSpPr>
          <p:cNvPr id="9" name="Bottom page-number mask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0" y="304800"/>
            <a:ext cx="7589520" cy="482600"/>
          </a:xfrm>
          <a:prstGeom prst="rect">
            <a:avLst/>
          </a:prstGeom>
          <a:noFill/>
        </p:spPr>
        <p:txBody>
          <a:bodyPr wrap="none" lIns="25400" rIns="25400" tIns="0" bIns="0">
            <a:spAutoFit/>
          </a:bodyPr>
          <a:lstStyle/>
          <a:p>
            <a:pPr>
              <a:lnSpc>
                <a:spcPts val="3968"/>
              </a:lnSpc>
              <a:spcBef>
                <a:spcPts val="0"/>
              </a:spcBef>
              <a:spcAft>
                <a:spcPts val="0"/>
              </a:spcAft>
              <a:defRPr sz="3200" i="0">
                <a:solidFill>
                  <a:srgbClr val="D4AF37"/>
                </a:solidFill>
                <a:latin typeface="Georgia"/>
              </a:defRPr>
            </a:pPr>
            <a:r>
              <a:rPr>
                <a:solidFill>
                  <a:srgbClr val="D4AF37"/>
                </a:solidFill>
              </a:rPr>
              <a:t>Незабываемая женщина</a:t>
            </a:r>
          </a:p>
        </p:txBody>
      </p:sp>
      <p:sp>
        <p:nvSpPr>
          <p:cNvPr id="3" name="Teaching card"/>
          <p:cNvSpPr/>
          <p:nvPr/>
        </p:nvSpPr>
        <p:spPr>
          <a:xfrm>
            <a:off x="4114800" y="1651000"/>
            <a:ext cx="7589520" cy="613664"/>
          </a:xfrm>
          <a:prstGeom prst="rect">
            <a:avLst/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Inset gold outline"/>
          <p:cNvSpPr/>
          <p:nvPr/>
        </p:nvSpPr>
        <p:spPr>
          <a:xfrm>
            <a:off x="4121150" y="1657350"/>
            <a:ext cx="7576820" cy="600964"/>
          </a:xfrm>
          <a:prstGeom prst="rect">
            <a:avLst/>
          </a:prstGeom>
          <a:solidFill>
            <a:srgbClr val="282828"/>
          </a:solidFill>
          <a:ln w="63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0" y="1790700"/>
            <a:ext cx="7589520" cy="304800"/>
          </a:xfrm>
          <a:prstGeom prst="rect">
            <a:avLst/>
          </a:prstGeom>
          <a:noFill/>
        </p:spPr>
        <p:txBody>
          <a:bodyPr wrap="none" lIns="177800" rIns="177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И даже не самая интересная в привычном понимании.</a:t>
            </a:r>
          </a:p>
        </p:txBody>
      </p:sp>
      <p:sp>
        <p:nvSpPr>
          <p:cNvPr id="6" name="Teaching card"/>
          <p:cNvSpPr/>
          <p:nvPr/>
        </p:nvSpPr>
        <p:spPr>
          <a:xfrm>
            <a:off x="4114800" y="2391664"/>
            <a:ext cx="7589520" cy="1180592"/>
          </a:xfrm>
          <a:prstGeom prst="rect">
            <a:avLst/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Inset gold outline"/>
          <p:cNvSpPr/>
          <p:nvPr/>
        </p:nvSpPr>
        <p:spPr>
          <a:xfrm>
            <a:off x="4121150" y="2398014"/>
            <a:ext cx="7576820" cy="1167892"/>
          </a:xfrm>
          <a:prstGeom prst="rect">
            <a:avLst/>
          </a:prstGeom>
          <a:solidFill>
            <a:srgbClr val="282828"/>
          </a:solidFill>
          <a:ln w="63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0" y="2531364"/>
            <a:ext cx="7589520" cy="871728"/>
          </a:xfrm>
          <a:prstGeom prst="rect">
            <a:avLst/>
          </a:prstGeom>
          <a:noFill/>
        </p:spPr>
        <p:txBody>
          <a:bodyPr wrap="none" lIns="177800" rIns="177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Вы наверняка встречали женщин, которые вроде бы ничем</a:t>
            </a:r>
          </a:p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невероятным не выделяются, но мужчины почему-то очень сильно</a:t>
            </a:r>
          </a:p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на них западают.</a:t>
            </a:r>
          </a:p>
        </p:txBody>
      </p:sp>
      <p:sp>
        <p:nvSpPr>
          <p:cNvPr id="9" name="Bottom page-number mask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0" y="304800"/>
            <a:ext cx="7589520" cy="482600"/>
          </a:xfrm>
          <a:prstGeom prst="rect">
            <a:avLst/>
          </a:prstGeom>
          <a:noFill/>
        </p:spPr>
        <p:txBody>
          <a:bodyPr wrap="none" lIns="25400" rIns="25400" tIns="0" bIns="0">
            <a:spAutoFit/>
          </a:bodyPr>
          <a:lstStyle/>
          <a:p>
            <a:pPr>
              <a:lnSpc>
                <a:spcPts val="3968"/>
              </a:lnSpc>
              <a:spcBef>
                <a:spcPts val="0"/>
              </a:spcBef>
              <a:spcAft>
                <a:spcPts val="0"/>
              </a:spcAft>
              <a:defRPr sz="3200" i="0">
                <a:solidFill>
                  <a:srgbClr val="D4AF37"/>
                </a:solidFill>
                <a:latin typeface="Georgia"/>
              </a:defRPr>
            </a:pPr>
            <a:r>
              <a:rPr>
                <a:solidFill>
                  <a:srgbClr val="D4AF37"/>
                </a:solidFill>
              </a:rPr>
              <a:t>Почему?</a:t>
            </a:r>
          </a:p>
        </p:txBody>
      </p:sp>
      <p:sp>
        <p:nvSpPr>
          <p:cNvPr id="3" name="Teaching card"/>
          <p:cNvSpPr/>
          <p:nvPr/>
        </p:nvSpPr>
        <p:spPr>
          <a:xfrm>
            <a:off x="4114800" y="1651000"/>
            <a:ext cx="7589520" cy="1180592"/>
          </a:xfrm>
          <a:prstGeom prst="rect">
            <a:avLst/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Inset gold outline"/>
          <p:cNvSpPr/>
          <p:nvPr/>
        </p:nvSpPr>
        <p:spPr>
          <a:xfrm>
            <a:off x="4121150" y="1657350"/>
            <a:ext cx="7576820" cy="1167892"/>
          </a:xfrm>
          <a:prstGeom prst="rect">
            <a:avLst/>
          </a:prstGeom>
          <a:solidFill>
            <a:srgbClr val="282828"/>
          </a:solidFill>
          <a:ln w="63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0" y="1790700"/>
            <a:ext cx="7589520" cy="871728"/>
          </a:xfrm>
          <a:prstGeom prst="rect">
            <a:avLst/>
          </a:prstGeom>
          <a:noFill/>
        </p:spPr>
        <p:txBody>
          <a:bodyPr wrap="none" lIns="177800" rIns="177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И наоборот: потрясающая женщина — красивая, умная, успешная</a:t>
            </a:r>
          </a:p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— а отношения с мужчинами почему-то постоянно заканчиваются</a:t>
            </a:r>
          </a:p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одним и тем же: сначала интерес,</a:t>
            </a:r>
          </a:p>
        </p:txBody>
      </p:sp>
      <p:sp>
        <p:nvSpPr>
          <p:cNvPr id="6" name="Quote"/>
          <p:cNvSpPr/>
          <p:nvPr/>
        </p:nvSpPr>
        <p:spPr>
          <a:xfrm>
            <a:off x="4114800" y="5300472"/>
            <a:ext cx="7589520" cy="897128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Inset gold outline"/>
          <p:cNvSpPr/>
          <p:nvPr/>
        </p:nvSpPr>
        <p:spPr>
          <a:xfrm>
            <a:off x="4121150" y="5306822"/>
            <a:ext cx="7576820" cy="884428"/>
          </a:xfrm>
          <a:prstGeom prst="rect">
            <a:avLst/>
          </a:prstGeom>
          <a:solidFill>
            <a:srgbClr val="1A1A1A"/>
          </a:solidFill>
          <a:ln w="63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0" y="5440172"/>
            <a:ext cx="7589520" cy="588264"/>
          </a:xfrm>
          <a:prstGeom prst="rect">
            <a:avLst/>
          </a:prstGeom>
          <a:noFill/>
        </p:spPr>
        <p:txBody>
          <a:bodyPr wrap="none" lIns="177800" rIns="177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1">
                <a:solidFill>
                  <a:srgbClr val="D4AF37"/>
                </a:solidFill>
                <a:latin typeface="Georgia"/>
              </a:defRPr>
            </a:pPr>
            <a:r>
              <a:rPr>
                <a:solidFill>
                  <a:srgbClr val="D4AF37"/>
                </a:solidFill>
              </a:rPr>
              <a:t>Потому что «хорошая женщина» и «незабываемая женщина» —</a:t>
            </a:r>
          </a:p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1">
                <a:solidFill>
                  <a:srgbClr val="D4AF37"/>
                </a:solidFill>
                <a:latin typeface="Georgia"/>
              </a:defRPr>
            </a:pPr>
            <a:r>
              <a:rPr>
                <a:solidFill>
                  <a:srgbClr val="D4AF37"/>
                </a:solidFill>
              </a:rPr>
              <a:t>не одно и то же.</a:t>
            </a:r>
          </a:p>
        </p:txBody>
      </p:sp>
      <p:sp>
        <p:nvSpPr>
          <p:cNvPr id="9" name="Bottom page-number mask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0" y="304800"/>
            <a:ext cx="7589520" cy="986536"/>
          </a:xfrm>
          <a:prstGeom prst="rect">
            <a:avLst/>
          </a:prstGeom>
          <a:noFill/>
        </p:spPr>
        <p:txBody>
          <a:bodyPr wrap="none" lIns="25400" rIns="25400" tIns="0" bIns="0">
            <a:spAutoFit/>
          </a:bodyPr>
          <a:lstStyle/>
          <a:p>
            <a:pPr>
              <a:lnSpc>
                <a:spcPts val="3968"/>
              </a:lnSpc>
              <a:spcBef>
                <a:spcPts val="0"/>
              </a:spcBef>
              <a:spcAft>
                <a:spcPts val="0"/>
              </a:spcAft>
              <a:defRPr sz="3200" i="0">
                <a:solidFill>
                  <a:srgbClr val="D4AF37"/>
                </a:solidFill>
                <a:latin typeface="Georgia"/>
              </a:defRPr>
            </a:pPr>
            <a:r>
              <a:rPr>
                <a:solidFill>
                  <a:srgbClr val="D4AF37"/>
                </a:solidFill>
              </a:rPr>
              <a:t>Мужчина запоминает</a:t>
            </a:r>
          </a:p>
          <a:p>
            <a:pPr>
              <a:lnSpc>
                <a:spcPts val="3968"/>
              </a:lnSpc>
              <a:spcBef>
                <a:spcPts val="0"/>
              </a:spcBef>
              <a:spcAft>
                <a:spcPts val="0"/>
              </a:spcAft>
              <a:defRPr sz="3200" i="0">
                <a:solidFill>
                  <a:srgbClr val="D4AF37"/>
                </a:solidFill>
                <a:latin typeface="Georgia"/>
              </a:defRPr>
            </a:pPr>
            <a:r>
              <a:rPr>
                <a:solidFill>
                  <a:srgbClr val="D4AF37"/>
                </a:solidFill>
              </a:rPr>
              <a:t>не только вас</a:t>
            </a:r>
          </a:p>
        </p:txBody>
      </p:sp>
      <p:sp>
        <p:nvSpPr>
          <p:cNvPr id="3" name="Teaching card"/>
          <p:cNvSpPr/>
          <p:nvPr/>
        </p:nvSpPr>
        <p:spPr>
          <a:xfrm>
            <a:off x="4114800" y="1651000"/>
            <a:ext cx="7589520" cy="613664"/>
          </a:xfrm>
          <a:prstGeom prst="rect">
            <a:avLst/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Inset gold outline"/>
          <p:cNvSpPr/>
          <p:nvPr/>
        </p:nvSpPr>
        <p:spPr>
          <a:xfrm>
            <a:off x="4121150" y="1657350"/>
            <a:ext cx="7576820" cy="600964"/>
          </a:xfrm>
          <a:prstGeom prst="rect">
            <a:avLst/>
          </a:prstGeom>
          <a:solidFill>
            <a:srgbClr val="282828"/>
          </a:solidFill>
          <a:ln w="63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0" y="1790700"/>
            <a:ext cx="7589520" cy="304800"/>
          </a:xfrm>
          <a:prstGeom prst="rect">
            <a:avLst/>
          </a:prstGeom>
          <a:noFill/>
        </p:spPr>
        <p:txBody>
          <a:bodyPr wrap="none" lIns="177800" rIns="177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Он запоминает себя рядом с вами.</a:t>
            </a:r>
          </a:p>
        </p:txBody>
      </p:sp>
      <p:sp>
        <p:nvSpPr>
          <p:cNvPr id="6" name="Teaching card"/>
          <p:cNvSpPr/>
          <p:nvPr/>
        </p:nvSpPr>
        <p:spPr>
          <a:xfrm>
            <a:off x="4114800" y="2391664"/>
            <a:ext cx="7589520" cy="613664"/>
          </a:xfrm>
          <a:prstGeom prst="rect">
            <a:avLst/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Inset gold outline"/>
          <p:cNvSpPr/>
          <p:nvPr/>
        </p:nvSpPr>
        <p:spPr>
          <a:xfrm>
            <a:off x="4121150" y="2398014"/>
            <a:ext cx="7576820" cy="600964"/>
          </a:xfrm>
          <a:prstGeom prst="rect">
            <a:avLst/>
          </a:prstGeom>
          <a:solidFill>
            <a:srgbClr val="282828"/>
          </a:solidFill>
          <a:ln w="63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0" y="2531364"/>
            <a:ext cx="7589520" cy="304800"/>
          </a:xfrm>
          <a:prstGeom prst="rect">
            <a:avLst/>
          </a:prstGeom>
          <a:noFill/>
        </p:spPr>
        <p:txBody>
          <a:bodyPr wrap="none" lIns="177800" rIns="177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И это одна из главных мыслей всей программы.</a:t>
            </a:r>
          </a:p>
        </p:txBody>
      </p:sp>
      <p:sp>
        <p:nvSpPr>
          <p:cNvPr id="9" name="Teaching card"/>
          <p:cNvSpPr/>
          <p:nvPr/>
        </p:nvSpPr>
        <p:spPr>
          <a:xfrm>
            <a:off x="4114800" y="3132328"/>
            <a:ext cx="7589520" cy="897128"/>
          </a:xfrm>
          <a:prstGeom prst="rect">
            <a:avLst/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Inset gold outline"/>
          <p:cNvSpPr/>
          <p:nvPr/>
        </p:nvSpPr>
        <p:spPr>
          <a:xfrm>
            <a:off x="4121150" y="3138678"/>
            <a:ext cx="7576820" cy="884428"/>
          </a:xfrm>
          <a:prstGeom prst="rect">
            <a:avLst/>
          </a:prstGeom>
          <a:solidFill>
            <a:srgbClr val="282828"/>
          </a:solidFill>
          <a:ln w="63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800" y="3272028"/>
            <a:ext cx="7589520" cy="588264"/>
          </a:xfrm>
          <a:prstGeom prst="rect">
            <a:avLst/>
          </a:prstGeom>
          <a:noFill/>
        </p:spPr>
        <p:txBody>
          <a:bodyPr wrap="none" lIns="177800" rIns="177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Через несколько лет мужчина может забыть, в каком платье вы</a:t>
            </a:r>
          </a:p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пришли на свидание.</a:t>
            </a:r>
          </a:p>
        </p:txBody>
      </p:sp>
      <p:sp>
        <p:nvSpPr>
          <p:cNvPr id="12" name="Bottom page-number mask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0" y="304800"/>
            <a:ext cx="7589520" cy="986536"/>
          </a:xfrm>
          <a:prstGeom prst="rect">
            <a:avLst/>
          </a:prstGeom>
          <a:noFill/>
        </p:spPr>
        <p:txBody>
          <a:bodyPr wrap="none" lIns="25400" rIns="25400" tIns="0" bIns="0">
            <a:spAutoFit/>
          </a:bodyPr>
          <a:lstStyle/>
          <a:p>
            <a:pPr>
              <a:lnSpc>
                <a:spcPts val="3968"/>
              </a:lnSpc>
              <a:spcBef>
                <a:spcPts val="0"/>
              </a:spcBef>
              <a:spcAft>
                <a:spcPts val="0"/>
              </a:spcAft>
              <a:defRPr sz="3200" i="0">
                <a:solidFill>
                  <a:srgbClr val="D4AF37"/>
                </a:solidFill>
                <a:latin typeface="Georgia"/>
              </a:defRPr>
            </a:pPr>
            <a:r>
              <a:rPr>
                <a:solidFill>
                  <a:srgbClr val="D4AF37"/>
                </a:solidFill>
              </a:rPr>
              <a:t>Мужчина запоминает</a:t>
            </a:r>
          </a:p>
          <a:p>
            <a:pPr>
              <a:lnSpc>
                <a:spcPts val="3968"/>
              </a:lnSpc>
              <a:spcBef>
                <a:spcPts val="0"/>
              </a:spcBef>
              <a:spcAft>
                <a:spcPts val="0"/>
              </a:spcAft>
              <a:defRPr sz="3200" i="0">
                <a:solidFill>
                  <a:srgbClr val="D4AF37"/>
                </a:solidFill>
                <a:latin typeface="Georgia"/>
              </a:defRPr>
            </a:pPr>
            <a:r>
              <a:rPr>
                <a:solidFill>
                  <a:srgbClr val="D4AF37"/>
                </a:solidFill>
              </a:rPr>
              <a:t>не только вас</a:t>
            </a:r>
          </a:p>
        </p:txBody>
      </p:sp>
      <p:sp>
        <p:nvSpPr>
          <p:cNvPr id="3" name="Teaching card"/>
          <p:cNvSpPr/>
          <p:nvPr/>
        </p:nvSpPr>
        <p:spPr>
          <a:xfrm>
            <a:off x="4114800" y="1651000"/>
            <a:ext cx="7589520" cy="897128"/>
          </a:xfrm>
          <a:prstGeom prst="rect">
            <a:avLst/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Inset gold outline"/>
          <p:cNvSpPr/>
          <p:nvPr/>
        </p:nvSpPr>
        <p:spPr>
          <a:xfrm>
            <a:off x="4121150" y="1657350"/>
            <a:ext cx="7576820" cy="884428"/>
          </a:xfrm>
          <a:prstGeom prst="rect">
            <a:avLst/>
          </a:prstGeom>
          <a:solidFill>
            <a:srgbClr val="282828"/>
          </a:solidFill>
          <a:ln w="63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0" y="1790700"/>
            <a:ext cx="7589520" cy="588264"/>
          </a:xfrm>
          <a:prstGeom prst="rect">
            <a:avLst/>
          </a:prstGeom>
          <a:noFill/>
        </p:spPr>
        <p:txBody>
          <a:bodyPr wrap="none" lIns="177800" rIns="177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Он может забыть ресторан. Он может даже забыть какие-то ваши</a:t>
            </a:r>
          </a:p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слова.</a:t>
            </a:r>
          </a:p>
        </p:txBody>
      </p:sp>
      <p:sp>
        <p:nvSpPr>
          <p:cNvPr id="6" name="Teaching card"/>
          <p:cNvSpPr/>
          <p:nvPr/>
        </p:nvSpPr>
        <p:spPr>
          <a:xfrm>
            <a:off x="4114800" y="2675128"/>
            <a:ext cx="7589520" cy="897128"/>
          </a:xfrm>
          <a:prstGeom prst="rect">
            <a:avLst/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Inset gold outline"/>
          <p:cNvSpPr/>
          <p:nvPr/>
        </p:nvSpPr>
        <p:spPr>
          <a:xfrm>
            <a:off x="4121150" y="2681478"/>
            <a:ext cx="7576820" cy="884428"/>
          </a:xfrm>
          <a:prstGeom prst="rect">
            <a:avLst/>
          </a:prstGeom>
          <a:solidFill>
            <a:srgbClr val="282828"/>
          </a:solidFill>
          <a:ln w="63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0" y="2814828"/>
            <a:ext cx="7589520" cy="588264"/>
          </a:xfrm>
          <a:prstGeom prst="rect">
            <a:avLst/>
          </a:prstGeom>
          <a:noFill/>
        </p:spPr>
        <p:txBody>
          <a:bodyPr wrap="none" lIns="177800" rIns="177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Но он гораздо дольше способен помнить: как ему было рядом с</a:t>
            </a:r>
          </a:p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вами.</a:t>
            </a:r>
          </a:p>
        </p:txBody>
      </p:sp>
      <p:sp>
        <p:nvSpPr>
          <p:cNvPr id="9" name="Bottom page-number mask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0" y="304800"/>
            <a:ext cx="7589520" cy="482600"/>
          </a:xfrm>
          <a:prstGeom prst="rect">
            <a:avLst/>
          </a:prstGeom>
          <a:noFill/>
        </p:spPr>
        <p:txBody>
          <a:bodyPr wrap="none" lIns="25400" rIns="25400" tIns="0" bIns="0">
            <a:spAutoFit/>
          </a:bodyPr>
          <a:lstStyle/>
          <a:p>
            <a:pPr>
              <a:lnSpc>
                <a:spcPts val="3968"/>
              </a:lnSpc>
              <a:spcBef>
                <a:spcPts val="0"/>
              </a:spcBef>
              <a:spcAft>
                <a:spcPts val="0"/>
              </a:spcAft>
              <a:defRPr sz="3200" i="0">
                <a:solidFill>
                  <a:srgbClr val="D4AF37"/>
                </a:solidFill>
                <a:latin typeface="Georgia"/>
              </a:defRPr>
            </a:pPr>
            <a:r>
              <a:rPr>
                <a:solidFill>
                  <a:srgbClr val="D4AF37"/>
                </a:solidFill>
              </a:rPr>
              <a:t>Каким он себя чувствовал.</a:t>
            </a:r>
          </a:p>
        </p:txBody>
      </p:sp>
      <p:sp>
        <p:nvSpPr>
          <p:cNvPr id="3" name="Teaching card"/>
          <p:cNvSpPr/>
          <p:nvPr/>
        </p:nvSpPr>
        <p:spPr>
          <a:xfrm>
            <a:off x="4114800" y="1651000"/>
            <a:ext cx="7589520" cy="613664"/>
          </a:xfrm>
          <a:prstGeom prst="rect">
            <a:avLst/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Inset gold outline"/>
          <p:cNvSpPr/>
          <p:nvPr/>
        </p:nvSpPr>
        <p:spPr>
          <a:xfrm>
            <a:off x="4121150" y="1657350"/>
            <a:ext cx="7576820" cy="600964"/>
          </a:xfrm>
          <a:prstGeom prst="rect">
            <a:avLst/>
          </a:prstGeom>
          <a:solidFill>
            <a:srgbClr val="282828"/>
          </a:solidFill>
          <a:ln w="63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0" y="1790700"/>
            <a:ext cx="7589520" cy="304800"/>
          </a:xfrm>
          <a:prstGeom prst="rect">
            <a:avLst/>
          </a:prstGeom>
          <a:noFill/>
        </p:spPr>
        <p:txBody>
          <a:bodyPr wrap="none" lIns="177800" rIns="177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Каким он себя чувствовал. Было ли ему легко? Интересно?</a:t>
            </a:r>
          </a:p>
        </p:txBody>
      </p:sp>
      <p:sp>
        <p:nvSpPr>
          <p:cNvPr id="6" name="Teaching card"/>
          <p:cNvSpPr/>
          <p:nvPr/>
        </p:nvSpPr>
        <p:spPr>
          <a:xfrm>
            <a:off x="4114800" y="2391664"/>
            <a:ext cx="7589520" cy="897128"/>
          </a:xfrm>
          <a:prstGeom prst="rect">
            <a:avLst/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Inset gold outline"/>
          <p:cNvSpPr/>
          <p:nvPr/>
        </p:nvSpPr>
        <p:spPr>
          <a:xfrm>
            <a:off x="4121150" y="2398014"/>
            <a:ext cx="7576820" cy="884428"/>
          </a:xfrm>
          <a:prstGeom prst="rect">
            <a:avLst/>
          </a:prstGeom>
          <a:solidFill>
            <a:srgbClr val="282828"/>
          </a:solidFill>
          <a:ln w="63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0" y="2531364"/>
            <a:ext cx="7589520" cy="588264"/>
          </a:xfrm>
          <a:prstGeom prst="rect">
            <a:avLst/>
          </a:prstGeom>
          <a:noFill/>
        </p:spPr>
        <p:txBody>
          <a:bodyPr wrap="none" lIns="177800" rIns="177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Хотелось ли ему становиться сильнее? Чувствовал ли он себя</a:t>
            </a:r>
          </a:p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мужчиной?</a:t>
            </a:r>
          </a:p>
        </p:txBody>
      </p:sp>
      <p:sp>
        <p:nvSpPr>
          <p:cNvPr id="9" name="Teaching card"/>
          <p:cNvSpPr/>
          <p:nvPr/>
        </p:nvSpPr>
        <p:spPr>
          <a:xfrm>
            <a:off x="4114800" y="3415791"/>
            <a:ext cx="7589520" cy="613664"/>
          </a:xfrm>
          <a:prstGeom prst="rect">
            <a:avLst/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Inset gold outline"/>
          <p:cNvSpPr/>
          <p:nvPr/>
        </p:nvSpPr>
        <p:spPr>
          <a:xfrm>
            <a:off x="4121150" y="3422141"/>
            <a:ext cx="7576820" cy="600964"/>
          </a:xfrm>
          <a:prstGeom prst="rect">
            <a:avLst/>
          </a:prstGeom>
          <a:solidFill>
            <a:srgbClr val="282828"/>
          </a:solidFill>
          <a:ln w="63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800" y="3555491"/>
            <a:ext cx="7589520" cy="304800"/>
          </a:xfrm>
          <a:prstGeom prst="rect">
            <a:avLst/>
          </a:prstGeom>
          <a:noFill/>
        </p:spPr>
        <p:txBody>
          <a:bodyPr wrap="none" lIns="177800" rIns="177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Смеялся ли? Удивлялся? Восхищался?</a:t>
            </a:r>
          </a:p>
        </p:txBody>
      </p:sp>
      <p:sp>
        <p:nvSpPr>
          <p:cNvPr id="12" name="Bottom page-number mask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0" y="304800"/>
            <a:ext cx="7589520" cy="482600"/>
          </a:xfrm>
          <a:prstGeom prst="rect">
            <a:avLst/>
          </a:prstGeom>
          <a:noFill/>
        </p:spPr>
        <p:txBody>
          <a:bodyPr wrap="none" lIns="25400" rIns="25400" tIns="0" bIns="0">
            <a:spAutoFit/>
          </a:bodyPr>
          <a:lstStyle/>
          <a:p>
            <a:pPr>
              <a:lnSpc>
                <a:spcPts val="3968"/>
              </a:lnSpc>
              <a:spcBef>
                <a:spcPts val="0"/>
              </a:spcBef>
              <a:spcAft>
                <a:spcPts val="0"/>
              </a:spcAft>
              <a:defRPr sz="3200" i="0">
                <a:solidFill>
                  <a:srgbClr val="D4AF37"/>
                </a:solidFill>
                <a:latin typeface="Georgia"/>
              </a:defRPr>
            </a:pPr>
            <a:r>
              <a:rPr>
                <a:solidFill>
                  <a:srgbClr val="D4AF37"/>
                </a:solidFill>
              </a:rPr>
              <a:t>Научиться оставлять следы.</a:t>
            </a:r>
          </a:p>
        </p:txBody>
      </p:sp>
      <p:sp>
        <p:nvSpPr>
          <p:cNvPr id="3" name="Teaching card"/>
          <p:cNvSpPr/>
          <p:nvPr/>
        </p:nvSpPr>
        <p:spPr>
          <a:xfrm>
            <a:off x="4114800" y="1651000"/>
            <a:ext cx="7589520" cy="897128"/>
          </a:xfrm>
          <a:prstGeom prst="rect">
            <a:avLst/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Inset gold outline"/>
          <p:cNvSpPr/>
          <p:nvPr/>
        </p:nvSpPr>
        <p:spPr>
          <a:xfrm>
            <a:off x="4121150" y="1657350"/>
            <a:ext cx="7576820" cy="884428"/>
          </a:xfrm>
          <a:prstGeom prst="rect">
            <a:avLst/>
          </a:prstGeom>
          <a:solidFill>
            <a:srgbClr val="282828"/>
          </a:solidFill>
          <a:ln w="63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0" y="1790700"/>
            <a:ext cx="7589520" cy="588264"/>
          </a:xfrm>
          <a:prstGeom prst="rect">
            <a:avLst/>
          </a:prstGeom>
          <a:noFill/>
        </p:spPr>
        <p:txBody>
          <a:bodyPr wrap="none" lIns="177800" rIns="177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И поэтому наша задача — не научиться «правильно вести себя с</a:t>
            </a:r>
          </a:p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мужчиной».</a:t>
            </a:r>
          </a:p>
        </p:txBody>
      </p:sp>
      <p:sp>
        <p:nvSpPr>
          <p:cNvPr id="6" name="Teaching card"/>
          <p:cNvSpPr/>
          <p:nvPr/>
        </p:nvSpPr>
        <p:spPr>
          <a:xfrm>
            <a:off x="4114800" y="2675128"/>
            <a:ext cx="7589520" cy="613664"/>
          </a:xfrm>
          <a:prstGeom prst="rect">
            <a:avLst/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Inset gold outline"/>
          <p:cNvSpPr/>
          <p:nvPr/>
        </p:nvSpPr>
        <p:spPr>
          <a:xfrm>
            <a:off x="4121150" y="2681478"/>
            <a:ext cx="7576820" cy="600964"/>
          </a:xfrm>
          <a:prstGeom prst="rect">
            <a:avLst/>
          </a:prstGeom>
          <a:solidFill>
            <a:srgbClr val="282828"/>
          </a:solidFill>
          <a:ln w="63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0" y="2814828"/>
            <a:ext cx="7589520" cy="304800"/>
          </a:xfrm>
          <a:prstGeom prst="rect">
            <a:avLst/>
          </a:prstGeom>
          <a:noFill/>
        </p:spPr>
        <p:txBody>
          <a:bodyPr wrap="none" lIns="177800" rIns="177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Наша задача гораздо интереснее. Научиться оставлять </a:t>
            </a:r>
            <a:r>
              <a:rPr>
                <a:solidFill>
                  <a:srgbClr val="D4AF37"/>
                </a:solidFill>
              </a:rPr>
              <a:t>следы</a:t>
            </a:r>
            <a:r>
              <a:rPr>
                <a:solidFill>
                  <a:srgbClr val="FFFFFF"/>
                </a:solidFill>
              </a:rPr>
              <a:t>.</a:t>
            </a:r>
          </a:p>
        </p:txBody>
      </p:sp>
      <p:sp>
        <p:nvSpPr>
          <p:cNvPr id="9" name="Bottom page-number mask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0" y="304800"/>
            <a:ext cx="7589520" cy="986536"/>
          </a:xfrm>
          <a:prstGeom prst="rect">
            <a:avLst/>
          </a:prstGeom>
          <a:noFill/>
        </p:spPr>
        <p:txBody>
          <a:bodyPr wrap="none" lIns="25400" rIns="25400" tIns="0" bIns="0">
            <a:spAutoFit/>
          </a:bodyPr>
          <a:lstStyle/>
          <a:p>
            <a:pPr>
              <a:lnSpc>
                <a:spcPts val="3968"/>
              </a:lnSpc>
              <a:spcBef>
                <a:spcPts val="0"/>
              </a:spcBef>
              <a:spcAft>
                <a:spcPts val="0"/>
              </a:spcAft>
              <a:defRPr sz="3200" i="0">
                <a:solidFill>
                  <a:srgbClr val="D4AF37"/>
                </a:solidFill>
                <a:latin typeface="Georgia"/>
              </a:defRPr>
            </a:pPr>
            <a:r>
              <a:rPr>
                <a:solidFill>
                  <a:srgbClr val="D4AF37"/>
                </a:solidFill>
              </a:rPr>
              <a:t>Как возникает</a:t>
            </a:r>
          </a:p>
          <a:p>
            <a:pPr>
              <a:lnSpc>
                <a:spcPts val="3968"/>
              </a:lnSpc>
              <a:spcBef>
                <a:spcPts val="0"/>
              </a:spcBef>
              <a:spcAft>
                <a:spcPts val="0"/>
              </a:spcAft>
              <a:defRPr sz="3200" i="0">
                <a:solidFill>
                  <a:srgbClr val="D4AF37"/>
                </a:solidFill>
                <a:latin typeface="Georgia"/>
              </a:defRPr>
            </a:pPr>
            <a:r>
              <a:rPr>
                <a:solidFill>
                  <a:srgbClr val="D4AF37"/>
                </a:solidFill>
              </a:rPr>
              <a:t>незабываемость</a:t>
            </a:r>
          </a:p>
        </p:txBody>
      </p:sp>
      <p:sp>
        <p:nvSpPr>
          <p:cNvPr id="3" name="Teaching card"/>
          <p:cNvSpPr/>
          <p:nvPr/>
        </p:nvSpPr>
        <p:spPr>
          <a:xfrm>
            <a:off x="4114800" y="1651000"/>
            <a:ext cx="7589520" cy="613664"/>
          </a:xfrm>
          <a:prstGeom prst="rect">
            <a:avLst/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Inset gold outline"/>
          <p:cNvSpPr/>
          <p:nvPr/>
        </p:nvSpPr>
        <p:spPr>
          <a:xfrm>
            <a:off x="4121150" y="1657350"/>
            <a:ext cx="7576820" cy="600964"/>
          </a:xfrm>
          <a:prstGeom prst="rect">
            <a:avLst/>
          </a:prstGeom>
          <a:solidFill>
            <a:srgbClr val="282828"/>
          </a:solidFill>
          <a:ln w="63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0" y="1790700"/>
            <a:ext cx="7589520" cy="304800"/>
          </a:xfrm>
          <a:prstGeom prst="rect">
            <a:avLst/>
          </a:prstGeom>
          <a:noFill/>
        </p:spPr>
        <p:txBody>
          <a:bodyPr wrap="none" lIns="177800" rIns="177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Сразу же покажу вам нашу главную формулу незабываемости.</a:t>
            </a:r>
          </a:p>
        </p:txBody>
      </p:sp>
      <p:sp>
        <p:nvSpPr>
          <p:cNvPr id="6" name="Teaching card"/>
          <p:cNvSpPr/>
          <p:nvPr/>
        </p:nvSpPr>
        <p:spPr>
          <a:xfrm>
            <a:off x="4114800" y="2391664"/>
            <a:ext cx="7589520" cy="897128"/>
          </a:xfrm>
          <a:prstGeom prst="rect">
            <a:avLst/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Inset gold outline"/>
          <p:cNvSpPr/>
          <p:nvPr/>
        </p:nvSpPr>
        <p:spPr>
          <a:xfrm>
            <a:off x="4121150" y="2398014"/>
            <a:ext cx="7576820" cy="884428"/>
          </a:xfrm>
          <a:prstGeom prst="rect">
            <a:avLst/>
          </a:prstGeom>
          <a:solidFill>
            <a:srgbClr val="282828"/>
          </a:solidFill>
          <a:ln w="63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0" y="2531364"/>
            <a:ext cx="7589520" cy="588264"/>
          </a:xfrm>
          <a:prstGeom prst="rect">
            <a:avLst/>
          </a:prstGeom>
          <a:noFill/>
        </p:spPr>
        <p:txBody>
          <a:bodyPr wrap="none" lIns="177800" rIns="177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ГРАНЬ → СОПРИКОСНОВЕНИЕ → </a:t>
            </a:r>
            <a:r>
              <a:rPr>
                <a:solidFill>
                  <a:srgbClr val="D4AF37"/>
                </a:solidFill>
              </a:rPr>
              <a:t>СЛЕД</a:t>
            </a:r>
            <a:r>
              <a:rPr>
                <a:solidFill>
                  <a:srgbClr val="FFFFFF"/>
                </a:solidFill>
              </a:rPr>
              <a:t> → </a:t>
            </a:r>
            <a:r>
              <a:rPr>
                <a:solidFill>
                  <a:srgbClr val="D4AF37"/>
                </a:solidFill>
              </a:rPr>
              <a:t>ПАМЯТЬ</a:t>
            </a:r>
            <a:r>
              <a:rPr>
                <a:solidFill>
                  <a:srgbClr val="FFFFFF"/>
                </a:solidFill>
              </a:rPr>
              <a:t> →</a:t>
            </a:r>
          </a:p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НЕЗАБЫВАЕМОСТЬ</a:t>
            </a:r>
          </a:p>
        </p:txBody>
      </p:sp>
      <p:sp>
        <p:nvSpPr>
          <p:cNvPr id="9" name="Bottom page-number mask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0" y="304800"/>
            <a:ext cx="7589520" cy="986536"/>
          </a:xfrm>
          <a:prstGeom prst="rect">
            <a:avLst/>
          </a:prstGeom>
          <a:noFill/>
        </p:spPr>
        <p:txBody>
          <a:bodyPr wrap="none" lIns="25400" rIns="25400" tIns="0" bIns="0">
            <a:spAutoFit/>
          </a:bodyPr>
          <a:lstStyle/>
          <a:p>
            <a:pPr>
              <a:lnSpc>
                <a:spcPts val="3968"/>
              </a:lnSpc>
              <a:spcBef>
                <a:spcPts val="0"/>
              </a:spcBef>
              <a:spcAft>
                <a:spcPts val="0"/>
              </a:spcAft>
              <a:defRPr sz="3200" i="0">
                <a:solidFill>
                  <a:srgbClr val="D4AF37"/>
                </a:solidFill>
                <a:latin typeface="Georgia"/>
              </a:defRPr>
            </a:pPr>
            <a:r>
              <a:rPr>
                <a:solidFill>
                  <a:srgbClr val="D4AF37"/>
                </a:solidFill>
              </a:rPr>
              <a:t>Как возникает</a:t>
            </a:r>
          </a:p>
          <a:p>
            <a:pPr>
              <a:lnSpc>
                <a:spcPts val="3968"/>
              </a:lnSpc>
              <a:spcBef>
                <a:spcPts val="0"/>
              </a:spcBef>
              <a:spcAft>
                <a:spcPts val="0"/>
              </a:spcAft>
              <a:defRPr sz="3200" i="0">
                <a:solidFill>
                  <a:srgbClr val="D4AF37"/>
                </a:solidFill>
                <a:latin typeface="Georgia"/>
              </a:defRPr>
            </a:pPr>
            <a:r>
              <a:rPr>
                <a:solidFill>
                  <a:srgbClr val="D4AF37"/>
                </a:solidFill>
              </a:rPr>
              <a:t>незабываемость</a:t>
            </a:r>
          </a:p>
        </p:txBody>
      </p:sp>
      <p:sp>
        <p:nvSpPr>
          <p:cNvPr id="3" name="Teaching card"/>
          <p:cNvSpPr/>
          <p:nvPr/>
        </p:nvSpPr>
        <p:spPr>
          <a:xfrm>
            <a:off x="4114800" y="1651000"/>
            <a:ext cx="7589520" cy="613664"/>
          </a:xfrm>
          <a:prstGeom prst="rect">
            <a:avLst/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Inset gold outline"/>
          <p:cNvSpPr/>
          <p:nvPr/>
        </p:nvSpPr>
        <p:spPr>
          <a:xfrm>
            <a:off x="4121150" y="1657350"/>
            <a:ext cx="7576820" cy="600964"/>
          </a:xfrm>
          <a:prstGeom prst="rect">
            <a:avLst/>
          </a:prstGeom>
          <a:solidFill>
            <a:srgbClr val="282828"/>
          </a:solidFill>
          <a:ln w="63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0" y="1790700"/>
            <a:ext cx="7589520" cy="304800"/>
          </a:xfrm>
          <a:prstGeom prst="rect">
            <a:avLst/>
          </a:prstGeom>
          <a:noFill/>
        </p:spPr>
        <p:txBody>
          <a:bodyPr wrap="none" lIns="177800" rIns="177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У каждой женщины есть разные грани.</a:t>
            </a:r>
          </a:p>
        </p:txBody>
      </p:sp>
      <p:sp>
        <p:nvSpPr>
          <p:cNvPr id="6" name="Teaching card"/>
          <p:cNvSpPr/>
          <p:nvPr/>
        </p:nvSpPr>
        <p:spPr>
          <a:xfrm>
            <a:off x="4114800" y="2391664"/>
            <a:ext cx="7589520" cy="897128"/>
          </a:xfrm>
          <a:prstGeom prst="rect">
            <a:avLst/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Inset gold outline"/>
          <p:cNvSpPr/>
          <p:nvPr/>
        </p:nvSpPr>
        <p:spPr>
          <a:xfrm>
            <a:off x="4121150" y="2398014"/>
            <a:ext cx="7576820" cy="884428"/>
          </a:xfrm>
          <a:prstGeom prst="rect">
            <a:avLst/>
          </a:prstGeom>
          <a:solidFill>
            <a:srgbClr val="282828"/>
          </a:solidFill>
          <a:ln w="63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0" y="2531364"/>
            <a:ext cx="7589520" cy="588264"/>
          </a:xfrm>
          <a:prstGeom prst="rect">
            <a:avLst/>
          </a:prstGeom>
          <a:noFill/>
        </p:spPr>
        <p:txBody>
          <a:bodyPr wrap="none" lIns="177800" rIns="177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И когда какая-то ваша грань соприкасается с мужчиной, она</a:t>
            </a:r>
          </a:p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оставляет </a:t>
            </a:r>
            <a:r>
              <a:rPr>
                <a:solidFill>
                  <a:srgbClr val="D4AF37"/>
                </a:solidFill>
              </a:rPr>
              <a:t>след</a:t>
            </a:r>
            <a:r>
              <a:rPr>
                <a:solidFill>
                  <a:srgbClr val="FFFFFF"/>
                </a:solidFill>
              </a:rPr>
              <a:t>.</a:t>
            </a:r>
          </a:p>
        </p:txBody>
      </p:sp>
      <p:sp>
        <p:nvSpPr>
          <p:cNvPr id="9" name="Bottom page-number mask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0" y="304800"/>
            <a:ext cx="7589520" cy="986536"/>
          </a:xfrm>
          <a:prstGeom prst="rect">
            <a:avLst/>
          </a:prstGeom>
          <a:noFill/>
        </p:spPr>
        <p:txBody>
          <a:bodyPr wrap="none" lIns="25400" rIns="25400" tIns="0" bIns="0">
            <a:spAutoFit/>
          </a:bodyPr>
          <a:lstStyle/>
          <a:p>
            <a:pPr>
              <a:lnSpc>
                <a:spcPts val="3968"/>
              </a:lnSpc>
              <a:spcBef>
                <a:spcPts val="0"/>
              </a:spcBef>
              <a:spcAft>
                <a:spcPts val="0"/>
              </a:spcAft>
              <a:defRPr sz="3200" i="0">
                <a:solidFill>
                  <a:srgbClr val="D4AF37"/>
                </a:solidFill>
                <a:latin typeface="Georgia"/>
              </a:defRPr>
            </a:pPr>
            <a:r>
              <a:rPr>
                <a:solidFill>
                  <a:srgbClr val="D4AF37"/>
                </a:solidFill>
              </a:rPr>
              <a:t>Встреча закончилась.</a:t>
            </a:r>
          </a:p>
          <a:p>
            <a:pPr>
              <a:lnSpc>
                <a:spcPts val="3968"/>
              </a:lnSpc>
              <a:spcBef>
                <a:spcPts val="0"/>
              </a:spcBef>
              <a:spcAft>
                <a:spcPts val="0"/>
              </a:spcAft>
              <a:defRPr sz="3200" i="0">
                <a:solidFill>
                  <a:srgbClr val="D4AF37"/>
                </a:solidFill>
                <a:latin typeface="Georgia"/>
              </a:defRPr>
            </a:pPr>
            <a:r>
              <a:rPr>
                <a:solidFill>
                  <a:srgbClr val="D4AF37"/>
                </a:solidFill>
              </a:rPr>
              <a:t>А лёгкость осталась.</a:t>
            </a:r>
          </a:p>
        </p:txBody>
      </p:sp>
      <p:sp>
        <p:nvSpPr>
          <p:cNvPr id="3" name="Teaching card"/>
          <p:cNvSpPr/>
          <p:nvPr/>
        </p:nvSpPr>
        <p:spPr>
          <a:xfrm>
            <a:off x="4114800" y="1651000"/>
            <a:ext cx="7589520" cy="897128"/>
          </a:xfrm>
          <a:prstGeom prst="rect">
            <a:avLst/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Inset gold outline"/>
          <p:cNvSpPr/>
          <p:nvPr/>
        </p:nvSpPr>
        <p:spPr>
          <a:xfrm>
            <a:off x="4121150" y="1657350"/>
            <a:ext cx="7576820" cy="884428"/>
          </a:xfrm>
          <a:prstGeom prst="rect">
            <a:avLst/>
          </a:prstGeom>
          <a:solidFill>
            <a:srgbClr val="282828"/>
          </a:solidFill>
          <a:ln w="63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0" y="1790700"/>
            <a:ext cx="7589520" cy="588264"/>
          </a:xfrm>
          <a:prstGeom prst="rect">
            <a:avLst/>
          </a:prstGeom>
          <a:noFill/>
        </p:spPr>
        <p:txBody>
          <a:bodyPr wrap="none" lIns="177800" rIns="177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Например, вы умеете создавать невероятную </a:t>
            </a:r>
            <a:r>
              <a:rPr>
                <a:solidFill>
                  <a:srgbClr val="D4AF37"/>
                </a:solidFill>
              </a:rPr>
              <a:t>лёгкость</a:t>
            </a:r>
            <a:r>
              <a:rPr>
                <a:solidFill>
                  <a:srgbClr val="FFFFFF"/>
                </a:solidFill>
              </a:rPr>
              <a:t>. Вы</a:t>
            </a:r>
          </a:p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встретились — посмеялись, поговорили, разошлись.</a:t>
            </a:r>
          </a:p>
        </p:txBody>
      </p:sp>
      <p:sp>
        <p:nvSpPr>
          <p:cNvPr id="6" name="Teaching card"/>
          <p:cNvSpPr/>
          <p:nvPr/>
        </p:nvSpPr>
        <p:spPr>
          <a:xfrm>
            <a:off x="4114800" y="2675128"/>
            <a:ext cx="7589520" cy="613664"/>
          </a:xfrm>
          <a:prstGeom prst="rect">
            <a:avLst/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Inset gold outline"/>
          <p:cNvSpPr/>
          <p:nvPr/>
        </p:nvSpPr>
        <p:spPr>
          <a:xfrm>
            <a:off x="4121150" y="2681478"/>
            <a:ext cx="7576820" cy="600964"/>
          </a:xfrm>
          <a:prstGeom prst="rect">
            <a:avLst/>
          </a:prstGeom>
          <a:solidFill>
            <a:srgbClr val="282828"/>
          </a:solidFill>
          <a:ln w="63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0" y="2814828"/>
            <a:ext cx="7589520" cy="304800"/>
          </a:xfrm>
          <a:prstGeom prst="rect">
            <a:avLst/>
          </a:prstGeom>
          <a:noFill/>
        </p:spPr>
        <p:txBody>
          <a:bodyPr wrap="none" lIns="177800" rIns="177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Это </a:t>
            </a:r>
            <a:r>
              <a:rPr>
                <a:solidFill>
                  <a:srgbClr val="D4AF37"/>
                </a:solidFill>
              </a:rPr>
              <a:t>след</a:t>
            </a:r>
            <a:r>
              <a:rPr>
                <a:solidFill>
                  <a:srgbClr val="FFFFFF"/>
                </a:solidFill>
              </a:rPr>
              <a:t>.</a:t>
            </a:r>
          </a:p>
        </p:txBody>
      </p:sp>
      <p:sp>
        <p:nvSpPr>
          <p:cNvPr id="9" name="Bottom page-number mask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0" y="304800"/>
            <a:ext cx="7589520" cy="482600"/>
          </a:xfrm>
          <a:prstGeom prst="rect">
            <a:avLst/>
          </a:prstGeom>
          <a:noFill/>
        </p:spPr>
        <p:txBody>
          <a:bodyPr wrap="none" lIns="25400" rIns="25400" tIns="0" bIns="0">
            <a:spAutoFit/>
          </a:bodyPr>
          <a:lstStyle/>
          <a:p>
            <a:pPr>
              <a:lnSpc>
                <a:spcPts val="3968"/>
              </a:lnSpc>
              <a:spcBef>
                <a:spcPts val="0"/>
              </a:spcBef>
              <a:spcAft>
                <a:spcPts val="0"/>
              </a:spcAft>
              <a:defRPr sz="3200" i="0">
                <a:solidFill>
                  <a:srgbClr val="D4AF37"/>
                </a:solidFill>
                <a:latin typeface="Georgia"/>
              </a:defRPr>
            </a:pPr>
            <a:r>
              <a:rPr>
                <a:solidFill>
                  <a:srgbClr val="D4AF37"/>
                </a:solidFill>
              </a:rPr>
              <a:t>Память о вас</a:t>
            </a:r>
          </a:p>
        </p:txBody>
      </p:sp>
      <p:sp>
        <p:nvSpPr>
          <p:cNvPr id="3" name="Teaching card"/>
          <p:cNvSpPr/>
          <p:nvPr/>
        </p:nvSpPr>
        <p:spPr>
          <a:xfrm>
            <a:off x="4114800" y="1651000"/>
            <a:ext cx="7589520" cy="897128"/>
          </a:xfrm>
          <a:prstGeom prst="rect">
            <a:avLst/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Inset gold outline"/>
          <p:cNvSpPr/>
          <p:nvPr/>
        </p:nvSpPr>
        <p:spPr>
          <a:xfrm>
            <a:off x="4121150" y="1657350"/>
            <a:ext cx="7576820" cy="884428"/>
          </a:xfrm>
          <a:prstGeom prst="rect">
            <a:avLst/>
          </a:prstGeom>
          <a:solidFill>
            <a:srgbClr val="282828"/>
          </a:solidFill>
          <a:ln w="63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0" y="1790700"/>
            <a:ext cx="7589520" cy="588264"/>
          </a:xfrm>
          <a:prstGeom prst="rect">
            <a:avLst/>
          </a:prstGeom>
          <a:noFill/>
        </p:spPr>
        <p:txBody>
          <a:bodyPr wrap="none" lIns="177800" rIns="177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Проходит несколько дней. Мужчина вспоминает вас — и вместе с</a:t>
            </a:r>
          </a:p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вашим образом возвращается это ощущение.</a:t>
            </a:r>
          </a:p>
        </p:txBody>
      </p:sp>
      <p:sp>
        <p:nvSpPr>
          <p:cNvPr id="6" name="Teaching card"/>
          <p:cNvSpPr/>
          <p:nvPr/>
        </p:nvSpPr>
        <p:spPr>
          <a:xfrm>
            <a:off x="4114800" y="2675128"/>
            <a:ext cx="7589520" cy="897128"/>
          </a:xfrm>
          <a:prstGeom prst="rect">
            <a:avLst/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Inset gold outline"/>
          <p:cNvSpPr/>
          <p:nvPr/>
        </p:nvSpPr>
        <p:spPr>
          <a:xfrm>
            <a:off x="4121150" y="2681478"/>
            <a:ext cx="7576820" cy="884428"/>
          </a:xfrm>
          <a:prstGeom prst="rect">
            <a:avLst/>
          </a:prstGeom>
          <a:solidFill>
            <a:srgbClr val="282828"/>
          </a:solidFill>
          <a:ln w="63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0" y="2814828"/>
            <a:ext cx="7589520" cy="588264"/>
          </a:xfrm>
          <a:prstGeom prst="rect">
            <a:avLst/>
          </a:prstGeom>
          <a:noFill/>
        </p:spPr>
        <p:txBody>
          <a:bodyPr wrap="none" lIns="177800" rIns="177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Так появляется </a:t>
            </a:r>
            <a:r>
              <a:rPr>
                <a:solidFill>
                  <a:srgbClr val="D4AF37"/>
                </a:solidFill>
              </a:rPr>
              <a:t>память</a:t>
            </a:r>
            <a:r>
              <a:rPr>
                <a:solidFill>
                  <a:srgbClr val="FFFFFF"/>
                </a:solidFill>
              </a:rPr>
              <a:t> о вас. А когда таких следов становится</a:t>
            </a:r>
          </a:p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много, появляется то, что я называю эффектом незабываемости.</a:t>
            </a:r>
          </a:p>
        </p:txBody>
      </p:sp>
      <p:sp>
        <p:nvSpPr>
          <p:cNvPr id="9" name="Bottom page-number mask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0" y="304800"/>
            <a:ext cx="7589520" cy="482600"/>
          </a:xfrm>
          <a:prstGeom prst="rect">
            <a:avLst/>
          </a:prstGeom>
          <a:noFill/>
        </p:spPr>
        <p:txBody>
          <a:bodyPr wrap="none" lIns="25400" rIns="25400" tIns="0" bIns="0">
            <a:spAutoFit/>
          </a:bodyPr>
          <a:lstStyle/>
          <a:p>
            <a:pPr>
              <a:lnSpc>
                <a:spcPts val="3968"/>
              </a:lnSpc>
              <a:spcBef>
                <a:spcPts val="0"/>
              </a:spcBef>
              <a:spcAft>
                <a:spcPts val="0"/>
              </a:spcAft>
              <a:defRPr sz="3200" i="0">
                <a:solidFill>
                  <a:srgbClr val="D4AF37"/>
                </a:solidFill>
                <a:latin typeface="Georgia"/>
              </a:defRPr>
            </a:pPr>
            <a:r>
              <a:rPr>
                <a:solidFill>
                  <a:srgbClr val="D4AF37"/>
                </a:solidFill>
              </a:rPr>
              <a:t>Одна грань — один след</a:t>
            </a:r>
          </a:p>
        </p:txBody>
      </p:sp>
      <p:sp>
        <p:nvSpPr>
          <p:cNvPr id="3" name="Teaching card"/>
          <p:cNvSpPr/>
          <p:nvPr/>
        </p:nvSpPr>
        <p:spPr>
          <a:xfrm>
            <a:off x="4114800" y="1651000"/>
            <a:ext cx="7589520" cy="613664"/>
          </a:xfrm>
          <a:prstGeom prst="rect">
            <a:avLst/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Inset gold outline"/>
          <p:cNvSpPr/>
          <p:nvPr/>
        </p:nvSpPr>
        <p:spPr>
          <a:xfrm>
            <a:off x="4121150" y="1657350"/>
            <a:ext cx="7576820" cy="600964"/>
          </a:xfrm>
          <a:prstGeom prst="rect">
            <a:avLst/>
          </a:prstGeom>
          <a:solidFill>
            <a:srgbClr val="282828"/>
          </a:solidFill>
          <a:ln w="63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0" y="1790700"/>
            <a:ext cx="7589520" cy="304800"/>
          </a:xfrm>
          <a:prstGeom prst="rect">
            <a:avLst/>
          </a:prstGeom>
          <a:noFill/>
        </p:spPr>
        <p:txBody>
          <a:bodyPr wrap="none" lIns="177800" rIns="177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D4AF37"/>
                </a:solidFill>
              </a:rPr>
              <a:t>Лёгкость</a:t>
            </a:r>
            <a:r>
              <a:rPr>
                <a:solidFill>
                  <a:srgbClr val="FFFFFF"/>
                </a:solidFill>
              </a:rPr>
              <a:t> → </a:t>
            </a:r>
            <a:r>
              <a:rPr>
                <a:solidFill>
                  <a:srgbClr val="D4AF37"/>
                </a:solidFill>
              </a:rPr>
              <a:t>след</a:t>
            </a:r>
            <a:r>
              <a:rPr>
                <a:solidFill>
                  <a:srgbClr val="FFFFFF"/>
                </a:solidFill>
              </a:rPr>
              <a:t> лёгкости, </a:t>
            </a:r>
            <a:r>
              <a:rPr>
                <a:solidFill>
                  <a:srgbClr val="D4AF37"/>
                </a:solidFill>
              </a:rPr>
              <a:t>Вдохновение</a:t>
            </a:r>
            <a:r>
              <a:rPr>
                <a:solidFill>
                  <a:srgbClr val="FFFFFF"/>
                </a:solidFill>
              </a:rPr>
              <a:t> → </a:t>
            </a:r>
            <a:r>
              <a:rPr>
                <a:solidFill>
                  <a:srgbClr val="D4AF37"/>
                </a:solidFill>
              </a:rPr>
              <a:t>след</a:t>
            </a:r>
            <a:r>
              <a:rPr>
                <a:solidFill>
                  <a:srgbClr val="FFFFFF"/>
                </a:solidFill>
              </a:rPr>
              <a:t> вдохновения</a:t>
            </a:r>
          </a:p>
        </p:txBody>
      </p:sp>
      <p:sp>
        <p:nvSpPr>
          <p:cNvPr id="6" name="Teaching card"/>
          <p:cNvSpPr/>
          <p:nvPr/>
        </p:nvSpPr>
        <p:spPr>
          <a:xfrm>
            <a:off x="4114800" y="2391664"/>
            <a:ext cx="7589520" cy="897128"/>
          </a:xfrm>
          <a:prstGeom prst="rect">
            <a:avLst/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Inset gold outline"/>
          <p:cNvSpPr/>
          <p:nvPr/>
        </p:nvSpPr>
        <p:spPr>
          <a:xfrm>
            <a:off x="4121150" y="2398014"/>
            <a:ext cx="7576820" cy="884428"/>
          </a:xfrm>
          <a:prstGeom prst="rect">
            <a:avLst/>
          </a:prstGeom>
          <a:solidFill>
            <a:srgbClr val="282828"/>
          </a:solidFill>
          <a:ln w="63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0" y="2531364"/>
            <a:ext cx="7589520" cy="588264"/>
          </a:xfrm>
          <a:prstGeom prst="rect">
            <a:avLst/>
          </a:prstGeom>
          <a:noFill/>
        </p:spPr>
        <p:txBody>
          <a:bodyPr wrap="none" lIns="177800" rIns="177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Интеллект → интеллектуальный </a:t>
            </a:r>
            <a:r>
              <a:rPr>
                <a:solidFill>
                  <a:srgbClr val="D4AF37"/>
                </a:solidFill>
              </a:rPr>
              <a:t>след</a:t>
            </a:r>
            <a:r>
              <a:rPr>
                <a:solidFill>
                  <a:srgbClr val="FFFFFF"/>
                </a:solidFill>
              </a:rPr>
              <a:t>, Индивидуальность → </a:t>
            </a:r>
            <a:r>
              <a:rPr>
                <a:solidFill>
                  <a:srgbClr val="D4AF37"/>
                </a:solidFill>
              </a:rPr>
              <a:t>след</a:t>
            </a:r>
          </a:p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уникальности</a:t>
            </a:r>
          </a:p>
        </p:txBody>
      </p:sp>
      <p:sp>
        <p:nvSpPr>
          <p:cNvPr id="9" name="Bottom page-number mask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0" y="304800"/>
            <a:ext cx="7589520" cy="986536"/>
          </a:xfrm>
          <a:prstGeom prst="rect">
            <a:avLst/>
          </a:prstGeom>
          <a:noFill/>
        </p:spPr>
        <p:txBody>
          <a:bodyPr wrap="none" lIns="25400" rIns="25400" tIns="0" bIns="0">
            <a:spAutoFit/>
          </a:bodyPr>
          <a:lstStyle/>
          <a:p>
            <a:pPr>
              <a:lnSpc>
                <a:spcPts val="3968"/>
              </a:lnSpc>
              <a:spcBef>
                <a:spcPts val="0"/>
              </a:spcBef>
              <a:spcAft>
                <a:spcPts val="0"/>
              </a:spcAft>
              <a:defRPr sz="3200" i="0">
                <a:solidFill>
                  <a:srgbClr val="D4AF37"/>
                </a:solidFill>
                <a:latin typeface="Georgia"/>
              </a:defRPr>
            </a:pPr>
            <a:r>
              <a:rPr>
                <a:solidFill>
                  <a:srgbClr val="D4AF37"/>
                </a:solidFill>
              </a:rPr>
              <a:t>Почему одной красоты</a:t>
            </a:r>
          </a:p>
          <a:p>
            <a:pPr>
              <a:lnSpc>
                <a:spcPts val="3968"/>
              </a:lnSpc>
              <a:spcBef>
                <a:spcPts val="0"/>
              </a:spcBef>
              <a:spcAft>
                <a:spcPts val="0"/>
              </a:spcAft>
              <a:defRPr sz="3200" i="0">
                <a:solidFill>
                  <a:srgbClr val="D4AF37"/>
                </a:solidFill>
                <a:latin typeface="Georgia"/>
              </a:defRPr>
            </a:pPr>
            <a:r>
              <a:rPr>
                <a:solidFill>
                  <a:srgbClr val="D4AF37"/>
                </a:solidFill>
              </a:rPr>
              <a:t>недостаточно.</a:t>
            </a:r>
          </a:p>
        </p:txBody>
      </p:sp>
      <p:sp>
        <p:nvSpPr>
          <p:cNvPr id="3" name="Teaching card"/>
          <p:cNvSpPr/>
          <p:nvPr/>
        </p:nvSpPr>
        <p:spPr>
          <a:xfrm>
            <a:off x="4114800" y="1651000"/>
            <a:ext cx="7589520" cy="613664"/>
          </a:xfrm>
          <a:prstGeom prst="rect">
            <a:avLst/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Inset gold outline"/>
          <p:cNvSpPr/>
          <p:nvPr/>
        </p:nvSpPr>
        <p:spPr>
          <a:xfrm>
            <a:off x="4121150" y="1657350"/>
            <a:ext cx="7576820" cy="600964"/>
          </a:xfrm>
          <a:prstGeom prst="rect">
            <a:avLst/>
          </a:prstGeom>
          <a:solidFill>
            <a:srgbClr val="282828"/>
          </a:solidFill>
          <a:ln w="63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0" y="1790700"/>
            <a:ext cx="7589520" cy="304800"/>
          </a:xfrm>
          <a:prstGeom prst="rect">
            <a:avLst/>
          </a:prstGeom>
          <a:noFill/>
        </p:spPr>
        <p:txBody>
          <a:bodyPr wrap="none" lIns="177800" rIns="177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Эстетика → эстетический </a:t>
            </a:r>
            <a:r>
              <a:rPr>
                <a:solidFill>
                  <a:srgbClr val="D4AF37"/>
                </a:solidFill>
              </a:rPr>
              <a:t>след</a:t>
            </a:r>
            <a:r>
              <a:rPr>
                <a:solidFill>
                  <a:srgbClr val="FFFFFF"/>
                </a:solidFill>
              </a:rPr>
              <a:t>, Достоинство → </a:t>
            </a:r>
            <a:r>
              <a:rPr>
                <a:solidFill>
                  <a:srgbClr val="D4AF37"/>
                </a:solidFill>
              </a:rPr>
              <a:t>след</a:t>
            </a:r>
            <a:r>
              <a:rPr>
                <a:solidFill>
                  <a:srgbClr val="FFFFFF"/>
                </a:solidFill>
              </a:rPr>
              <a:t> уважения</a:t>
            </a:r>
          </a:p>
        </p:txBody>
      </p:sp>
      <p:sp>
        <p:nvSpPr>
          <p:cNvPr id="6" name="Teaching card"/>
          <p:cNvSpPr/>
          <p:nvPr/>
        </p:nvSpPr>
        <p:spPr>
          <a:xfrm>
            <a:off x="4114800" y="2391664"/>
            <a:ext cx="7589520" cy="613664"/>
          </a:xfrm>
          <a:prstGeom prst="rect">
            <a:avLst/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Inset gold outline"/>
          <p:cNvSpPr/>
          <p:nvPr/>
        </p:nvSpPr>
        <p:spPr>
          <a:xfrm>
            <a:off x="4121150" y="2398014"/>
            <a:ext cx="7576820" cy="600964"/>
          </a:xfrm>
          <a:prstGeom prst="rect">
            <a:avLst/>
          </a:prstGeom>
          <a:solidFill>
            <a:srgbClr val="282828"/>
          </a:solidFill>
          <a:ln w="63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0" y="2531364"/>
            <a:ext cx="7589520" cy="304800"/>
          </a:xfrm>
          <a:prstGeom prst="rect">
            <a:avLst/>
          </a:prstGeom>
          <a:noFill/>
        </p:spPr>
        <p:txBody>
          <a:bodyPr wrap="none" lIns="177800" rIns="177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Контраст → </a:t>
            </a:r>
            <a:r>
              <a:rPr>
                <a:solidFill>
                  <a:srgbClr val="D4AF37"/>
                </a:solidFill>
              </a:rPr>
              <a:t>след</a:t>
            </a:r>
            <a:r>
              <a:rPr>
                <a:solidFill>
                  <a:srgbClr val="FFFFFF"/>
                </a:solidFill>
              </a:rPr>
              <a:t> новизны</a:t>
            </a:r>
          </a:p>
        </p:txBody>
      </p:sp>
      <p:sp>
        <p:nvSpPr>
          <p:cNvPr id="9" name="Bottom page-number mask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0" y="304800"/>
            <a:ext cx="7589520" cy="986536"/>
          </a:xfrm>
          <a:prstGeom prst="rect">
            <a:avLst/>
          </a:prstGeom>
          <a:noFill/>
        </p:spPr>
        <p:txBody>
          <a:bodyPr wrap="none" lIns="25400" rIns="25400" tIns="0" bIns="0">
            <a:spAutoFit/>
          </a:bodyPr>
          <a:lstStyle/>
          <a:p>
            <a:pPr>
              <a:lnSpc>
                <a:spcPts val="3968"/>
              </a:lnSpc>
              <a:spcBef>
                <a:spcPts val="0"/>
              </a:spcBef>
              <a:spcAft>
                <a:spcPts val="0"/>
              </a:spcAft>
              <a:defRPr sz="3200" i="0">
                <a:solidFill>
                  <a:srgbClr val="D4AF37"/>
                </a:solidFill>
                <a:latin typeface="Georgia"/>
              </a:defRPr>
            </a:pPr>
            <a:r>
              <a:rPr>
                <a:solidFill>
                  <a:srgbClr val="D4AF37"/>
                </a:solidFill>
              </a:rPr>
              <a:t>Почему одной красоты</a:t>
            </a:r>
          </a:p>
          <a:p>
            <a:pPr>
              <a:lnSpc>
                <a:spcPts val="3968"/>
              </a:lnSpc>
              <a:spcBef>
                <a:spcPts val="0"/>
              </a:spcBef>
              <a:spcAft>
                <a:spcPts val="0"/>
              </a:spcAft>
              <a:defRPr sz="3200" i="0">
                <a:solidFill>
                  <a:srgbClr val="D4AF37"/>
                </a:solidFill>
                <a:latin typeface="Georgia"/>
              </a:defRPr>
            </a:pPr>
            <a:r>
              <a:rPr>
                <a:solidFill>
                  <a:srgbClr val="D4AF37"/>
                </a:solidFill>
              </a:rPr>
              <a:t>недостаточно.</a:t>
            </a:r>
          </a:p>
        </p:txBody>
      </p:sp>
      <p:sp>
        <p:nvSpPr>
          <p:cNvPr id="3" name="Teaching card"/>
          <p:cNvSpPr/>
          <p:nvPr/>
        </p:nvSpPr>
        <p:spPr>
          <a:xfrm>
            <a:off x="4114800" y="1651000"/>
            <a:ext cx="7589520" cy="897128"/>
          </a:xfrm>
          <a:prstGeom prst="rect">
            <a:avLst/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Inset gold outline"/>
          <p:cNvSpPr/>
          <p:nvPr/>
        </p:nvSpPr>
        <p:spPr>
          <a:xfrm>
            <a:off x="4121150" y="1657350"/>
            <a:ext cx="7576820" cy="884428"/>
          </a:xfrm>
          <a:prstGeom prst="rect">
            <a:avLst/>
          </a:prstGeom>
          <a:solidFill>
            <a:srgbClr val="282828"/>
          </a:solidFill>
          <a:ln w="63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0" y="1790700"/>
            <a:ext cx="7589520" cy="588264"/>
          </a:xfrm>
          <a:prstGeom prst="rect">
            <a:avLst/>
          </a:prstGeom>
          <a:noFill/>
        </p:spPr>
        <p:txBody>
          <a:bodyPr wrap="none" lIns="177800" rIns="177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И вот теперь становится понятно, почему одной красоты</a:t>
            </a:r>
          </a:p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недостаточно.</a:t>
            </a:r>
          </a:p>
        </p:txBody>
      </p:sp>
      <p:sp>
        <p:nvSpPr>
          <p:cNvPr id="6" name="Teaching card"/>
          <p:cNvSpPr/>
          <p:nvPr/>
        </p:nvSpPr>
        <p:spPr>
          <a:xfrm>
            <a:off x="4114800" y="2675128"/>
            <a:ext cx="7589520" cy="613664"/>
          </a:xfrm>
          <a:prstGeom prst="rect">
            <a:avLst/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Inset gold outline"/>
          <p:cNvSpPr/>
          <p:nvPr/>
        </p:nvSpPr>
        <p:spPr>
          <a:xfrm>
            <a:off x="4121150" y="2681478"/>
            <a:ext cx="7576820" cy="600964"/>
          </a:xfrm>
          <a:prstGeom prst="rect">
            <a:avLst/>
          </a:prstGeom>
          <a:solidFill>
            <a:srgbClr val="282828"/>
          </a:solidFill>
          <a:ln w="63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0" y="2814828"/>
            <a:ext cx="7589520" cy="304800"/>
          </a:xfrm>
          <a:prstGeom prst="rect">
            <a:avLst/>
          </a:prstGeom>
          <a:noFill/>
        </p:spPr>
        <p:txBody>
          <a:bodyPr wrap="none" lIns="177800" rIns="177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Красота тоже способна оставить </a:t>
            </a:r>
            <a:r>
              <a:rPr>
                <a:solidFill>
                  <a:srgbClr val="D4AF37"/>
                </a:solidFill>
              </a:rPr>
              <a:t>след</a:t>
            </a:r>
            <a:r>
              <a:rPr>
                <a:solidFill>
                  <a:srgbClr val="FFFFFF"/>
                </a:solidFill>
              </a:rPr>
              <a:t>. Но это один </a:t>
            </a:r>
            <a:r>
              <a:rPr>
                <a:solidFill>
                  <a:srgbClr val="D4AF37"/>
                </a:solidFill>
              </a:rPr>
              <a:t>след</a:t>
            </a:r>
            <a:r>
              <a:rPr>
                <a:solidFill>
                  <a:srgbClr val="FFFFFF"/>
                </a:solidFill>
              </a:rPr>
              <a:t>.</a:t>
            </a:r>
          </a:p>
        </p:txBody>
      </p:sp>
      <p:sp>
        <p:nvSpPr>
          <p:cNvPr id="9" name="Bottom page-number mask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0" y="304800"/>
            <a:ext cx="7589520" cy="986536"/>
          </a:xfrm>
          <a:prstGeom prst="rect">
            <a:avLst/>
          </a:prstGeom>
          <a:noFill/>
        </p:spPr>
        <p:txBody>
          <a:bodyPr wrap="none" lIns="25400" rIns="25400" tIns="0" bIns="0">
            <a:spAutoFit/>
          </a:bodyPr>
          <a:lstStyle/>
          <a:p>
            <a:pPr>
              <a:lnSpc>
                <a:spcPts val="3968"/>
              </a:lnSpc>
              <a:spcBef>
                <a:spcPts val="0"/>
              </a:spcBef>
              <a:spcAft>
                <a:spcPts val="0"/>
              </a:spcAft>
              <a:defRPr sz="3200" i="0">
                <a:solidFill>
                  <a:srgbClr val="D4AF37"/>
                </a:solidFill>
                <a:latin typeface="Georgia"/>
              </a:defRPr>
            </a:pPr>
            <a:r>
              <a:rPr>
                <a:solidFill>
                  <a:srgbClr val="D4AF37"/>
                </a:solidFill>
              </a:rPr>
              <a:t>Совершенно другой</a:t>
            </a:r>
          </a:p>
          <a:p>
            <a:pPr>
              <a:lnSpc>
                <a:spcPts val="3968"/>
              </a:lnSpc>
              <a:spcBef>
                <a:spcPts val="0"/>
              </a:spcBef>
              <a:spcAft>
                <a:spcPts val="0"/>
              </a:spcAft>
              <a:defRPr sz="3200" i="0">
                <a:solidFill>
                  <a:srgbClr val="D4AF37"/>
                </a:solidFill>
                <a:latin typeface="Georgia"/>
              </a:defRPr>
            </a:pPr>
            <a:r>
              <a:rPr>
                <a:solidFill>
                  <a:srgbClr val="D4AF37"/>
                </a:solidFill>
              </a:rPr>
              <a:t>объём впечатления.</a:t>
            </a:r>
          </a:p>
        </p:txBody>
      </p:sp>
      <p:sp>
        <p:nvSpPr>
          <p:cNvPr id="3" name="Teaching card"/>
          <p:cNvSpPr/>
          <p:nvPr/>
        </p:nvSpPr>
        <p:spPr>
          <a:xfrm>
            <a:off x="4114800" y="1651000"/>
            <a:ext cx="7589520" cy="897128"/>
          </a:xfrm>
          <a:prstGeom prst="rect">
            <a:avLst/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Inset gold outline"/>
          <p:cNvSpPr/>
          <p:nvPr/>
        </p:nvSpPr>
        <p:spPr>
          <a:xfrm>
            <a:off x="4121150" y="1657350"/>
            <a:ext cx="7576820" cy="884428"/>
          </a:xfrm>
          <a:prstGeom prst="rect">
            <a:avLst/>
          </a:prstGeom>
          <a:solidFill>
            <a:srgbClr val="282828"/>
          </a:solidFill>
          <a:ln w="63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0" y="1790700"/>
            <a:ext cx="7589520" cy="588264"/>
          </a:xfrm>
          <a:prstGeom prst="rect">
            <a:avLst/>
          </a:prstGeom>
          <a:noFill/>
        </p:spPr>
        <p:txBody>
          <a:bodyPr wrap="none" lIns="177800" rIns="177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А теперь представьте женщину, после которой мужчина</a:t>
            </a:r>
          </a:p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одновременно уносит:</a:t>
            </a:r>
          </a:p>
        </p:txBody>
      </p:sp>
      <p:sp>
        <p:nvSpPr>
          <p:cNvPr id="6" name="Teaching card"/>
          <p:cNvSpPr/>
          <p:nvPr/>
        </p:nvSpPr>
        <p:spPr>
          <a:xfrm>
            <a:off x="4114800" y="2675128"/>
            <a:ext cx="7589520" cy="897128"/>
          </a:xfrm>
          <a:prstGeom prst="rect">
            <a:avLst/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Inset gold outline"/>
          <p:cNvSpPr/>
          <p:nvPr/>
        </p:nvSpPr>
        <p:spPr>
          <a:xfrm>
            <a:off x="4121150" y="2681478"/>
            <a:ext cx="7576820" cy="884428"/>
          </a:xfrm>
          <a:prstGeom prst="rect">
            <a:avLst/>
          </a:prstGeom>
          <a:solidFill>
            <a:srgbClr val="282828"/>
          </a:solidFill>
          <a:ln w="63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0" y="2814828"/>
            <a:ext cx="7589520" cy="588264"/>
          </a:xfrm>
          <a:prstGeom prst="rect">
            <a:avLst/>
          </a:prstGeom>
          <a:noFill/>
        </p:spPr>
        <p:txBody>
          <a:bodyPr wrap="none" lIns="177800" rIns="177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восхищение, интерес, </a:t>
            </a:r>
            <a:r>
              <a:rPr>
                <a:solidFill>
                  <a:srgbClr val="D4AF37"/>
                </a:solidFill>
              </a:rPr>
              <a:t>лёгкость</a:t>
            </a:r>
            <a:r>
              <a:rPr>
                <a:solidFill>
                  <a:srgbClr val="FFFFFF"/>
                </a:solidFill>
              </a:rPr>
              <a:t>, </a:t>
            </a:r>
            <a:r>
              <a:rPr>
                <a:solidFill>
                  <a:srgbClr val="D4AF37"/>
                </a:solidFill>
              </a:rPr>
              <a:t>уважение</a:t>
            </a:r>
            <a:r>
              <a:rPr>
                <a:solidFill>
                  <a:srgbClr val="FFFFFF"/>
                </a:solidFill>
              </a:rPr>
              <a:t>, любопытство,</a:t>
            </a:r>
          </a:p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D4AF37"/>
                </a:solidFill>
              </a:rPr>
              <a:t>вдохновение</a:t>
            </a:r>
            <a:r>
              <a:rPr>
                <a:solidFill>
                  <a:srgbClr val="FFFFFF"/>
                </a:solidFill>
              </a:rPr>
              <a:t>, тепло,</a:t>
            </a:r>
          </a:p>
        </p:txBody>
      </p:sp>
      <p:sp>
        <p:nvSpPr>
          <p:cNvPr id="9" name="Bottom page-number mask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0" y="304800"/>
            <a:ext cx="7589520" cy="986536"/>
          </a:xfrm>
          <a:prstGeom prst="rect">
            <a:avLst/>
          </a:prstGeom>
          <a:noFill/>
        </p:spPr>
        <p:txBody>
          <a:bodyPr wrap="none" lIns="25400" rIns="25400" tIns="0" bIns="0">
            <a:spAutoFit/>
          </a:bodyPr>
          <a:lstStyle/>
          <a:p>
            <a:pPr>
              <a:lnSpc>
                <a:spcPts val="3968"/>
              </a:lnSpc>
              <a:spcBef>
                <a:spcPts val="0"/>
              </a:spcBef>
              <a:spcAft>
                <a:spcPts val="0"/>
              </a:spcAft>
              <a:defRPr sz="3200" i="0">
                <a:solidFill>
                  <a:srgbClr val="D4AF37"/>
                </a:solidFill>
                <a:latin typeface="Georgia"/>
              </a:defRPr>
            </a:pPr>
            <a:r>
              <a:rPr>
                <a:solidFill>
                  <a:srgbClr val="D4AF37"/>
                </a:solidFill>
              </a:rPr>
              <a:t>Совершенно другой</a:t>
            </a:r>
          </a:p>
          <a:p>
            <a:pPr>
              <a:lnSpc>
                <a:spcPts val="3968"/>
              </a:lnSpc>
              <a:spcBef>
                <a:spcPts val="0"/>
              </a:spcBef>
              <a:spcAft>
                <a:spcPts val="0"/>
              </a:spcAft>
              <a:defRPr sz="3200" i="0">
                <a:solidFill>
                  <a:srgbClr val="D4AF37"/>
                </a:solidFill>
                <a:latin typeface="Georgia"/>
              </a:defRPr>
            </a:pPr>
            <a:r>
              <a:rPr>
                <a:solidFill>
                  <a:srgbClr val="D4AF37"/>
                </a:solidFill>
              </a:rPr>
              <a:t>объём впечатления.</a:t>
            </a:r>
          </a:p>
        </p:txBody>
      </p:sp>
      <p:sp>
        <p:nvSpPr>
          <p:cNvPr id="3" name="Teaching card"/>
          <p:cNvSpPr/>
          <p:nvPr/>
        </p:nvSpPr>
        <p:spPr>
          <a:xfrm>
            <a:off x="4114800" y="1651000"/>
            <a:ext cx="7589520" cy="613664"/>
          </a:xfrm>
          <a:prstGeom prst="rect">
            <a:avLst/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Inset gold outline"/>
          <p:cNvSpPr/>
          <p:nvPr/>
        </p:nvSpPr>
        <p:spPr>
          <a:xfrm>
            <a:off x="4121150" y="1657350"/>
            <a:ext cx="7576820" cy="600964"/>
          </a:xfrm>
          <a:prstGeom prst="rect">
            <a:avLst/>
          </a:prstGeom>
          <a:solidFill>
            <a:srgbClr val="282828"/>
          </a:solidFill>
          <a:ln w="63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0" y="1790700"/>
            <a:ext cx="7589520" cy="304800"/>
          </a:xfrm>
          <a:prstGeom prst="rect">
            <a:avLst/>
          </a:prstGeom>
          <a:noFill/>
        </p:spPr>
        <p:txBody>
          <a:bodyPr wrap="none" lIns="177800" rIns="177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яркое воспоминание.</a:t>
            </a:r>
          </a:p>
        </p:txBody>
      </p:sp>
      <p:sp>
        <p:nvSpPr>
          <p:cNvPr id="6" name="Teaching card"/>
          <p:cNvSpPr/>
          <p:nvPr/>
        </p:nvSpPr>
        <p:spPr>
          <a:xfrm>
            <a:off x="4114800" y="2391664"/>
            <a:ext cx="7589520" cy="613664"/>
          </a:xfrm>
          <a:prstGeom prst="rect">
            <a:avLst/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Inset gold outline"/>
          <p:cNvSpPr/>
          <p:nvPr/>
        </p:nvSpPr>
        <p:spPr>
          <a:xfrm>
            <a:off x="4121150" y="2398014"/>
            <a:ext cx="7576820" cy="600964"/>
          </a:xfrm>
          <a:prstGeom prst="rect">
            <a:avLst/>
          </a:prstGeom>
          <a:solidFill>
            <a:srgbClr val="282828"/>
          </a:solidFill>
          <a:ln w="63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0" y="2531364"/>
            <a:ext cx="7589520" cy="304800"/>
          </a:xfrm>
          <a:prstGeom prst="rect">
            <a:avLst/>
          </a:prstGeom>
          <a:noFill/>
        </p:spPr>
        <p:txBody>
          <a:bodyPr wrap="none" lIns="177800" rIns="177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Это уже совершенно другой объём впечатления.</a:t>
            </a:r>
          </a:p>
        </p:txBody>
      </p:sp>
      <p:sp>
        <p:nvSpPr>
          <p:cNvPr id="9" name="Bottom page-number mask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0" y="304800"/>
            <a:ext cx="7589520" cy="482600"/>
          </a:xfrm>
          <a:prstGeom prst="rect">
            <a:avLst/>
          </a:prstGeom>
          <a:noFill/>
        </p:spPr>
        <p:txBody>
          <a:bodyPr wrap="none" lIns="25400" rIns="25400" tIns="0" bIns="0">
            <a:spAutoFit/>
          </a:bodyPr>
          <a:lstStyle/>
          <a:p>
            <a:pPr>
              <a:lnSpc>
                <a:spcPts val="3968"/>
              </a:lnSpc>
              <a:spcBef>
                <a:spcPts val="0"/>
              </a:spcBef>
              <a:spcAft>
                <a:spcPts val="0"/>
              </a:spcAft>
              <a:defRPr sz="3200" i="0">
                <a:solidFill>
                  <a:srgbClr val="D4AF37"/>
                </a:solidFill>
                <a:latin typeface="Georgia"/>
              </a:defRPr>
            </a:pPr>
            <a:r>
              <a:rPr>
                <a:solidFill>
                  <a:srgbClr val="D4AF37"/>
                </a:solidFill>
              </a:rPr>
              <a:t>Закон многогранности</a:t>
            </a:r>
          </a:p>
        </p:txBody>
      </p:sp>
      <p:sp>
        <p:nvSpPr>
          <p:cNvPr id="3" name="Teaching card"/>
          <p:cNvSpPr/>
          <p:nvPr/>
        </p:nvSpPr>
        <p:spPr>
          <a:xfrm>
            <a:off x="4114800" y="1651000"/>
            <a:ext cx="7589520" cy="613664"/>
          </a:xfrm>
          <a:prstGeom prst="rect">
            <a:avLst/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Inset gold outline"/>
          <p:cNvSpPr/>
          <p:nvPr/>
        </p:nvSpPr>
        <p:spPr>
          <a:xfrm>
            <a:off x="4121150" y="1657350"/>
            <a:ext cx="7576820" cy="600964"/>
          </a:xfrm>
          <a:prstGeom prst="rect">
            <a:avLst/>
          </a:prstGeom>
          <a:solidFill>
            <a:srgbClr val="282828"/>
          </a:solidFill>
          <a:ln w="63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0" y="1790700"/>
            <a:ext cx="7589520" cy="304800"/>
          </a:xfrm>
          <a:prstGeom prst="rect">
            <a:avLst/>
          </a:prstGeom>
          <a:noFill/>
        </p:spPr>
        <p:txBody>
          <a:bodyPr wrap="none" lIns="177800" rIns="177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И это второй важнейший принцип нашей программы.</a:t>
            </a:r>
          </a:p>
        </p:txBody>
      </p:sp>
      <p:sp>
        <p:nvSpPr>
          <p:cNvPr id="6" name="Quote"/>
          <p:cNvSpPr/>
          <p:nvPr/>
        </p:nvSpPr>
        <p:spPr>
          <a:xfrm>
            <a:off x="4114800" y="5583936"/>
            <a:ext cx="7589520" cy="613664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Inset gold outline"/>
          <p:cNvSpPr/>
          <p:nvPr/>
        </p:nvSpPr>
        <p:spPr>
          <a:xfrm>
            <a:off x="4121150" y="5590286"/>
            <a:ext cx="7576820" cy="600964"/>
          </a:xfrm>
          <a:prstGeom prst="rect">
            <a:avLst/>
          </a:prstGeom>
          <a:solidFill>
            <a:srgbClr val="1A1A1A"/>
          </a:solidFill>
          <a:ln w="63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0" y="5723636"/>
            <a:ext cx="7589520" cy="304800"/>
          </a:xfrm>
          <a:prstGeom prst="rect">
            <a:avLst/>
          </a:prstGeom>
          <a:noFill/>
        </p:spPr>
        <p:txBody>
          <a:bodyPr wrap="none" lIns="177800" rIns="177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1">
                <a:solidFill>
                  <a:srgbClr val="D4AF37"/>
                </a:solidFill>
                <a:latin typeface="Georgia"/>
              </a:defRPr>
            </a:pPr>
            <a:r>
              <a:rPr>
                <a:solidFill>
                  <a:srgbClr val="D4AF37"/>
                </a:solidFill>
              </a:rPr>
              <a:t>Чем больше раскрытых граней — тем объёмнее образ женщины.</a:t>
            </a:r>
          </a:p>
        </p:txBody>
      </p:sp>
      <p:sp>
        <p:nvSpPr>
          <p:cNvPr id="9" name="Bottom page-number mask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0" y="304800"/>
            <a:ext cx="7589520" cy="482600"/>
          </a:xfrm>
          <a:prstGeom prst="rect">
            <a:avLst/>
          </a:prstGeom>
          <a:noFill/>
        </p:spPr>
        <p:txBody>
          <a:bodyPr wrap="none" lIns="25400" rIns="25400" tIns="0" bIns="0">
            <a:spAutoFit/>
          </a:bodyPr>
          <a:lstStyle/>
          <a:p>
            <a:pPr>
              <a:lnSpc>
                <a:spcPts val="3968"/>
              </a:lnSpc>
              <a:spcBef>
                <a:spcPts val="0"/>
              </a:spcBef>
              <a:spcAft>
                <a:spcPts val="0"/>
              </a:spcAft>
              <a:defRPr sz="3200" i="0">
                <a:solidFill>
                  <a:srgbClr val="D4AF37"/>
                </a:solidFill>
                <a:latin typeface="Georgia"/>
              </a:defRPr>
            </a:pPr>
            <a:r>
              <a:rPr>
                <a:solidFill>
                  <a:srgbClr val="D4AF37"/>
                </a:solidFill>
              </a:rPr>
              <a:t>Закон многогранности</a:t>
            </a:r>
          </a:p>
        </p:txBody>
      </p:sp>
      <p:sp>
        <p:nvSpPr>
          <p:cNvPr id="3" name="Teaching card"/>
          <p:cNvSpPr/>
          <p:nvPr/>
        </p:nvSpPr>
        <p:spPr>
          <a:xfrm>
            <a:off x="4114800" y="1651000"/>
            <a:ext cx="7589520" cy="613664"/>
          </a:xfrm>
          <a:prstGeom prst="rect">
            <a:avLst/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Inset gold outline"/>
          <p:cNvSpPr/>
          <p:nvPr/>
        </p:nvSpPr>
        <p:spPr>
          <a:xfrm>
            <a:off x="4121150" y="1657350"/>
            <a:ext cx="7576820" cy="600964"/>
          </a:xfrm>
          <a:prstGeom prst="rect">
            <a:avLst/>
          </a:prstGeom>
          <a:solidFill>
            <a:srgbClr val="282828"/>
          </a:solidFill>
          <a:ln w="63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0" y="1790700"/>
            <a:ext cx="7589520" cy="304800"/>
          </a:xfrm>
          <a:prstGeom prst="rect">
            <a:avLst/>
          </a:prstGeom>
          <a:noFill/>
        </p:spPr>
        <p:txBody>
          <a:bodyPr wrap="none" lIns="177800" rIns="177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Незабываемость редко создаётся одной суперспособностью.</a:t>
            </a:r>
          </a:p>
        </p:txBody>
      </p:sp>
      <p:sp>
        <p:nvSpPr>
          <p:cNvPr id="6" name="Teaching card"/>
          <p:cNvSpPr/>
          <p:nvPr/>
        </p:nvSpPr>
        <p:spPr>
          <a:xfrm>
            <a:off x="4114800" y="2391664"/>
            <a:ext cx="7589520" cy="613664"/>
          </a:xfrm>
          <a:prstGeom prst="rect">
            <a:avLst/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Inset gold outline"/>
          <p:cNvSpPr/>
          <p:nvPr/>
        </p:nvSpPr>
        <p:spPr>
          <a:xfrm>
            <a:off x="4121150" y="2398014"/>
            <a:ext cx="7576820" cy="600964"/>
          </a:xfrm>
          <a:prstGeom prst="rect">
            <a:avLst/>
          </a:prstGeom>
          <a:solidFill>
            <a:srgbClr val="282828"/>
          </a:solidFill>
          <a:ln w="63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0" y="2531364"/>
            <a:ext cx="7589520" cy="304800"/>
          </a:xfrm>
          <a:prstGeom prst="rect">
            <a:avLst/>
          </a:prstGeom>
          <a:noFill/>
        </p:spPr>
        <p:txBody>
          <a:bodyPr wrap="none" lIns="177800" rIns="177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Она создаётся </a:t>
            </a:r>
            <a:r>
              <a:rPr>
                <a:solidFill>
                  <a:srgbClr val="D4AF37"/>
                </a:solidFill>
              </a:rPr>
              <a:t>комбинацией</a:t>
            </a:r>
            <a:r>
              <a:rPr>
                <a:solidFill>
                  <a:srgbClr val="FFFFFF"/>
                </a:solidFill>
              </a:rPr>
              <a:t>.</a:t>
            </a:r>
          </a:p>
        </p:txBody>
      </p:sp>
      <p:sp>
        <p:nvSpPr>
          <p:cNvPr id="9" name="Bottom page-number mask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0" y="304800"/>
            <a:ext cx="7589520" cy="482600"/>
          </a:xfrm>
          <a:prstGeom prst="rect">
            <a:avLst/>
          </a:prstGeom>
          <a:noFill/>
        </p:spPr>
        <p:txBody>
          <a:bodyPr wrap="none" lIns="25400" rIns="25400" tIns="0" bIns="0">
            <a:spAutoFit/>
          </a:bodyPr>
          <a:lstStyle/>
          <a:p>
            <a:pPr>
              <a:lnSpc>
                <a:spcPts val="3968"/>
              </a:lnSpc>
              <a:spcBef>
                <a:spcPts val="0"/>
              </a:spcBef>
              <a:spcAft>
                <a:spcPts val="0"/>
              </a:spcAft>
              <a:defRPr sz="3200" i="0">
                <a:solidFill>
                  <a:srgbClr val="D4AF37"/>
                </a:solidFill>
                <a:latin typeface="Georgia"/>
              </a:defRPr>
            </a:pPr>
            <a:r>
              <a:rPr>
                <a:solidFill>
                  <a:srgbClr val="D4AF37"/>
                </a:solidFill>
              </a:rPr>
              <a:t>Только одна грань</a:t>
            </a:r>
          </a:p>
        </p:txBody>
      </p:sp>
      <p:sp>
        <p:nvSpPr>
          <p:cNvPr id="3" name="Teaching card"/>
          <p:cNvSpPr/>
          <p:nvPr/>
        </p:nvSpPr>
        <p:spPr>
          <a:xfrm>
            <a:off x="4114800" y="1651000"/>
            <a:ext cx="7589520" cy="897128"/>
          </a:xfrm>
          <a:prstGeom prst="rect">
            <a:avLst/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Inset gold outline"/>
          <p:cNvSpPr/>
          <p:nvPr/>
        </p:nvSpPr>
        <p:spPr>
          <a:xfrm>
            <a:off x="4121150" y="1657350"/>
            <a:ext cx="7576820" cy="884428"/>
          </a:xfrm>
          <a:prstGeom prst="rect">
            <a:avLst/>
          </a:prstGeom>
          <a:solidFill>
            <a:srgbClr val="282828"/>
          </a:solidFill>
          <a:ln w="63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0" y="1790700"/>
            <a:ext cx="7589520" cy="588264"/>
          </a:xfrm>
          <a:prstGeom prst="rect">
            <a:avLst/>
          </a:prstGeom>
          <a:noFill/>
        </p:spPr>
        <p:txBody>
          <a:bodyPr wrap="none" lIns="177800" rIns="177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Потому что если женщина только красивая — мужчина достаточно</a:t>
            </a:r>
          </a:p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быстро привыкает к красоте.</a:t>
            </a:r>
          </a:p>
        </p:txBody>
      </p:sp>
      <p:sp>
        <p:nvSpPr>
          <p:cNvPr id="6" name="Teaching card"/>
          <p:cNvSpPr/>
          <p:nvPr/>
        </p:nvSpPr>
        <p:spPr>
          <a:xfrm>
            <a:off x="4114800" y="2675128"/>
            <a:ext cx="7589520" cy="897128"/>
          </a:xfrm>
          <a:prstGeom prst="rect">
            <a:avLst/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Inset gold outline"/>
          <p:cNvSpPr/>
          <p:nvPr/>
        </p:nvSpPr>
        <p:spPr>
          <a:xfrm>
            <a:off x="4121150" y="2681478"/>
            <a:ext cx="7576820" cy="884428"/>
          </a:xfrm>
          <a:prstGeom prst="rect">
            <a:avLst/>
          </a:prstGeom>
          <a:solidFill>
            <a:srgbClr val="282828"/>
          </a:solidFill>
          <a:ln w="63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0" y="2814828"/>
            <a:ext cx="7589520" cy="588264"/>
          </a:xfrm>
          <a:prstGeom prst="rect">
            <a:avLst/>
          </a:prstGeom>
          <a:noFill/>
        </p:spPr>
        <p:txBody>
          <a:bodyPr wrap="none" lIns="177800" rIns="177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Если она только лёгкая — прекрасно, но этого может быть мало.</a:t>
            </a:r>
          </a:p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Только умная — тоже одна грань.</a:t>
            </a:r>
          </a:p>
        </p:txBody>
      </p:sp>
      <p:sp>
        <p:nvSpPr>
          <p:cNvPr id="9" name="Bottom page-number mask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0" y="304800"/>
            <a:ext cx="7589520" cy="482600"/>
          </a:xfrm>
          <a:prstGeom prst="rect">
            <a:avLst/>
          </a:prstGeom>
          <a:noFill/>
        </p:spPr>
        <p:txBody>
          <a:bodyPr wrap="none" lIns="25400" rIns="25400" tIns="0" bIns="0">
            <a:spAutoFit/>
          </a:bodyPr>
          <a:lstStyle/>
          <a:p>
            <a:pPr>
              <a:lnSpc>
                <a:spcPts val="3968"/>
              </a:lnSpc>
              <a:spcBef>
                <a:spcPts val="0"/>
              </a:spcBef>
              <a:spcAft>
                <a:spcPts val="0"/>
              </a:spcAft>
              <a:defRPr sz="3200" i="0">
                <a:solidFill>
                  <a:srgbClr val="D4AF37"/>
                </a:solidFill>
                <a:latin typeface="Georgia"/>
              </a:defRPr>
            </a:pPr>
            <a:r>
              <a:rPr>
                <a:solidFill>
                  <a:srgbClr val="D4AF37"/>
                </a:solidFill>
              </a:rPr>
              <a:t>Она создаётся комбинацией.</a:t>
            </a:r>
          </a:p>
        </p:txBody>
      </p:sp>
      <p:sp>
        <p:nvSpPr>
          <p:cNvPr id="3" name="Teaching card"/>
          <p:cNvSpPr/>
          <p:nvPr/>
        </p:nvSpPr>
        <p:spPr>
          <a:xfrm>
            <a:off x="4114800" y="1651000"/>
            <a:ext cx="7589520" cy="897128"/>
          </a:xfrm>
          <a:prstGeom prst="rect">
            <a:avLst/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Inset gold outline"/>
          <p:cNvSpPr/>
          <p:nvPr/>
        </p:nvSpPr>
        <p:spPr>
          <a:xfrm>
            <a:off x="4121150" y="1657350"/>
            <a:ext cx="7576820" cy="884428"/>
          </a:xfrm>
          <a:prstGeom prst="rect">
            <a:avLst/>
          </a:prstGeom>
          <a:solidFill>
            <a:srgbClr val="282828"/>
          </a:solidFill>
          <a:ln w="63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0" y="1790700"/>
            <a:ext cx="7589520" cy="588264"/>
          </a:xfrm>
          <a:prstGeom prst="rect">
            <a:avLst/>
          </a:prstGeom>
          <a:noFill/>
        </p:spPr>
        <p:txBody>
          <a:bodyPr wrap="none" lIns="177800" rIns="177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А теперь представьте: она лёгкая, но глубокая. Нежная, но с</a:t>
            </a:r>
          </a:p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характером.</a:t>
            </a:r>
          </a:p>
        </p:txBody>
      </p:sp>
      <p:sp>
        <p:nvSpPr>
          <p:cNvPr id="6" name="Teaching card"/>
          <p:cNvSpPr/>
          <p:nvPr/>
        </p:nvSpPr>
        <p:spPr>
          <a:xfrm>
            <a:off x="4114800" y="2675128"/>
            <a:ext cx="7589520" cy="897128"/>
          </a:xfrm>
          <a:prstGeom prst="rect">
            <a:avLst/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Inset gold outline"/>
          <p:cNvSpPr/>
          <p:nvPr/>
        </p:nvSpPr>
        <p:spPr>
          <a:xfrm>
            <a:off x="4121150" y="2681478"/>
            <a:ext cx="7576820" cy="884428"/>
          </a:xfrm>
          <a:prstGeom prst="rect">
            <a:avLst/>
          </a:prstGeom>
          <a:solidFill>
            <a:srgbClr val="282828"/>
          </a:solidFill>
          <a:ln w="63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0" y="2814828"/>
            <a:ext cx="7589520" cy="588264"/>
          </a:xfrm>
          <a:prstGeom prst="rect">
            <a:avLst/>
          </a:prstGeom>
          <a:noFill/>
        </p:spPr>
        <p:txBody>
          <a:bodyPr wrap="none" lIns="177800" rIns="177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Женственная, но со своим миром. Спокойная, но иногда</a:t>
            </a:r>
          </a:p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совершенно неожиданная.</a:t>
            </a:r>
          </a:p>
        </p:txBody>
      </p:sp>
      <p:sp>
        <p:nvSpPr>
          <p:cNvPr id="9" name="Bottom page-number mask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0" y="304800"/>
            <a:ext cx="7589520" cy="986536"/>
          </a:xfrm>
          <a:prstGeom prst="rect">
            <a:avLst/>
          </a:prstGeom>
          <a:noFill/>
        </p:spPr>
        <p:txBody>
          <a:bodyPr wrap="none" lIns="25400" rIns="25400" tIns="0" bIns="0">
            <a:spAutoFit/>
          </a:bodyPr>
          <a:lstStyle/>
          <a:p>
            <a:pPr>
              <a:lnSpc>
                <a:spcPts val="3968"/>
              </a:lnSpc>
              <a:spcBef>
                <a:spcPts val="0"/>
              </a:spcBef>
              <a:spcAft>
                <a:spcPts val="0"/>
              </a:spcAft>
              <a:defRPr sz="3200" i="0">
                <a:solidFill>
                  <a:srgbClr val="D4AF37"/>
                </a:solidFill>
                <a:latin typeface="Georgia"/>
              </a:defRPr>
            </a:pPr>
            <a:r>
              <a:rPr>
                <a:solidFill>
                  <a:srgbClr val="D4AF37"/>
                </a:solidFill>
              </a:rPr>
              <a:t>Невозможно поместить</a:t>
            </a:r>
          </a:p>
          <a:p>
            <a:pPr>
              <a:lnSpc>
                <a:spcPts val="3968"/>
              </a:lnSpc>
              <a:spcBef>
                <a:spcPts val="0"/>
              </a:spcBef>
              <a:spcAft>
                <a:spcPts val="0"/>
              </a:spcAft>
              <a:defRPr sz="3200" i="0">
                <a:solidFill>
                  <a:srgbClr val="D4AF37"/>
                </a:solidFill>
                <a:latin typeface="Georgia"/>
              </a:defRPr>
            </a:pPr>
            <a:r>
              <a:rPr>
                <a:solidFill>
                  <a:srgbClr val="D4AF37"/>
                </a:solidFill>
              </a:rPr>
              <a:t>в одну категорию</a:t>
            </a:r>
          </a:p>
        </p:txBody>
      </p:sp>
      <p:sp>
        <p:nvSpPr>
          <p:cNvPr id="3" name="Teaching card"/>
          <p:cNvSpPr/>
          <p:nvPr/>
        </p:nvSpPr>
        <p:spPr>
          <a:xfrm>
            <a:off x="4114800" y="1651000"/>
            <a:ext cx="7589520" cy="897128"/>
          </a:xfrm>
          <a:prstGeom prst="rect">
            <a:avLst/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Inset gold outline"/>
          <p:cNvSpPr/>
          <p:nvPr/>
        </p:nvSpPr>
        <p:spPr>
          <a:xfrm>
            <a:off x="4121150" y="1657350"/>
            <a:ext cx="7576820" cy="884428"/>
          </a:xfrm>
          <a:prstGeom prst="rect">
            <a:avLst/>
          </a:prstGeom>
          <a:solidFill>
            <a:srgbClr val="282828"/>
          </a:solidFill>
          <a:ln w="63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0" y="1790700"/>
            <a:ext cx="7589520" cy="588264"/>
          </a:xfrm>
          <a:prstGeom prst="rect">
            <a:avLst/>
          </a:prstGeom>
          <a:noFill/>
        </p:spPr>
        <p:txBody>
          <a:bodyPr wrap="none" lIns="177800" rIns="177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С ней можно смеяться — и через двадцать минут разговаривать о</a:t>
            </a:r>
          </a:p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вещах, о которых мужчина почти ни с кем не говорит.</a:t>
            </a:r>
          </a:p>
        </p:txBody>
      </p:sp>
      <p:sp>
        <p:nvSpPr>
          <p:cNvPr id="6" name="Quote"/>
          <p:cNvSpPr/>
          <p:nvPr/>
        </p:nvSpPr>
        <p:spPr>
          <a:xfrm>
            <a:off x="4114800" y="5300472"/>
            <a:ext cx="7589520" cy="897128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Inset gold outline"/>
          <p:cNvSpPr/>
          <p:nvPr/>
        </p:nvSpPr>
        <p:spPr>
          <a:xfrm>
            <a:off x="4121150" y="5306822"/>
            <a:ext cx="7576820" cy="884428"/>
          </a:xfrm>
          <a:prstGeom prst="rect">
            <a:avLst/>
          </a:prstGeom>
          <a:solidFill>
            <a:srgbClr val="1A1A1A"/>
          </a:solidFill>
          <a:ln w="63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0" y="5440172"/>
            <a:ext cx="7589520" cy="588264"/>
          </a:xfrm>
          <a:prstGeom prst="rect">
            <a:avLst/>
          </a:prstGeom>
          <a:noFill/>
        </p:spPr>
        <p:txBody>
          <a:bodyPr wrap="none" lIns="177800" rIns="177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1">
                <a:solidFill>
                  <a:srgbClr val="D4AF37"/>
                </a:solidFill>
                <a:latin typeface="Georgia"/>
              </a:defRPr>
            </a:pPr>
            <a:r>
              <a:rPr>
                <a:solidFill>
                  <a:srgbClr val="D4AF37"/>
                </a:solidFill>
              </a:rPr>
              <a:t>Вот такую женщину уже невозможно поместить в одну</a:t>
            </a:r>
          </a:p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1">
                <a:solidFill>
                  <a:srgbClr val="D4AF37"/>
                </a:solidFill>
                <a:latin typeface="Georgia"/>
              </a:defRPr>
            </a:pPr>
            <a:r>
              <a:rPr>
                <a:solidFill>
                  <a:srgbClr val="D4AF37"/>
                </a:solidFill>
              </a:rPr>
              <a:t>категорию.</a:t>
            </a:r>
          </a:p>
        </p:txBody>
      </p:sp>
      <p:sp>
        <p:nvSpPr>
          <p:cNvPr id="9" name="Bottom page-number mask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Ваш Кристалл незабываемости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  <dc:language>ru-RU</dc:language>
</cp:coreProperties>
</file>