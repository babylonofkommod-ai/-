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/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 Есть умные.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сексуальные. Есть интересные.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513328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sp>
        <p:nvSpPr>
          <p:cNvPr id="21" name="Photo prompt container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4114800" y="4622800"/>
            <a:ext cx="7315200" cy="3027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114800" y="5016500"/>
            <a:ext cx="7315200" cy="80670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Luxury editorial portrait of a confident woman aged 42, black silk, natural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skin, graphite interior, soft champagne rim light, refined quiet presence, no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text --ar 16:9 --style raw</a:t>
            </a:r>
          </a:p>
        </p:txBody>
      </p:sp>
      <p:sp>
        <p:nvSpPr>
          <p:cNvPr id="2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 обязательно самая красивая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женщина в комнате.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8402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9799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 сексуальная.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555491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771391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695191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 привычном понимании.</a:t>
            </a:r>
          </a:p>
        </p:txBody>
      </p:sp>
      <p:sp>
        <p:nvSpPr>
          <p:cNvPr id="2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сначала интерес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привыкание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4117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охлаждение.</a:t>
            </a:r>
          </a:p>
        </p:txBody>
      </p:sp>
      <p:sp>
        <p:nvSpPr>
          <p:cNvPr id="22" name="Author quote"/>
          <p:cNvSpPr/>
          <p:nvPr/>
        </p:nvSpPr>
        <p:spPr>
          <a:xfrm>
            <a:off x="4121150" y="4088891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114800" y="4228592"/>
            <a:ext cx="7315200" cy="617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«хорошая женщина» и «незабываемая женщина» — не одно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 же.</a:t>
            </a:r>
          </a:p>
        </p:txBody>
      </p:sp>
      <p:sp>
        <p:nvSpPr>
          <p:cNvPr id="2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даже забыть какие-то ваши слова.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513328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 запоминает себя рядом с вами.</a:t>
            </a:r>
          </a:p>
        </p:txBody>
      </p:sp>
      <p:sp>
        <p:nvSpPr>
          <p:cNvPr id="21" name="Photo prompt container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4114800" y="4622800"/>
            <a:ext cx="7315200" cy="3027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114800" y="5016500"/>
            <a:ext cx="7315200" cy="80670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Elegant mature couple sharing a warm knowing glance in a quiet luxury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lounge, authentic emotion, graphite and champagne palette, cinematic soft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light, no text --ar 16:9 --style raw</a:t>
            </a:r>
          </a:p>
        </p:txBody>
      </p:sp>
      <p:sp>
        <p:nvSpPr>
          <p:cNvPr id="2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Было ли ему легко? Интересно?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 становиться сильнее? Чувствовал ли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себя мужчиной?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555491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771391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695191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 Удивлялся? Восхищался?</a:t>
            </a:r>
          </a:p>
        </p:txBody>
      </p:sp>
      <p:sp>
        <p:nvSpPr>
          <p:cNvPr id="2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 интереснее.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Научиться 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513328"/>
            <a:ext cx="7315200" cy="617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И поэтому наша задача — не научиться «правильно вести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себя с мужчиной».</a:t>
            </a:r>
          </a:p>
        </p:txBody>
      </p:sp>
      <p:sp>
        <p:nvSpPr>
          <p:cNvPr id="2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ГРАНЬ → СОПРИКОСНОВЕНИЕ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→ СЛЕД → ПАМЯТЬ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4117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→ НЕЗАБЫВАЕМОСТЬ</a:t>
            </a:r>
          </a:p>
        </p:txBody>
      </p:sp>
      <p:sp>
        <p:nvSpPr>
          <p:cNvPr id="2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 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встретились — посмеялись, поговорили, разошлись.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513328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Это след.</a:t>
            </a:r>
          </a:p>
        </p:txBody>
      </p:sp>
      <p:sp>
        <p:nvSpPr>
          <p:cNvPr id="21" name="Photo prompt container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4114800" y="4622800"/>
            <a:ext cx="7315200" cy="3027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114800" y="5016500"/>
            <a:ext cx="7315200" cy="80670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Two crystal glasses on a dark stone table after an intimate conversation,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delicate golden light reflections lingering on graphite silk, poetic luxury still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life, no text --ar 16:9 --style raw</a:t>
            </a:r>
          </a:p>
        </p:txBody>
      </p:sp>
      <p:sp>
        <p:nvSpPr>
          <p:cNvPr id="24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 вспоминает вас — и вместе с вашим образом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возвращается это ощущение.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8402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9799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когда таких следов становится много,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657091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796791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появляется то, что я называю эффектом незабываемости.</a:t>
            </a:r>
          </a:p>
        </p:txBody>
      </p:sp>
      <p:sp>
        <p:nvSpPr>
          <p:cNvPr id="2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sp>
        <p:nvSpPr>
          <p:cNvPr id="13" name="Card table 1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4114800" y="20574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Лёгкость</a:t>
            </a:r>
          </a:p>
        </p:txBody>
      </p:sp>
      <p:sp>
        <p:nvSpPr>
          <p:cNvPr id="15" name="Table value"/>
          <p:cNvSpPr txBox="1"/>
          <p:nvPr/>
        </p:nvSpPr>
        <p:spPr>
          <a:xfrm>
            <a:off x="6985000" y="20574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лёгкости</a:t>
            </a:r>
          </a:p>
        </p:txBody>
      </p:sp>
      <p:cxnSp>
        <p:nvCxnSpPr>
          <p:cNvPr id="16" name="Table separator"/>
          <p:cNvCxnSpPr/>
          <p:nvPr/>
        </p:nvCxnSpPr>
        <p:spPr>
          <a:xfrm>
            <a:off x="6654800" y="19939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rd table 2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9083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</a:p>
        </p:txBody>
      </p:sp>
      <p:sp>
        <p:nvSpPr>
          <p:cNvPr id="19" name="Table value"/>
          <p:cNvSpPr txBox="1"/>
          <p:nvPr/>
        </p:nvSpPr>
        <p:spPr>
          <a:xfrm>
            <a:off x="6985000" y="29083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вдохновения</a:t>
            </a:r>
          </a:p>
        </p:txBody>
      </p:sp>
      <p:cxnSp>
        <p:nvCxnSpPr>
          <p:cNvPr id="20" name="Table separator"/>
          <p:cNvCxnSpPr/>
          <p:nvPr/>
        </p:nvCxnSpPr>
        <p:spPr>
          <a:xfrm>
            <a:off x="6654800" y="28448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rd table 3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4114800" y="37592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Интеллект</a:t>
            </a:r>
          </a:p>
        </p:txBody>
      </p:sp>
      <p:sp>
        <p:nvSpPr>
          <p:cNvPr id="23" name="Table value"/>
          <p:cNvSpPr txBox="1"/>
          <p:nvPr/>
        </p:nvSpPr>
        <p:spPr>
          <a:xfrm>
            <a:off x="6985000" y="37592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интеллектуальный </a:t>
            </a:r>
            <a:r>
              <a:rPr>
                <a:solidFill>
                  <a:srgbClr val="D4AF37"/>
                </a:solidFill>
              </a:rPr>
              <a:t>след</a:t>
            </a:r>
          </a:p>
        </p:txBody>
      </p:sp>
      <p:cxnSp>
        <p:nvCxnSpPr>
          <p:cNvPr id="24" name="Table separator"/>
          <p:cNvCxnSpPr/>
          <p:nvPr/>
        </p:nvCxnSpPr>
        <p:spPr>
          <a:xfrm>
            <a:off x="6654800" y="36957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rd table 4"/>
          <p:cNvSpPr/>
          <p:nvPr/>
        </p:nvSpPr>
        <p:spPr>
          <a:xfrm>
            <a:off x="4114800" y="43942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114800" y="46101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Индивидуальность</a:t>
            </a:r>
          </a:p>
        </p:txBody>
      </p:sp>
      <p:sp>
        <p:nvSpPr>
          <p:cNvPr id="27" name="Table value"/>
          <p:cNvSpPr txBox="1"/>
          <p:nvPr/>
        </p:nvSpPr>
        <p:spPr>
          <a:xfrm>
            <a:off x="6985000" y="46101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уникальности</a:t>
            </a:r>
          </a:p>
        </p:txBody>
      </p:sp>
      <p:cxnSp>
        <p:nvCxnSpPr>
          <p:cNvPr id="28" name="Table separator"/>
          <p:cNvCxnSpPr/>
          <p:nvPr/>
        </p:nvCxnSpPr>
        <p:spPr>
          <a:xfrm>
            <a:off x="6654800" y="45466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13" name="Card table 1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4114800" y="20574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Эстетика</a:t>
            </a:r>
          </a:p>
        </p:txBody>
      </p:sp>
      <p:sp>
        <p:nvSpPr>
          <p:cNvPr id="15" name="Table value"/>
          <p:cNvSpPr txBox="1"/>
          <p:nvPr/>
        </p:nvSpPr>
        <p:spPr>
          <a:xfrm>
            <a:off x="6985000" y="20574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эстетический </a:t>
            </a:r>
            <a:r>
              <a:rPr>
                <a:solidFill>
                  <a:srgbClr val="D4AF37"/>
                </a:solidFill>
              </a:rPr>
              <a:t>след</a:t>
            </a:r>
          </a:p>
        </p:txBody>
      </p:sp>
      <p:cxnSp>
        <p:nvCxnSpPr>
          <p:cNvPr id="16" name="Table separator"/>
          <p:cNvCxnSpPr/>
          <p:nvPr/>
        </p:nvCxnSpPr>
        <p:spPr>
          <a:xfrm>
            <a:off x="6654800" y="19939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rd table 2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9083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Достоинство</a:t>
            </a:r>
          </a:p>
        </p:txBody>
      </p:sp>
      <p:sp>
        <p:nvSpPr>
          <p:cNvPr id="19" name="Table value"/>
          <p:cNvSpPr txBox="1"/>
          <p:nvPr/>
        </p:nvSpPr>
        <p:spPr>
          <a:xfrm>
            <a:off x="6985000" y="29083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уважения</a:t>
            </a:r>
          </a:p>
        </p:txBody>
      </p:sp>
      <p:cxnSp>
        <p:nvCxnSpPr>
          <p:cNvPr id="20" name="Table separator"/>
          <p:cNvCxnSpPr/>
          <p:nvPr/>
        </p:nvCxnSpPr>
        <p:spPr>
          <a:xfrm>
            <a:off x="6654800" y="28448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rd table 3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4114800" y="37592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Контраст</a:t>
            </a:r>
          </a:p>
        </p:txBody>
      </p:sp>
      <p:sp>
        <p:nvSpPr>
          <p:cNvPr id="23" name="Table value"/>
          <p:cNvSpPr txBox="1"/>
          <p:nvPr/>
        </p:nvSpPr>
        <p:spPr>
          <a:xfrm>
            <a:off x="6985000" y="3759200"/>
            <a:ext cx="42672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новизны</a:t>
            </a:r>
          </a:p>
        </p:txBody>
      </p:sp>
      <p:cxnSp>
        <p:nvCxnSpPr>
          <p:cNvPr id="24" name="Table separator"/>
          <p:cNvCxnSpPr/>
          <p:nvPr/>
        </p:nvCxnSpPr>
        <p:spPr>
          <a:xfrm>
            <a:off x="6654800" y="3695700"/>
            <a:ext cx="0" cy="419100"/>
          </a:xfrm>
          <a:prstGeom prst="line">
            <a:avLst/>
          </a:prstGeom>
          <a:ln w="6350">
            <a:solidFill>
              <a:srgbClr val="D4AF37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uthor quote"/>
          <p:cNvSpPr/>
          <p:nvPr/>
        </p:nvSpPr>
        <p:spPr>
          <a:xfrm>
            <a:off x="4121150" y="4495800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114800" y="4635500"/>
            <a:ext cx="7315200" cy="334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Красота тоже способна оставить след. Но это один след.</a:t>
            </a:r>
          </a:p>
        </p:txBody>
      </p:sp>
      <p:sp>
        <p:nvSpPr>
          <p:cNvPr id="27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 </a:t>
            </a: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4117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22" name="Photo prompt container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114800" y="4622800"/>
            <a:ext cx="7315200" cy="3027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14800" y="5016500"/>
            <a:ext cx="7315200" cy="80670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A clear multifaceted crystal casting layered champagne light onto matte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graphite stone, rich subtle reflections, sculptural luxury still life, editorial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photography, no text --ar 16:9 --style raw</a:t>
            </a:r>
          </a:p>
        </p:txBody>
      </p:sp>
      <p:sp>
        <p:nvSpPr>
          <p:cNvPr id="25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 создаётся одной суперспособностью.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создаётся </a:t>
            </a:r>
            <a:r>
              <a:rPr>
                <a:solidFill>
                  <a:srgbClr val="D4AF37"/>
                </a:solidFill>
              </a:rPr>
              <a:t>комбинацией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513328"/>
            <a:ext cx="7315200" cy="617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 — тем объёмнее образ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женщины.</a:t>
            </a:r>
          </a:p>
        </p:txBody>
      </p:sp>
      <p:sp>
        <p:nvSpPr>
          <p:cNvPr id="2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женщина только красивая — мужчина достаточно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быстро привыкает к красоте.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840228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979928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 прекрасно, но этого может 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мало.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838955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4054855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978655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Только умная — тоже одна грань.</a:t>
            </a:r>
          </a:p>
        </p:txBody>
      </p:sp>
      <p:sp>
        <p:nvSpPr>
          <p:cNvPr id="2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5862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лёгкая, но глубокая.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Нежная, но с характером.</a:t>
            </a:r>
          </a:p>
        </p:txBody>
      </p:sp>
      <p:sp>
        <p:nvSpPr>
          <p:cNvPr id="19" name="Card 3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ld bullet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4114800" y="3411728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Женственная, но со своим миром.</a:t>
            </a:r>
          </a:p>
        </p:txBody>
      </p:sp>
      <p:sp>
        <p:nvSpPr>
          <p:cNvPr id="22" name="Card 4"/>
          <p:cNvSpPr/>
          <p:nvPr/>
        </p:nvSpPr>
        <p:spPr>
          <a:xfrm>
            <a:off x="4114800" y="3987291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old bullet"/>
          <p:cNvSpPr/>
          <p:nvPr/>
        </p:nvSpPr>
        <p:spPr>
          <a:xfrm>
            <a:off x="4267200" y="4203192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4114800" y="4126991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Спокойная, но иногда совершенно неожиданная.</a:t>
            </a:r>
          </a:p>
        </p:txBody>
      </p:sp>
      <p:sp>
        <p:nvSpPr>
          <p:cNvPr id="25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rystal texture"/>
          <p:cNvCxnSpPr/>
          <p:nvPr/>
        </p:nvCxnSpPr>
        <p:spPr>
          <a:xfrm flipV="1">
            <a:off x="10579100" y="5041900"/>
            <a:ext cx="850900" cy="393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rystal texture"/>
          <p:cNvCxnSpPr/>
          <p:nvPr/>
        </p:nvCxnSpPr>
        <p:spPr>
          <a:xfrm>
            <a:off x="11430000" y="5041900"/>
            <a:ext cx="584200" cy="635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rystal texture"/>
          <p:cNvCxnSpPr/>
          <p:nvPr/>
        </p:nvCxnSpPr>
        <p:spPr>
          <a:xfrm flipH="1">
            <a:off x="11785600" y="5676900"/>
            <a:ext cx="228600" cy="584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rystal texture"/>
          <p:cNvCxnSpPr/>
          <p:nvPr/>
        </p:nvCxnSpPr>
        <p:spPr>
          <a:xfrm flipH="1">
            <a:off x="10998200" y="6261100"/>
            <a:ext cx="787400" cy="76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rystal texture"/>
          <p:cNvCxnSpPr/>
          <p:nvPr/>
        </p:nvCxnSpPr>
        <p:spPr>
          <a:xfrm flipH="1" flipV="1">
            <a:off x="10426700" y="6083300"/>
            <a:ext cx="571500" cy="2540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rystal texture"/>
          <p:cNvCxnSpPr/>
          <p:nvPr/>
        </p:nvCxnSpPr>
        <p:spPr>
          <a:xfrm flipV="1">
            <a:off x="10426700" y="5435600"/>
            <a:ext cx="152400" cy="6477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rystal texture"/>
          <p:cNvCxnSpPr/>
          <p:nvPr/>
        </p:nvCxnSpPr>
        <p:spPr>
          <a:xfrm>
            <a:off x="10579100" y="5435600"/>
            <a:ext cx="1435100" cy="2413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rystal texture"/>
          <p:cNvCxnSpPr/>
          <p:nvPr/>
        </p:nvCxnSpPr>
        <p:spPr>
          <a:xfrm>
            <a:off x="11430000" y="5041900"/>
            <a:ext cx="355600" cy="12192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rystal texture"/>
          <p:cNvCxnSpPr/>
          <p:nvPr/>
        </p:nvCxnSpPr>
        <p:spPr>
          <a:xfrm flipH="1">
            <a:off x="10426700" y="5676900"/>
            <a:ext cx="1587500" cy="406400"/>
          </a:xfrm>
          <a:prstGeom prst="line">
            <a:avLst/>
          </a:prstGeom>
          <a:ln w="3810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deo divider"/>
          <p:cNvCxnSpPr/>
          <p:nvPr/>
        </p:nvCxnSpPr>
        <p:spPr>
          <a:xfrm>
            <a:off x="3931920" y="914400"/>
            <a:ext cx="0" cy="502920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"/>
          <p:cNvSpPr txBox="1"/>
          <p:nvPr/>
        </p:nvSpPr>
        <p:spPr>
          <a:xfrm>
            <a:off x="4114800" y="457200"/>
            <a:ext cx="7315200" cy="11216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sz="3400" i="0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sp>
        <p:nvSpPr>
          <p:cNvPr id="13" name="Card 1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old bullet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4114800" y="1981200"/>
            <a:ext cx="7315200" cy="3342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</a:t>
            </a:r>
          </a:p>
        </p:txBody>
      </p:sp>
      <p:sp>
        <p:nvSpPr>
          <p:cNvPr id="16" name="Card 2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old bullet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4114800" y="2696464"/>
            <a:ext cx="7315200" cy="6177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через двадцать минут разговаривать о вещах, о которых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 почти ни с кем не говорит.</a:t>
            </a:r>
          </a:p>
        </p:txBody>
      </p:sp>
      <p:sp>
        <p:nvSpPr>
          <p:cNvPr id="19" name="Author quote"/>
          <p:cNvSpPr/>
          <p:nvPr/>
        </p:nvSpPr>
        <p:spPr>
          <a:xfrm>
            <a:off x="4121150" y="3657091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4114800" y="3796791"/>
            <a:ext cx="7315200" cy="617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 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  <p:sp>
        <p:nvSpPr>
          <p:cNvPr id="21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