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Ваш Кристалл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незабываемости</a:t>
            </a:r>
          </a:p>
        </p:txBody>
      </p:sp>
      <p:sp>
        <p:nvSpPr>
          <p:cNvPr id="3" name="Comparison card"/>
          <p:cNvSpPr/>
          <p:nvPr/>
        </p:nvSpPr>
        <p:spPr>
          <a:xfrm>
            <a:off x="4114800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2146300"/>
            <a:ext cx="3553460" cy="1155192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красивые женщины.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умные.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сексуальные.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интересные.</a:t>
            </a:r>
          </a:p>
        </p:txBody>
      </p:sp>
      <p:sp>
        <p:nvSpPr>
          <p:cNvPr id="6" name="Comparison card"/>
          <p:cNvSpPr/>
          <p:nvPr/>
        </p:nvSpPr>
        <p:spPr>
          <a:xfrm>
            <a:off x="8150859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8157209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0859" y="2146300"/>
            <a:ext cx="3553460" cy="304800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есть незабываемые.</a:t>
            </a:r>
          </a:p>
        </p:txBody>
      </p:sp>
      <p:cxnSp>
        <p:nvCxnSpPr>
          <p:cNvPr id="9" name="Logical connector"/>
          <p:cNvCxnSpPr/>
          <p:nvPr/>
        </p:nvCxnSpPr>
        <p:spPr>
          <a:xfrm>
            <a:off x="8277859" y="2095500"/>
            <a:ext cx="0" cy="2667000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Logical connector"/>
          <p:cNvCxnSpPr/>
          <p:nvPr/>
        </p:nvCxnSpPr>
        <p:spPr>
          <a:xfrm>
            <a:off x="7731759" y="3429000"/>
            <a:ext cx="3556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305300" y="2163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803400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первое, что я хочу, чтобы вы поняли: </a:t>
            </a:r>
            <a:r>
              <a:rPr>
                <a:solidFill>
                  <a:srgbClr val="D4AF37"/>
                </a:solidFill>
              </a:rPr>
              <a:t>незабываемая</a:t>
            </a:r>
            <a:r>
              <a:rPr>
                <a:solidFill>
                  <a:srgbClr val="FFFFFF"/>
                </a:solidFill>
              </a:rPr>
              <a:t> — это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обязательно самая красивая женщина в комнате.</a:t>
            </a:r>
          </a:p>
        </p:txBody>
      </p:sp>
      <p:sp>
        <p:nvSpPr>
          <p:cNvPr id="8" name="Teaching card"/>
          <p:cNvSpPr/>
          <p:nvPr/>
        </p:nvSpPr>
        <p:spPr>
          <a:xfrm>
            <a:off x="4114800" y="2725928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nset gold outline"/>
          <p:cNvSpPr/>
          <p:nvPr/>
        </p:nvSpPr>
        <p:spPr>
          <a:xfrm>
            <a:off x="4121150" y="2732278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878328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 самая молодая. Не самая сексуальная.</a:t>
            </a:r>
          </a:p>
        </p:txBody>
      </p:sp>
      <p:sp>
        <p:nvSpPr>
          <p:cNvPr id="1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803400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даже не самая интересная в привычном понимании.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442464"/>
            <a:ext cx="7589520" cy="12059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448814"/>
            <a:ext cx="7576820" cy="11932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old diamond marker"/>
          <p:cNvSpPr/>
          <p:nvPr/>
        </p:nvSpPr>
        <p:spPr>
          <a:xfrm>
            <a:off x="4305300" y="2671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old diamond marker"/>
          <p:cNvSpPr/>
          <p:nvPr/>
        </p:nvSpPr>
        <p:spPr>
          <a:xfrm>
            <a:off x="4305300" y="3237991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594864"/>
            <a:ext cx="7589520" cy="871728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 наверняка встречали женщин, которые вроде бы ничем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невероятным не выделяются, но мужчины почему-то очень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сильно на них западают.</a:t>
            </a:r>
          </a:p>
        </p:txBody>
      </p:sp>
      <p:sp>
        <p:nvSpPr>
          <p:cNvPr id="13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Почему?</a:t>
            </a:r>
          </a:p>
        </p:txBody>
      </p:sp>
      <p:sp>
        <p:nvSpPr>
          <p:cNvPr id="3" name="Comparison card"/>
          <p:cNvSpPr/>
          <p:nvPr/>
        </p:nvSpPr>
        <p:spPr>
          <a:xfrm>
            <a:off x="4114800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2146300"/>
            <a:ext cx="3553460" cy="588264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потрясающая женщина —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красивая, умная, успешная</a:t>
            </a:r>
          </a:p>
        </p:txBody>
      </p:sp>
      <p:sp>
        <p:nvSpPr>
          <p:cNvPr id="6" name="Comparison card"/>
          <p:cNvSpPr/>
          <p:nvPr/>
        </p:nvSpPr>
        <p:spPr>
          <a:xfrm>
            <a:off x="8150859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8157209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0859" y="2146300"/>
            <a:ext cx="3553460" cy="871728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сначала интерес,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 привыкание,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 охлаждение.</a:t>
            </a:r>
          </a:p>
        </p:txBody>
      </p:sp>
      <p:cxnSp>
        <p:nvCxnSpPr>
          <p:cNvPr id="9" name="Logical connector"/>
          <p:cNvCxnSpPr/>
          <p:nvPr/>
        </p:nvCxnSpPr>
        <p:spPr>
          <a:xfrm>
            <a:off x="7731759" y="3429000"/>
            <a:ext cx="3556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Quote"/>
          <p:cNvSpPr/>
          <p:nvPr/>
        </p:nvSpPr>
        <p:spPr>
          <a:xfrm>
            <a:off x="4121150" y="5275072"/>
            <a:ext cx="7576820" cy="922528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Logical connector"/>
          <p:cNvCxnSpPr/>
          <p:nvPr/>
        </p:nvCxnSpPr>
        <p:spPr>
          <a:xfrm>
            <a:off x="4267200" y="5427472"/>
            <a:ext cx="0" cy="617728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0" y="5427472"/>
            <a:ext cx="7589520" cy="588264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Потому что «хорошая женщина» и «незабываемая женщина»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— не одно и то же.</a:t>
            </a:r>
          </a:p>
        </p:txBody>
      </p:sp>
      <p:sp>
        <p:nvSpPr>
          <p:cNvPr id="13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803400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одна из главных мыслей всей программы.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442464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448814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old diamond marker"/>
          <p:cNvSpPr/>
          <p:nvPr/>
        </p:nvSpPr>
        <p:spPr>
          <a:xfrm>
            <a:off x="4305300" y="2671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594864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Через несколько лет мужчина может забыть, в каком платье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пришли на свидание.</a:t>
            </a:r>
          </a:p>
        </p:txBody>
      </p:sp>
      <p:sp>
        <p:nvSpPr>
          <p:cNvPr id="12" name="Quote"/>
          <p:cNvSpPr/>
          <p:nvPr/>
        </p:nvSpPr>
        <p:spPr>
          <a:xfrm>
            <a:off x="4121150" y="5558536"/>
            <a:ext cx="7576820" cy="639064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Logical connector"/>
          <p:cNvCxnSpPr/>
          <p:nvPr/>
        </p:nvCxnSpPr>
        <p:spPr>
          <a:xfrm>
            <a:off x="4267200" y="5710936"/>
            <a:ext cx="0" cy="334264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0" y="5710936"/>
            <a:ext cx="7589520" cy="304800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 запоминает себя рядом с вами.</a:t>
            </a:r>
          </a:p>
        </p:txBody>
      </p:sp>
      <p:sp>
        <p:nvSpPr>
          <p:cNvPr id="15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sp>
        <p:nvSpPr>
          <p:cNvPr id="3" name="Comparison card"/>
          <p:cNvSpPr/>
          <p:nvPr/>
        </p:nvSpPr>
        <p:spPr>
          <a:xfrm>
            <a:off x="4114800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2146300"/>
            <a:ext cx="3553460" cy="871728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забыть ресторан.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даже забыть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какие-то ваши слова.</a:t>
            </a:r>
          </a:p>
        </p:txBody>
      </p:sp>
      <p:sp>
        <p:nvSpPr>
          <p:cNvPr id="6" name="Comparison card"/>
          <p:cNvSpPr/>
          <p:nvPr/>
        </p:nvSpPr>
        <p:spPr>
          <a:xfrm>
            <a:off x="8150859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8157209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0859" y="2146300"/>
            <a:ext cx="3553460" cy="304800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как ему было рядом с вами.</a:t>
            </a:r>
          </a:p>
        </p:txBody>
      </p:sp>
      <p:cxnSp>
        <p:nvCxnSpPr>
          <p:cNvPr id="9" name="Logical connector"/>
          <p:cNvCxnSpPr/>
          <p:nvPr/>
        </p:nvCxnSpPr>
        <p:spPr>
          <a:xfrm>
            <a:off x="7731759" y="3429000"/>
            <a:ext cx="3556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Каким он себя чувствовал.</a:t>
            </a:r>
          </a:p>
        </p:txBody>
      </p:sp>
      <p:sp>
        <p:nvSpPr>
          <p:cNvPr id="3" name="Thesis tile"/>
          <p:cNvSpPr/>
          <p:nvPr/>
        </p:nvSpPr>
        <p:spPr>
          <a:xfrm>
            <a:off x="4114800" y="1841500"/>
            <a:ext cx="2394373" cy="197612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847850"/>
            <a:ext cx="2381673" cy="196342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267200" y="21590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267200" y="24424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old diamond marker"/>
          <p:cNvSpPr/>
          <p:nvPr/>
        </p:nvSpPr>
        <p:spPr>
          <a:xfrm>
            <a:off x="4267200" y="27259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old diamond marker"/>
          <p:cNvSpPr/>
          <p:nvPr/>
        </p:nvSpPr>
        <p:spPr>
          <a:xfrm>
            <a:off x="4267200" y="3009392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old diamond marker"/>
          <p:cNvSpPr/>
          <p:nvPr/>
        </p:nvSpPr>
        <p:spPr>
          <a:xfrm>
            <a:off x="4267200" y="3292855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0100"/>
            <a:ext cx="2394373" cy="1438656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Каким он себя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чувствовал.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Было ли ему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легко?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Интересно?</a:t>
            </a:r>
          </a:p>
        </p:txBody>
      </p:sp>
      <p:sp>
        <p:nvSpPr>
          <p:cNvPr id="11" name="Thesis tile"/>
          <p:cNvSpPr/>
          <p:nvPr/>
        </p:nvSpPr>
        <p:spPr>
          <a:xfrm>
            <a:off x="6712373" y="1841500"/>
            <a:ext cx="2394373" cy="197612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nset gold outline"/>
          <p:cNvSpPr/>
          <p:nvPr/>
        </p:nvSpPr>
        <p:spPr>
          <a:xfrm>
            <a:off x="6718723" y="1847850"/>
            <a:ext cx="2381673" cy="196342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old diamond marker"/>
          <p:cNvSpPr/>
          <p:nvPr/>
        </p:nvSpPr>
        <p:spPr>
          <a:xfrm>
            <a:off x="6864773" y="21590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diamond marker"/>
          <p:cNvSpPr/>
          <p:nvPr/>
        </p:nvSpPr>
        <p:spPr>
          <a:xfrm>
            <a:off x="6864773" y="24424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old diamond marker"/>
          <p:cNvSpPr/>
          <p:nvPr/>
        </p:nvSpPr>
        <p:spPr>
          <a:xfrm>
            <a:off x="6864773" y="27259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old diamond marker"/>
          <p:cNvSpPr/>
          <p:nvPr/>
        </p:nvSpPr>
        <p:spPr>
          <a:xfrm>
            <a:off x="6864773" y="3009392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diamond marker"/>
          <p:cNvSpPr/>
          <p:nvPr/>
        </p:nvSpPr>
        <p:spPr>
          <a:xfrm>
            <a:off x="6864773" y="3292855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2373" y="2070100"/>
            <a:ext cx="2394373" cy="1438656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Хотелось ли ему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становиться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сильнее?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Чувствовал ли он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себя мужчиной?</a:t>
            </a:r>
          </a:p>
        </p:txBody>
      </p:sp>
      <p:sp>
        <p:nvSpPr>
          <p:cNvPr id="19" name="Thesis tile"/>
          <p:cNvSpPr/>
          <p:nvPr/>
        </p:nvSpPr>
        <p:spPr>
          <a:xfrm>
            <a:off x="9309946" y="1841500"/>
            <a:ext cx="2394373" cy="197612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nset gold outline"/>
          <p:cNvSpPr/>
          <p:nvPr/>
        </p:nvSpPr>
        <p:spPr>
          <a:xfrm>
            <a:off x="9316296" y="1847850"/>
            <a:ext cx="2381673" cy="196342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old diamond marker"/>
          <p:cNvSpPr/>
          <p:nvPr/>
        </p:nvSpPr>
        <p:spPr>
          <a:xfrm>
            <a:off x="9462346" y="21590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old diamond marker"/>
          <p:cNvSpPr/>
          <p:nvPr/>
        </p:nvSpPr>
        <p:spPr>
          <a:xfrm>
            <a:off x="9462346" y="24424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old diamond marker"/>
          <p:cNvSpPr/>
          <p:nvPr/>
        </p:nvSpPr>
        <p:spPr>
          <a:xfrm>
            <a:off x="9462346" y="27259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9946" y="2070100"/>
            <a:ext cx="2394373" cy="871728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Смеялся ли?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Удивлялся?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Восхищался?</a:t>
            </a:r>
          </a:p>
        </p:txBody>
      </p:sp>
      <p:sp>
        <p:nvSpPr>
          <p:cNvPr id="25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Научиться оставлять следы.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305300" y="2163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803400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поэтому наша задача — не научиться «правильно вести себя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мужчиной».</a:t>
            </a:r>
          </a:p>
        </p:txBody>
      </p:sp>
      <p:sp>
        <p:nvSpPr>
          <p:cNvPr id="8" name="Teaching card"/>
          <p:cNvSpPr/>
          <p:nvPr/>
        </p:nvSpPr>
        <p:spPr>
          <a:xfrm>
            <a:off x="4114800" y="2725928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nset gold outline"/>
          <p:cNvSpPr/>
          <p:nvPr/>
        </p:nvSpPr>
        <p:spPr>
          <a:xfrm>
            <a:off x="4121150" y="2732278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878328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Наша задача гораздо интереснее. Научиться оставлять </a:t>
            </a:r>
            <a:r>
              <a:rPr>
                <a:solidFill>
                  <a:srgbClr val="D4AF37"/>
                </a:solidFill>
              </a:rPr>
              <a:t>следы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sp>
        <p:nvSpPr>
          <p:cNvPr id="3" name="Chain node"/>
          <p:cNvSpPr/>
          <p:nvPr/>
        </p:nvSpPr>
        <p:spPr>
          <a:xfrm>
            <a:off x="5280263" y="1968500"/>
            <a:ext cx="1143000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5286613" y="1974850"/>
            <a:ext cx="1130300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80263" y="2325116"/>
            <a:ext cx="1143000" cy="279400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ГРАНЬ</a:t>
            </a:r>
          </a:p>
        </p:txBody>
      </p:sp>
      <p:sp>
        <p:nvSpPr>
          <p:cNvPr id="6" name="Chain node"/>
          <p:cNvSpPr/>
          <p:nvPr/>
        </p:nvSpPr>
        <p:spPr>
          <a:xfrm>
            <a:off x="6677263" y="1968500"/>
            <a:ext cx="2464593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6683613" y="1974850"/>
            <a:ext cx="2451893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7263" y="2325116"/>
            <a:ext cx="2464593" cy="279400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СОПРИКОСНОВЕНИЕ</a:t>
            </a:r>
          </a:p>
        </p:txBody>
      </p:sp>
      <p:sp>
        <p:nvSpPr>
          <p:cNvPr id="9" name="Chain node"/>
          <p:cNvSpPr/>
          <p:nvPr/>
        </p:nvSpPr>
        <p:spPr>
          <a:xfrm>
            <a:off x="9395856" y="1968500"/>
            <a:ext cx="1143000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nset gold outline"/>
          <p:cNvSpPr/>
          <p:nvPr/>
        </p:nvSpPr>
        <p:spPr>
          <a:xfrm>
            <a:off x="9402206" y="1974850"/>
            <a:ext cx="1130300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5856" y="2325116"/>
            <a:ext cx="1143000" cy="279400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</a:p>
        </p:txBody>
      </p:sp>
      <p:cxnSp>
        <p:nvCxnSpPr>
          <p:cNvPr id="12" name="Logical connector"/>
          <p:cNvCxnSpPr/>
          <p:nvPr/>
        </p:nvCxnSpPr>
        <p:spPr>
          <a:xfrm>
            <a:off x="6461363" y="2451100"/>
            <a:ext cx="177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ogical connector"/>
          <p:cNvCxnSpPr/>
          <p:nvPr/>
        </p:nvCxnSpPr>
        <p:spPr>
          <a:xfrm>
            <a:off x="9179956" y="2451100"/>
            <a:ext cx="177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hain node"/>
          <p:cNvSpPr/>
          <p:nvPr/>
        </p:nvSpPr>
        <p:spPr>
          <a:xfrm>
            <a:off x="6054268" y="3657600"/>
            <a:ext cx="1159867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set gold outline"/>
          <p:cNvSpPr/>
          <p:nvPr/>
        </p:nvSpPr>
        <p:spPr>
          <a:xfrm>
            <a:off x="6060618" y="3663950"/>
            <a:ext cx="1147167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4268" y="4014216"/>
            <a:ext cx="1159867" cy="279400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ПАМЯТЬ</a:t>
            </a:r>
          </a:p>
        </p:txBody>
      </p:sp>
      <p:sp>
        <p:nvSpPr>
          <p:cNvPr id="17" name="Chain node"/>
          <p:cNvSpPr/>
          <p:nvPr/>
        </p:nvSpPr>
        <p:spPr>
          <a:xfrm>
            <a:off x="7468135" y="3657600"/>
            <a:ext cx="2296715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set gold outline"/>
          <p:cNvSpPr/>
          <p:nvPr/>
        </p:nvSpPr>
        <p:spPr>
          <a:xfrm>
            <a:off x="7474485" y="3663950"/>
            <a:ext cx="2284015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8135" y="4014216"/>
            <a:ext cx="2296715" cy="279400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cxnSp>
        <p:nvCxnSpPr>
          <p:cNvPr id="20" name="Logical connector"/>
          <p:cNvCxnSpPr/>
          <p:nvPr/>
        </p:nvCxnSpPr>
        <p:spPr>
          <a:xfrm>
            <a:off x="7252235" y="4140200"/>
            <a:ext cx="177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ogical connector"/>
          <p:cNvCxnSpPr/>
          <p:nvPr/>
        </p:nvCxnSpPr>
        <p:spPr>
          <a:xfrm>
            <a:off x="9967356" y="2933700"/>
            <a:ext cx="0" cy="342900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Logical connector"/>
          <p:cNvCxnSpPr/>
          <p:nvPr/>
        </p:nvCxnSpPr>
        <p:spPr>
          <a:xfrm flipH="1">
            <a:off x="6634202" y="3276600"/>
            <a:ext cx="3333154" cy="0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Logical connector"/>
          <p:cNvCxnSpPr/>
          <p:nvPr/>
        </p:nvCxnSpPr>
        <p:spPr>
          <a:xfrm>
            <a:off x="6634202" y="3276600"/>
            <a:ext cx="0" cy="38100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803400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 каждой женщины есть разные грани.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442464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448814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old diamond marker"/>
          <p:cNvSpPr/>
          <p:nvPr/>
        </p:nvSpPr>
        <p:spPr>
          <a:xfrm>
            <a:off x="4305300" y="2671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594864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когда какая-то ваша грань соприкасается с мужчиной, она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оставляет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Встреча закончилась.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лёгкость осталась.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305300" y="2163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803400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Например, вы умеете создавать невероятную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.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встретились — посмеялись, поговорили, разошлись.</a:t>
            </a:r>
          </a:p>
        </p:txBody>
      </p:sp>
      <p:sp>
        <p:nvSpPr>
          <p:cNvPr id="8" name="Teaching card"/>
          <p:cNvSpPr/>
          <p:nvPr/>
        </p:nvSpPr>
        <p:spPr>
          <a:xfrm>
            <a:off x="4114800" y="2725928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nset gold outline"/>
          <p:cNvSpPr/>
          <p:nvPr/>
        </p:nvSpPr>
        <p:spPr>
          <a:xfrm>
            <a:off x="4121150" y="2732278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878328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Память о вас</a:t>
            </a:r>
          </a:p>
        </p:txBody>
      </p:sp>
      <p:sp>
        <p:nvSpPr>
          <p:cNvPr id="3" name="Chain node"/>
          <p:cNvSpPr/>
          <p:nvPr/>
        </p:nvSpPr>
        <p:spPr>
          <a:xfrm>
            <a:off x="4114800" y="1968500"/>
            <a:ext cx="2360506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974850"/>
            <a:ext cx="2347806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2199132"/>
            <a:ext cx="2360506" cy="531368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Мужчина вспоминает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вас</a:t>
            </a:r>
          </a:p>
        </p:txBody>
      </p:sp>
      <p:sp>
        <p:nvSpPr>
          <p:cNvPr id="6" name="Chain node"/>
          <p:cNvSpPr/>
          <p:nvPr/>
        </p:nvSpPr>
        <p:spPr>
          <a:xfrm>
            <a:off x="6729306" y="1968500"/>
            <a:ext cx="2360506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6735656" y="1974850"/>
            <a:ext cx="2347806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9306" y="2199132"/>
            <a:ext cx="2360506" cy="531368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возвращается это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ощущение</a:t>
            </a:r>
          </a:p>
        </p:txBody>
      </p:sp>
      <p:sp>
        <p:nvSpPr>
          <p:cNvPr id="9" name="Chain node"/>
          <p:cNvSpPr/>
          <p:nvPr/>
        </p:nvSpPr>
        <p:spPr>
          <a:xfrm>
            <a:off x="9343813" y="1968500"/>
            <a:ext cx="2360506" cy="9652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nset gold outline"/>
          <p:cNvSpPr/>
          <p:nvPr/>
        </p:nvSpPr>
        <p:spPr>
          <a:xfrm>
            <a:off x="9350163" y="1974850"/>
            <a:ext cx="2347806" cy="9525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43813" y="2199132"/>
            <a:ext cx="2360506" cy="531368"/>
          </a:xfrm>
          <a:prstGeom prst="rect">
            <a:avLst/>
          </a:prstGeom>
          <a:noFill/>
        </p:spPr>
        <p:txBody>
          <a:bodyPr wrap="none" lIns="152400" rIns="152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появляется память о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вас</a:t>
            </a:r>
          </a:p>
        </p:txBody>
      </p:sp>
      <p:cxnSp>
        <p:nvCxnSpPr>
          <p:cNvPr id="12" name="Logical connector"/>
          <p:cNvCxnSpPr/>
          <p:nvPr/>
        </p:nvCxnSpPr>
        <p:spPr>
          <a:xfrm>
            <a:off x="6513406" y="2451100"/>
            <a:ext cx="177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ogical connector"/>
          <p:cNvCxnSpPr/>
          <p:nvPr/>
        </p:nvCxnSpPr>
        <p:spPr>
          <a:xfrm>
            <a:off x="9127913" y="2451100"/>
            <a:ext cx="177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Одна грань — один след</a:t>
            </a:r>
          </a:p>
        </p:txBody>
      </p:sp>
      <p:sp>
        <p:nvSpPr>
          <p:cNvPr id="3" name="Relation row"/>
          <p:cNvSpPr/>
          <p:nvPr/>
        </p:nvSpPr>
        <p:spPr>
          <a:xfrm>
            <a:off x="4114800" y="1841500"/>
            <a:ext cx="758952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847850"/>
            <a:ext cx="7576820" cy="7112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292600" y="21590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95800" y="2057400"/>
            <a:ext cx="2921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Лёгкость</a:t>
            </a:r>
          </a:p>
        </p:txBody>
      </p:sp>
      <p:cxnSp>
        <p:nvCxnSpPr>
          <p:cNvPr id="7" name="Logical connector"/>
          <p:cNvCxnSpPr/>
          <p:nvPr/>
        </p:nvCxnSpPr>
        <p:spPr>
          <a:xfrm>
            <a:off x="7137400" y="2209800"/>
            <a:ext cx="558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8300" y="2057400"/>
            <a:ext cx="358902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лёгкости</a:t>
            </a:r>
          </a:p>
        </p:txBody>
      </p:sp>
      <p:sp>
        <p:nvSpPr>
          <p:cNvPr id="9" name="Relation row"/>
          <p:cNvSpPr/>
          <p:nvPr/>
        </p:nvSpPr>
        <p:spPr>
          <a:xfrm>
            <a:off x="4114800" y="2717800"/>
            <a:ext cx="758952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nset gold outline"/>
          <p:cNvSpPr/>
          <p:nvPr/>
        </p:nvSpPr>
        <p:spPr>
          <a:xfrm>
            <a:off x="4121150" y="2724150"/>
            <a:ext cx="7576820" cy="7112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old diamond marker"/>
          <p:cNvSpPr/>
          <p:nvPr/>
        </p:nvSpPr>
        <p:spPr>
          <a:xfrm>
            <a:off x="4292600" y="30353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933700"/>
            <a:ext cx="2921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</a:p>
        </p:txBody>
      </p:sp>
      <p:cxnSp>
        <p:nvCxnSpPr>
          <p:cNvPr id="13" name="Logical connector"/>
          <p:cNvCxnSpPr/>
          <p:nvPr/>
        </p:nvCxnSpPr>
        <p:spPr>
          <a:xfrm>
            <a:off x="7137400" y="3086100"/>
            <a:ext cx="558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88300" y="2933700"/>
            <a:ext cx="358902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вдохновения</a:t>
            </a:r>
          </a:p>
        </p:txBody>
      </p:sp>
      <p:sp>
        <p:nvSpPr>
          <p:cNvPr id="15" name="Relation row"/>
          <p:cNvSpPr/>
          <p:nvPr/>
        </p:nvSpPr>
        <p:spPr>
          <a:xfrm>
            <a:off x="4114800" y="3594100"/>
            <a:ext cx="758952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set gold outline"/>
          <p:cNvSpPr/>
          <p:nvPr/>
        </p:nvSpPr>
        <p:spPr>
          <a:xfrm>
            <a:off x="4121150" y="3600450"/>
            <a:ext cx="7576820" cy="7112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diamond marker"/>
          <p:cNvSpPr/>
          <p:nvPr/>
        </p:nvSpPr>
        <p:spPr>
          <a:xfrm>
            <a:off x="4292600" y="3911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5800" y="3810000"/>
            <a:ext cx="2921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Интеллект</a:t>
            </a:r>
          </a:p>
        </p:txBody>
      </p:sp>
      <p:cxnSp>
        <p:nvCxnSpPr>
          <p:cNvPr id="19" name="Logical connector"/>
          <p:cNvCxnSpPr/>
          <p:nvPr/>
        </p:nvCxnSpPr>
        <p:spPr>
          <a:xfrm>
            <a:off x="7137400" y="3962400"/>
            <a:ext cx="558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88300" y="3810000"/>
            <a:ext cx="358902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интеллектуальный </a:t>
            </a:r>
            <a:r>
              <a:rPr>
                <a:solidFill>
                  <a:srgbClr val="D4AF37"/>
                </a:solidFill>
              </a:rPr>
              <a:t>след</a:t>
            </a:r>
          </a:p>
        </p:txBody>
      </p:sp>
      <p:sp>
        <p:nvSpPr>
          <p:cNvPr id="21" name="Relation row"/>
          <p:cNvSpPr/>
          <p:nvPr/>
        </p:nvSpPr>
        <p:spPr>
          <a:xfrm>
            <a:off x="4114800" y="4470400"/>
            <a:ext cx="758952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nset gold outline"/>
          <p:cNvSpPr/>
          <p:nvPr/>
        </p:nvSpPr>
        <p:spPr>
          <a:xfrm>
            <a:off x="4121150" y="4476750"/>
            <a:ext cx="7576820" cy="7112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old diamond marker"/>
          <p:cNvSpPr/>
          <p:nvPr/>
        </p:nvSpPr>
        <p:spPr>
          <a:xfrm>
            <a:off x="4292600" y="47879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686300"/>
            <a:ext cx="2921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Индивидуальность</a:t>
            </a:r>
          </a:p>
        </p:txBody>
      </p:sp>
      <p:cxnSp>
        <p:nvCxnSpPr>
          <p:cNvPr id="25" name="Logical connector"/>
          <p:cNvCxnSpPr/>
          <p:nvPr/>
        </p:nvCxnSpPr>
        <p:spPr>
          <a:xfrm>
            <a:off x="7137400" y="4838700"/>
            <a:ext cx="558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88300" y="4686300"/>
            <a:ext cx="358902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уникальности</a:t>
            </a:r>
          </a:p>
        </p:txBody>
      </p:sp>
      <p:sp>
        <p:nvSpPr>
          <p:cNvPr id="27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sp>
        <p:nvSpPr>
          <p:cNvPr id="3" name="Relation row"/>
          <p:cNvSpPr/>
          <p:nvPr/>
        </p:nvSpPr>
        <p:spPr>
          <a:xfrm>
            <a:off x="4114800" y="1841500"/>
            <a:ext cx="758952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847850"/>
            <a:ext cx="7576820" cy="7112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292600" y="21590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95800" y="2057400"/>
            <a:ext cx="2921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Эстетика</a:t>
            </a:r>
          </a:p>
        </p:txBody>
      </p:sp>
      <p:cxnSp>
        <p:nvCxnSpPr>
          <p:cNvPr id="7" name="Logical connector"/>
          <p:cNvCxnSpPr/>
          <p:nvPr/>
        </p:nvCxnSpPr>
        <p:spPr>
          <a:xfrm>
            <a:off x="7137400" y="2209800"/>
            <a:ext cx="558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8300" y="2057400"/>
            <a:ext cx="358902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эстетический </a:t>
            </a:r>
            <a:r>
              <a:rPr>
                <a:solidFill>
                  <a:srgbClr val="D4AF37"/>
                </a:solidFill>
              </a:rPr>
              <a:t>след</a:t>
            </a:r>
          </a:p>
        </p:txBody>
      </p:sp>
      <p:sp>
        <p:nvSpPr>
          <p:cNvPr id="9" name="Relation row"/>
          <p:cNvSpPr/>
          <p:nvPr/>
        </p:nvSpPr>
        <p:spPr>
          <a:xfrm>
            <a:off x="4114800" y="2717800"/>
            <a:ext cx="758952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nset gold outline"/>
          <p:cNvSpPr/>
          <p:nvPr/>
        </p:nvSpPr>
        <p:spPr>
          <a:xfrm>
            <a:off x="4121150" y="2724150"/>
            <a:ext cx="7576820" cy="7112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old diamond marker"/>
          <p:cNvSpPr/>
          <p:nvPr/>
        </p:nvSpPr>
        <p:spPr>
          <a:xfrm>
            <a:off x="4292600" y="30353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933700"/>
            <a:ext cx="2921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Достоинство</a:t>
            </a:r>
          </a:p>
        </p:txBody>
      </p:sp>
      <p:cxnSp>
        <p:nvCxnSpPr>
          <p:cNvPr id="13" name="Logical connector"/>
          <p:cNvCxnSpPr/>
          <p:nvPr/>
        </p:nvCxnSpPr>
        <p:spPr>
          <a:xfrm>
            <a:off x="7137400" y="3086100"/>
            <a:ext cx="558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88300" y="2933700"/>
            <a:ext cx="358902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уважения</a:t>
            </a:r>
          </a:p>
        </p:txBody>
      </p:sp>
      <p:sp>
        <p:nvSpPr>
          <p:cNvPr id="15" name="Relation row"/>
          <p:cNvSpPr/>
          <p:nvPr/>
        </p:nvSpPr>
        <p:spPr>
          <a:xfrm>
            <a:off x="4114800" y="3594100"/>
            <a:ext cx="758952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set gold outline"/>
          <p:cNvSpPr/>
          <p:nvPr/>
        </p:nvSpPr>
        <p:spPr>
          <a:xfrm>
            <a:off x="4121150" y="3600450"/>
            <a:ext cx="7576820" cy="7112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diamond marker"/>
          <p:cNvSpPr/>
          <p:nvPr/>
        </p:nvSpPr>
        <p:spPr>
          <a:xfrm>
            <a:off x="4292600" y="3911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5800" y="3810000"/>
            <a:ext cx="2921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Контраст</a:t>
            </a:r>
          </a:p>
        </p:txBody>
      </p:sp>
      <p:cxnSp>
        <p:nvCxnSpPr>
          <p:cNvPr id="19" name="Logical connector"/>
          <p:cNvCxnSpPr/>
          <p:nvPr/>
        </p:nvCxnSpPr>
        <p:spPr>
          <a:xfrm>
            <a:off x="7137400" y="3962400"/>
            <a:ext cx="5588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88300" y="3810000"/>
            <a:ext cx="358902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новизны</a:t>
            </a:r>
          </a:p>
        </p:txBody>
      </p:sp>
      <p:sp>
        <p:nvSpPr>
          <p:cNvPr id="2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305300" y="2163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803400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вот теперь становится понятно, почему одной красоты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недостаточно.</a:t>
            </a:r>
          </a:p>
        </p:txBody>
      </p:sp>
      <p:sp>
        <p:nvSpPr>
          <p:cNvPr id="8" name="Quote"/>
          <p:cNvSpPr/>
          <p:nvPr/>
        </p:nvSpPr>
        <p:spPr>
          <a:xfrm>
            <a:off x="4121150" y="5558536"/>
            <a:ext cx="7576820" cy="639064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Logical connector"/>
          <p:cNvCxnSpPr/>
          <p:nvPr/>
        </p:nvCxnSpPr>
        <p:spPr>
          <a:xfrm>
            <a:off x="4267200" y="5710936"/>
            <a:ext cx="0" cy="334264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0" y="5710936"/>
            <a:ext cx="7589520" cy="304800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Красота тоже способна оставить след. Но это один след.</a:t>
            </a:r>
          </a:p>
        </p:txBody>
      </p:sp>
      <p:sp>
        <p:nvSpPr>
          <p:cNvPr id="1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305300" y="2163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803400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теперь представьте женщину, после которой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одновременно уносит:</a:t>
            </a:r>
          </a:p>
        </p:txBody>
      </p:sp>
      <p:sp>
        <p:nvSpPr>
          <p:cNvPr id="8" name="Teaching card"/>
          <p:cNvSpPr/>
          <p:nvPr/>
        </p:nvSpPr>
        <p:spPr>
          <a:xfrm>
            <a:off x="4114800" y="2725928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nset gold outline"/>
          <p:cNvSpPr/>
          <p:nvPr/>
        </p:nvSpPr>
        <p:spPr>
          <a:xfrm>
            <a:off x="4121150" y="2732278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old diamond marker"/>
          <p:cNvSpPr/>
          <p:nvPr/>
        </p:nvSpPr>
        <p:spPr>
          <a:xfrm>
            <a:off x="4305300" y="3237991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878328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восхищение, интерес,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, </a:t>
            </a:r>
            <a:r>
              <a:rPr>
                <a:solidFill>
                  <a:srgbClr val="D4AF37"/>
                </a:solidFill>
              </a:rPr>
              <a:t>уважение</a:t>
            </a:r>
            <a:r>
              <a:rPr>
                <a:solidFill>
                  <a:srgbClr val="FFFFFF"/>
                </a:solidFill>
              </a:rPr>
              <a:t>, любопытство,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, тепло,</a:t>
            </a:r>
          </a:p>
        </p:txBody>
      </p:sp>
      <p:sp>
        <p:nvSpPr>
          <p:cNvPr id="13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803400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яркое воспоминание.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442464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448814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old diamond marker"/>
          <p:cNvSpPr/>
          <p:nvPr/>
        </p:nvSpPr>
        <p:spPr>
          <a:xfrm>
            <a:off x="4305300" y="2671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594864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уже совершенно другой объём впечатления.</a:t>
            </a:r>
          </a:p>
        </p:txBody>
      </p:sp>
      <p:sp>
        <p:nvSpPr>
          <p:cNvPr id="1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803400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второй важнейший принцип нашей программы.</a:t>
            </a:r>
          </a:p>
        </p:txBody>
      </p:sp>
      <p:sp>
        <p:nvSpPr>
          <p:cNvPr id="7" name="Quote"/>
          <p:cNvSpPr/>
          <p:nvPr/>
        </p:nvSpPr>
        <p:spPr>
          <a:xfrm>
            <a:off x="4121150" y="5275072"/>
            <a:ext cx="7576820" cy="922528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Logical connector"/>
          <p:cNvCxnSpPr/>
          <p:nvPr/>
        </p:nvCxnSpPr>
        <p:spPr>
          <a:xfrm>
            <a:off x="4267200" y="5427472"/>
            <a:ext cx="0" cy="617728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0" y="5427472"/>
            <a:ext cx="7589520" cy="588264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Чем больше раскрытых граней — тем объёмнее образ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женщины.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390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263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803400"/>
            <a:ext cx="7589520" cy="304800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 редко создаётся одной суперспособностью.</a:t>
            </a:r>
          </a:p>
        </p:txBody>
      </p:sp>
      <p:sp>
        <p:nvSpPr>
          <p:cNvPr id="7" name="Quote"/>
          <p:cNvSpPr/>
          <p:nvPr/>
        </p:nvSpPr>
        <p:spPr>
          <a:xfrm>
            <a:off x="4121150" y="5558536"/>
            <a:ext cx="7576820" cy="639064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Logical connector"/>
          <p:cNvCxnSpPr/>
          <p:nvPr/>
        </p:nvCxnSpPr>
        <p:spPr>
          <a:xfrm>
            <a:off x="4267200" y="5710936"/>
            <a:ext cx="0" cy="334264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0" y="5710936"/>
            <a:ext cx="7589520" cy="304800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Она создаётся комбинацией.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Только одна грань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305300" y="2163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803400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Потому что если женщина только красивая —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достаточно быстро привыкает к красоте.</a:t>
            </a:r>
          </a:p>
        </p:txBody>
      </p:sp>
      <p:sp>
        <p:nvSpPr>
          <p:cNvPr id="8" name="Teaching card"/>
          <p:cNvSpPr/>
          <p:nvPr/>
        </p:nvSpPr>
        <p:spPr>
          <a:xfrm>
            <a:off x="4114800" y="2725928"/>
            <a:ext cx="7589520" cy="9225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nset gold outline"/>
          <p:cNvSpPr/>
          <p:nvPr/>
        </p:nvSpPr>
        <p:spPr>
          <a:xfrm>
            <a:off x="4121150" y="2732278"/>
            <a:ext cx="7576820" cy="9098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old diamond marker"/>
          <p:cNvSpPr/>
          <p:nvPr/>
        </p:nvSpPr>
        <p:spPr>
          <a:xfrm>
            <a:off x="4305300" y="2954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old diamond marker"/>
          <p:cNvSpPr/>
          <p:nvPr/>
        </p:nvSpPr>
        <p:spPr>
          <a:xfrm>
            <a:off x="4305300" y="3237991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878328"/>
            <a:ext cx="7589520" cy="588264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она только лёгкая — прекрасно, но этого может быть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мало. Только умная — тоже одна грань.</a:t>
            </a:r>
          </a:p>
        </p:txBody>
      </p:sp>
      <p:sp>
        <p:nvSpPr>
          <p:cNvPr id="13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Она создаётся комбинацией.</a:t>
            </a:r>
          </a:p>
        </p:txBody>
      </p:sp>
      <p:sp>
        <p:nvSpPr>
          <p:cNvPr id="3" name="Comparison card"/>
          <p:cNvSpPr/>
          <p:nvPr/>
        </p:nvSpPr>
        <p:spPr>
          <a:xfrm>
            <a:off x="4114800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2146300"/>
            <a:ext cx="3553460" cy="1155192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лёгкая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Нежная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Женственная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Спокойная</a:t>
            </a:r>
          </a:p>
        </p:txBody>
      </p:sp>
      <p:sp>
        <p:nvSpPr>
          <p:cNvPr id="6" name="Comparison card"/>
          <p:cNvSpPr/>
          <p:nvPr/>
        </p:nvSpPr>
        <p:spPr>
          <a:xfrm>
            <a:off x="8150859" y="1841500"/>
            <a:ext cx="3553460" cy="31750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8157209" y="1847850"/>
            <a:ext cx="3540760" cy="31623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0859" y="2146300"/>
            <a:ext cx="3553460" cy="1438656"/>
          </a:xfrm>
          <a:prstGeom prst="rect">
            <a:avLst/>
          </a:prstGeom>
          <a:noFill/>
        </p:spPr>
        <p:txBody>
          <a:bodyPr wrap="none" lIns="254000" rIns="2540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глубокая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характером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со своим миром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иногда совершенно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неожиданная</a:t>
            </a:r>
          </a:p>
        </p:txBody>
      </p:sp>
      <p:cxnSp>
        <p:nvCxnSpPr>
          <p:cNvPr id="9" name="Logical connector"/>
          <p:cNvCxnSpPr/>
          <p:nvPr/>
        </p:nvCxnSpPr>
        <p:spPr>
          <a:xfrm>
            <a:off x="7731759" y="3429000"/>
            <a:ext cx="355600" cy="0"/>
          </a:xfrm>
          <a:prstGeom prst="line">
            <a:avLst/>
          </a:prstGeom>
          <a:ln w="10160">
            <a:solidFill>
              <a:srgbClr val="D4AF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 одну категорию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12059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11932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ld diamond marker"/>
          <p:cNvSpPr/>
          <p:nvPr/>
        </p:nvSpPr>
        <p:spPr>
          <a:xfrm>
            <a:off x="4305300" y="1879600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ld diamond marker"/>
          <p:cNvSpPr/>
          <p:nvPr/>
        </p:nvSpPr>
        <p:spPr>
          <a:xfrm>
            <a:off x="4305300" y="2163064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old diamond marker"/>
          <p:cNvSpPr/>
          <p:nvPr/>
        </p:nvSpPr>
        <p:spPr>
          <a:xfrm>
            <a:off x="4305300" y="2446528"/>
            <a:ext cx="63500" cy="635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803400"/>
            <a:ext cx="7589520" cy="871728"/>
          </a:xfrm>
          <a:prstGeom prst="rect">
            <a:avLst/>
          </a:prstGeom>
          <a:noFill/>
        </p:spPr>
        <p:txBody>
          <a:bodyPr wrap="none" lIns="431800" rIns="431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ней можно смеяться — и через двадцать минут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разговаривать о вещах, о которых мужчина почти ни с кем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говорит.</a:t>
            </a:r>
          </a:p>
        </p:txBody>
      </p:sp>
      <p:sp>
        <p:nvSpPr>
          <p:cNvPr id="9" name="Quote"/>
          <p:cNvSpPr/>
          <p:nvPr/>
        </p:nvSpPr>
        <p:spPr>
          <a:xfrm>
            <a:off x="4121150" y="5275072"/>
            <a:ext cx="7576820" cy="922528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Logical connector"/>
          <p:cNvCxnSpPr/>
          <p:nvPr/>
        </p:nvCxnSpPr>
        <p:spPr>
          <a:xfrm>
            <a:off x="4267200" y="5427472"/>
            <a:ext cx="0" cy="617728"/>
          </a:xfrm>
          <a:prstGeom prst="line">
            <a:avLst/>
          </a:prstGeom>
          <a:ln w="10160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0" y="5427472"/>
            <a:ext cx="7589520" cy="588264"/>
          </a:xfrm>
          <a:prstGeom prst="rect">
            <a:avLst/>
          </a:prstGeom>
          <a:noFill/>
        </p:spPr>
        <p:txBody>
          <a:bodyPr wrap="none" lIns="330200" rIns="3302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Вот такую женщину уже невозможно поместить в одну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категорию.</a:t>
            </a:r>
          </a:p>
        </p:txBody>
      </p:sp>
      <p:sp>
        <p:nvSpPr>
          <p:cNvPr id="1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